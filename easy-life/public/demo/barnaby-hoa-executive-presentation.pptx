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68"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4280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on the video thumbnail to play the 3-minute 25-second Barnaby narrated demo. The narration includes the requested five-second opening delay. When finished, use the following editable slides for an executive deep dive. The demonstration is illustrative and not an official On Top of the World application.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chapter 1 begins around 0 seconds in the original synchronized demo. Your community. One connected experience. Key points: A familiar assistant for everyday community life; Information, bookings and services in one place; A simpler way for residents to get things done. These iPhone visuals are recreated illustrations of the Barnaby app; sample content is not live availability or official On Top of the World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chapter 2 begins around 12 seconds in the original synchronized demo. A simpler experience for residents. Key points: Home, events, amenities and local pros; Relevant content without hunting through emails; A more connected resident experience. These iPhone visuals are recreated illustrations of the Barnaby app; sample content is not live availability or official On Top of the World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chapter 3 begins around 24 seconds in the original synchronized demo. Community news, easy to find. Key points: Notices and important announcements; A central place for resident resources; Less scattered information for everyone. These iPhone visuals are recreated illustrations of the Barnaby app; sample content is not live availability or official On Top of the World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chapter 4 begins around 36 seconds in the original synchronized demo. Find and book in a few taps. Key points: Browse available community facilities; Courts, billiards, meeting rooms and more; Illustrative listings and availability. These iPhone visuals are recreated illustrations of the Barnaby app; sample content is not live availability or official On Top of the World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chapter 5 begins around 49 seconds in the original synchronized demo. From selection to confirmation. Key points: Choose your amenity; Pick a convenient time; Confirm from the app. These iPhone visuals are recreated illustrations of the Barnaby app; sample content is not live availability or official On Top of the World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chapter 6 begins around 62 seconds in the original synchronized demo. A better view of what is coming up. Key points: Activity schedules and resident clubs; Reservations and upcoming events; Encourage participation every day. These iPhone visuals are recreated illustrations of the Barnaby app; sample content is not live availability or official On Top of the World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chapter 7 begins around 77 seconds in the original synchronized demo. Everyday services residents actually need. Key points: Plumbing, HVAC, electrical and cleaning; Landscaping, handyman and pool care; Provider discovery and easy contact. These iPhone visuals are recreated illustrations of the Barnaby app; sample content is not live availability or official On Top of the World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chapter 8 begins around 98 seconds in the original synchronized demo. Neighbors, clubs and providers stay connected. Key points: Individual and group conversations; Community and provider updates; One place to keep conversations moving. These iPhone visuals are recreated illustrations of the Barnaby app; sample content is not live availability or official On Top of the World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chapter 9 begins around 116 seconds in the original synchronized demo. Knowledge that is easy to discover. Key points: Amenities and recreation; Helpful notices and resident resources; Support for staff and residents. These iPhone visuals are recreated illustrations of the Barnaby app; sample content is not live availability or official On Top of the World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chapter 10 begins around 133 seconds in the original synchronized demo. A storefront for optional community products. Key points: Community-branded merchandise; Convenient product discovery; An additional engagement opportunity. These iPhone visuals are recreated illustrations of the Barnaby app; sample content is not live availability or official On Top of the World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chapter 11 begins around 143 seconds in the original synchronized demo. A larger product view for presentations and board review. Key points: Larger hero product view; Thumbnail overview of the collection; A clearer merchandising story on screen. These iPhone visuals are recreated illustrations of the Barnaby app; sample content is not live availability or official On Top of the World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chapter 12 begins around 153 seconds in the original synchronized demo. The standout resident experience. Key points: Ask naturally instead of navigating menus; Discover community information; Get help finding what you need. These iPhone visuals are recreated illustrations of the Barnaby app; sample content is not live availability or official On Top of the World data.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chapter 13 begins around 171 seconds in the original synchronized demo. The assistant turns questions into answers. Key points: “What can I do this weekend?”; Find activities and club information; Guide residents to the next step. These iPhone visuals are recreated illustrations of the Barnaby app; sample content is not live availability or official On Top of the World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chapter 14 begins around 191 seconds in the original synchronized demo. Barnaby makes the experience feel personal. Key points: Questions become useful next steps; Reservations, services and information; A modern reason for residents to engage. These iPhone visuals are recreated illustrations of the Barnaby app; sample content is not live availability or official On Top of the World data.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message: Barnaby is a community technology concept that could help improve resident access to services and information. Avoid claims of guaranteed labor savings or confirmed features until validated in deployment. On Top of the World serves solely as an illustrative demo community.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12648"/>
          </a:xfrm>
          <a:prstGeom prst="rect">
            <a:avLst/>
          </a:prstGeom>
          <a:solidFill>
            <a:srgbClr val="092449"/>
          </a:solidFill>
          <a:ln w="12700">
            <a:solidFill>
              <a:srgbClr val="092449">
                <a:alpha val="0"/>
              </a:srgbClr>
            </a:solidFill>
            <a:prstDash val="solid"/>
          </a:ln>
        </p:spPr>
        <p:txBody>
          <a:bodyPr/>
          <a:lstStyle/>
          <a:p>
            <a:endParaRPr lang="en-US"/>
          </a:p>
        </p:txBody>
      </p:sp>
      <p:sp>
        <p:nvSpPr>
          <p:cNvPr id="3" name="Shape 1"/>
          <p:cNvSpPr/>
          <p:nvPr/>
        </p:nvSpPr>
        <p:spPr>
          <a:xfrm>
            <a:off x="0" y="612648"/>
            <a:ext cx="12191695" cy="41148"/>
          </a:xfrm>
          <a:prstGeom prst="rect">
            <a:avLst/>
          </a:prstGeom>
          <a:solidFill>
            <a:srgbClr val="8ACB39"/>
          </a:solidFill>
          <a:ln w="12700">
            <a:solidFill>
              <a:srgbClr val="8ACB39">
                <a:alpha val="0"/>
              </a:srgbClr>
            </a:solidFill>
            <a:prstDash val="solid"/>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sv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sv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svg"/><Relationship Id="rId7"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621792" y="896112"/>
            <a:ext cx="9144000" cy="585216"/>
          </a:xfrm>
          <a:prstGeom prst="rect">
            <a:avLst/>
          </a:prstGeom>
          <a:noFill/>
          <a:ln/>
        </p:spPr>
        <p:txBody>
          <a:bodyPr wrap="square" lIns="0" tIns="0" rIns="0" bIns="0" rtlCol="0" anchor="ctr">
            <a:normAutofit/>
          </a:bodyPr>
          <a:lstStyle/>
          <a:p>
            <a:pPr marL="0" indent="0">
              <a:buNone/>
            </a:pPr>
            <a:r>
              <a:rPr lang="en-US" sz="3900" b="1" dirty="0">
                <a:solidFill>
                  <a:srgbClr val="082B4E"/>
                </a:solidFill>
                <a:latin typeface="Lato Heavy" pitchFamily="34" charset="0"/>
                <a:ea typeface="Lato Heavy" pitchFamily="34" charset="-122"/>
                <a:cs typeface="Lato Heavy" pitchFamily="34" charset="-120"/>
              </a:rPr>
              <a:t>ONE CONNECTED COMMUNITY.</a:t>
            </a:r>
            <a:endParaRPr lang="en-US" sz="3900" dirty="0"/>
          </a:p>
        </p:txBody>
      </p:sp>
      <p:sp>
        <p:nvSpPr>
          <p:cNvPr id="6" name="Text 3"/>
          <p:cNvSpPr/>
          <p:nvPr/>
        </p:nvSpPr>
        <p:spPr>
          <a:xfrm>
            <a:off x="658368" y="1499616"/>
            <a:ext cx="10698480" cy="292608"/>
          </a:xfrm>
          <a:prstGeom prst="rect">
            <a:avLst/>
          </a:prstGeom>
          <a:noFill/>
          <a:ln/>
        </p:spPr>
        <p:txBody>
          <a:bodyPr wrap="square" lIns="0" tIns="0" rIns="0" bIns="0" rtlCol="0" anchor="ctr">
            <a:normAutofit/>
          </a:bodyPr>
          <a:lstStyle/>
          <a:p>
            <a:pPr marL="0" indent="0">
              <a:buNone/>
            </a:pPr>
            <a:r>
              <a:rPr lang="en-US" sz="1950" dirty="0">
                <a:solidFill>
                  <a:srgbClr val="617B94"/>
                </a:solidFill>
                <a:latin typeface="Lato" pitchFamily="34" charset="0"/>
                <a:ea typeface="Lato" pitchFamily="34" charset="-122"/>
                <a:cs typeface="Lato" pitchFamily="34" charset="-120"/>
              </a:rPr>
              <a:t>A modern resident experience that helps HOA teams communicate, engage and serve.</a:t>
            </a:r>
            <a:endParaRPr lang="en-US" sz="1950" dirty="0"/>
          </a:p>
        </p:txBody>
      </p:sp>
      <p:sp>
        <p:nvSpPr>
          <p:cNvPr id="7" name="Shape 4"/>
          <p:cNvSpPr/>
          <p:nvPr/>
        </p:nvSpPr>
        <p:spPr>
          <a:xfrm>
            <a:off x="585216" y="1975104"/>
            <a:ext cx="7406640" cy="4187952"/>
          </a:xfrm>
          <a:prstGeom prst="roundRect">
            <a:avLst>
              <a:gd name="adj" fmla="val 2620"/>
            </a:avLst>
          </a:prstGeom>
          <a:solidFill>
            <a:srgbClr val="FFFFFF"/>
          </a:solidFill>
          <a:ln w="12700">
            <a:solidFill>
              <a:srgbClr val="C8DCEB"/>
            </a:solidFill>
            <a:prstDash val="solid"/>
          </a:ln>
        </p:spPr>
        <p:txBody>
          <a:bodyPr/>
          <a:lstStyle/>
          <a:p>
            <a:endParaRPr lang="en-US"/>
          </a:p>
        </p:txBody>
      </p:sp>
      <p:pic>
        <p:nvPicPr>
          <p:cNvPr id="8"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76656" y="2066544"/>
            <a:ext cx="7223760" cy="4059936"/>
          </a:xfrm>
          <a:prstGeom prst="rect">
            <a:avLst/>
          </a:prstGeom>
        </p:spPr>
      </p:pic>
      <p:sp>
        <p:nvSpPr>
          <p:cNvPr id="9" name="Shape 5"/>
          <p:cNvSpPr/>
          <p:nvPr/>
        </p:nvSpPr>
        <p:spPr>
          <a:xfrm>
            <a:off x="8211312" y="1984248"/>
            <a:ext cx="3364992" cy="4187952"/>
          </a:xfrm>
          <a:prstGeom prst="roundRect">
            <a:avLst>
              <a:gd name="adj" fmla="val 4076"/>
            </a:avLst>
          </a:prstGeom>
          <a:solidFill>
            <a:srgbClr val="082B4E"/>
          </a:solidFill>
          <a:ln w="12700">
            <a:solidFill>
              <a:srgbClr val="082B4E">
                <a:alpha val="0"/>
              </a:srgbClr>
            </a:solidFill>
            <a:prstDash val="solid"/>
          </a:ln>
        </p:spPr>
        <p:txBody>
          <a:bodyPr/>
          <a:lstStyle/>
          <a:p>
            <a:endParaRPr lang="en-US"/>
          </a:p>
        </p:txBody>
      </p:sp>
      <p:sp>
        <p:nvSpPr>
          <p:cNvPr id="10" name="Text 6"/>
          <p:cNvSpPr/>
          <p:nvPr/>
        </p:nvSpPr>
        <p:spPr>
          <a:xfrm>
            <a:off x="8449056" y="2221992"/>
            <a:ext cx="2926080" cy="237744"/>
          </a:xfrm>
          <a:prstGeom prst="rect">
            <a:avLst/>
          </a:prstGeom>
          <a:noFill/>
          <a:ln/>
        </p:spPr>
        <p:txBody>
          <a:bodyPr wrap="square" lIns="0" tIns="0" rIns="0" bIns="0" rtlCol="0" anchor="ctr">
            <a:normAutofit/>
          </a:bodyPr>
          <a:lstStyle/>
          <a:p>
            <a:pPr marL="0" indent="0">
              <a:buNone/>
            </a:pPr>
            <a:r>
              <a:rPr lang="en-US" sz="1300" b="1" kern="0" spc="130" dirty="0">
                <a:solidFill>
                  <a:srgbClr val="87D8F8"/>
                </a:solidFill>
                <a:latin typeface="Lato Heavy" pitchFamily="34" charset="0"/>
                <a:ea typeface="Lato Heavy" pitchFamily="34" charset="-122"/>
                <a:cs typeface="Lato Heavy" pitchFamily="34" charset="-120"/>
              </a:rPr>
              <a:t>BOARD PRESENTATION</a:t>
            </a:r>
            <a:endParaRPr lang="en-US" sz="1300" dirty="0"/>
          </a:p>
        </p:txBody>
      </p:sp>
      <p:sp>
        <p:nvSpPr>
          <p:cNvPr id="11" name="Text 7"/>
          <p:cNvSpPr/>
          <p:nvPr/>
        </p:nvSpPr>
        <p:spPr>
          <a:xfrm>
            <a:off x="8449056" y="2633472"/>
            <a:ext cx="2743200" cy="429768"/>
          </a:xfrm>
          <a:prstGeom prst="rect">
            <a:avLst/>
          </a:prstGeom>
          <a:noFill/>
          <a:ln/>
        </p:spPr>
        <p:txBody>
          <a:bodyPr wrap="square" lIns="0" tIns="0" rIns="0" bIns="0" rtlCol="0" anchor="ctr">
            <a:normAutofit/>
          </a:bodyPr>
          <a:lstStyle/>
          <a:p>
            <a:pPr marL="0" indent="0">
              <a:buNone/>
            </a:pPr>
            <a:r>
              <a:rPr lang="en-US" sz="2900" b="1" dirty="0">
                <a:solidFill>
                  <a:srgbClr val="FFFFFF"/>
                </a:solidFill>
                <a:latin typeface="Lato Heavy" pitchFamily="34" charset="0"/>
                <a:ea typeface="Lato Heavy" pitchFamily="34" charset="-122"/>
                <a:cs typeface="Lato Heavy" pitchFamily="34" charset="-120"/>
              </a:rPr>
              <a:t>Why Barnaby?</a:t>
            </a:r>
            <a:endParaRPr lang="en-US" sz="2900" dirty="0"/>
          </a:p>
        </p:txBody>
      </p:sp>
      <p:sp>
        <p:nvSpPr>
          <p:cNvPr id="12" name="Shape 8"/>
          <p:cNvSpPr/>
          <p:nvPr/>
        </p:nvSpPr>
        <p:spPr>
          <a:xfrm>
            <a:off x="8476488" y="3273552"/>
            <a:ext cx="100584" cy="100584"/>
          </a:xfrm>
          <a:prstGeom prst="ellipse">
            <a:avLst/>
          </a:prstGeom>
          <a:solidFill>
            <a:srgbClr val="91C936"/>
          </a:solidFill>
          <a:ln w="12700">
            <a:solidFill>
              <a:srgbClr val="91C936">
                <a:alpha val="0"/>
              </a:srgbClr>
            </a:solidFill>
            <a:prstDash val="solid"/>
          </a:ln>
        </p:spPr>
        <p:txBody>
          <a:bodyPr/>
          <a:lstStyle/>
          <a:p>
            <a:endParaRPr lang="en-US"/>
          </a:p>
        </p:txBody>
      </p:sp>
      <p:sp>
        <p:nvSpPr>
          <p:cNvPr id="13" name="Text 9"/>
          <p:cNvSpPr/>
          <p:nvPr/>
        </p:nvSpPr>
        <p:spPr>
          <a:xfrm>
            <a:off x="8695944" y="3182112"/>
            <a:ext cx="2532888" cy="356616"/>
          </a:xfrm>
          <a:prstGeom prst="rect">
            <a:avLst/>
          </a:prstGeom>
          <a:noFill/>
          <a:ln/>
        </p:spPr>
        <p:txBody>
          <a:bodyPr wrap="square" lIns="0" tIns="0" rIns="0" bIns="0" rtlCol="0" anchor="ctr">
            <a:normAutofit/>
          </a:bodyPr>
          <a:lstStyle/>
          <a:p>
            <a:pPr marL="0" indent="0">
              <a:buNone/>
            </a:pPr>
            <a:r>
              <a:rPr lang="en-US" sz="1450" dirty="0">
                <a:solidFill>
                  <a:srgbClr val="E9F3FB"/>
                </a:solidFill>
                <a:latin typeface="Lato" pitchFamily="34" charset="0"/>
                <a:ea typeface="Lato" pitchFamily="34" charset="-122"/>
                <a:cs typeface="Lato" pitchFamily="34" charset="-120"/>
              </a:rPr>
              <a:t>A single home for community life</a:t>
            </a:r>
            <a:endParaRPr lang="en-US" sz="1450" dirty="0"/>
          </a:p>
        </p:txBody>
      </p:sp>
      <p:sp>
        <p:nvSpPr>
          <p:cNvPr id="14" name="Shape 10"/>
          <p:cNvSpPr/>
          <p:nvPr/>
        </p:nvSpPr>
        <p:spPr>
          <a:xfrm>
            <a:off x="8476488" y="3785616"/>
            <a:ext cx="100584" cy="100584"/>
          </a:xfrm>
          <a:prstGeom prst="ellipse">
            <a:avLst/>
          </a:prstGeom>
          <a:solidFill>
            <a:srgbClr val="91C936"/>
          </a:solidFill>
          <a:ln w="12700">
            <a:solidFill>
              <a:srgbClr val="91C936">
                <a:alpha val="0"/>
              </a:srgbClr>
            </a:solidFill>
            <a:prstDash val="solid"/>
          </a:ln>
        </p:spPr>
        <p:txBody>
          <a:bodyPr/>
          <a:lstStyle/>
          <a:p>
            <a:endParaRPr lang="en-US"/>
          </a:p>
        </p:txBody>
      </p:sp>
      <p:sp>
        <p:nvSpPr>
          <p:cNvPr id="15" name="Text 11"/>
          <p:cNvSpPr/>
          <p:nvPr/>
        </p:nvSpPr>
        <p:spPr>
          <a:xfrm>
            <a:off x="8695944" y="3694176"/>
            <a:ext cx="2532888" cy="356616"/>
          </a:xfrm>
          <a:prstGeom prst="rect">
            <a:avLst/>
          </a:prstGeom>
          <a:noFill/>
          <a:ln/>
        </p:spPr>
        <p:txBody>
          <a:bodyPr wrap="square" lIns="0" tIns="0" rIns="0" bIns="0" rtlCol="0" anchor="ctr">
            <a:normAutofit/>
          </a:bodyPr>
          <a:lstStyle/>
          <a:p>
            <a:pPr marL="0" indent="0">
              <a:buNone/>
            </a:pPr>
            <a:r>
              <a:rPr lang="en-US" sz="1450" dirty="0">
                <a:solidFill>
                  <a:srgbClr val="E9F3FB"/>
                </a:solidFill>
                <a:latin typeface="Lato" pitchFamily="34" charset="0"/>
                <a:ea typeface="Lato" pitchFamily="34" charset="-122"/>
                <a:cs typeface="Lato" pitchFamily="34" charset="-120"/>
              </a:rPr>
              <a:t>Self-service amenities and activities</a:t>
            </a:r>
            <a:endParaRPr lang="en-US" sz="1450" dirty="0"/>
          </a:p>
        </p:txBody>
      </p:sp>
      <p:sp>
        <p:nvSpPr>
          <p:cNvPr id="16" name="Shape 12"/>
          <p:cNvSpPr/>
          <p:nvPr/>
        </p:nvSpPr>
        <p:spPr>
          <a:xfrm>
            <a:off x="8476488" y="4297680"/>
            <a:ext cx="100584" cy="100584"/>
          </a:xfrm>
          <a:prstGeom prst="ellipse">
            <a:avLst/>
          </a:prstGeom>
          <a:solidFill>
            <a:srgbClr val="91C936"/>
          </a:solidFill>
          <a:ln w="12700">
            <a:solidFill>
              <a:srgbClr val="91C936">
                <a:alpha val="0"/>
              </a:srgbClr>
            </a:solidFill>
            <a:prstDash val="solid"/>
          </a:ln>
        </p:spPr>
        <p:txBody>
          <a:bodyPr/>
          <a:lstStyle/>
          <a:p>
            <a:endParaRPr lang="en-US"/>
          </a:p>
        </p:txBody>
      </p:sp>
      <p:sp>
        <p:nvSpPr>
          <p:cNvPr id="17" name="Text 13"/>
          <p:cNvSpPr/>
          <p:nvPr/>
        </p:nvSpPr>
        <p:spPr>
          <a:xfrm>
            <a:off x="8695944" y="4206240"/>
            <a:ext cx="2532888" cy="356616"/>
          </a:xfrm>
          <a:prstGeom prst="rect">
            <a:avLst/>
          </a:prstGeom>
          <a:noFill/>
          <a:ln/>
        </p:spPr>
        <p:txBody>
          <a:bodyPr wrap="square" lIns="0" tIns="0" rIns="0" bIns="0" rtlCol="0" anchor="ctr">
            <a:normAutofit/>
          </a:bodyPr>
          <a:lstStyle/>
          <a:p>
            <a:pPr marL="0" indent="0">
              <a:buNone/>
            </a:pPr>
            <a:r>
              <a:rPr lang="en-US" sz="1450" dirty="0">
                <a:solidFill>
                  <a:srgbClr val="E9F3FB"/>
                </a:solidFill>
                <a:latin typeface="Lato" pitchFamily="34" charset="0"/>
                <a:ea typeface="Lato" pitchFamily="34" charset="-122"/>
                <a:cs typeface="Lato" pitchFamily="34" charset="-120"/>
              </a:rPr>
              <a:t>More useful resident communication</a:t>
            </a:r>
            <a:endParaRPr lang="en-US" sz="1450" dirty="0"/>
          </a:p>
        </p:txBody>
      </p:sp>
      <p:sp>
        <p:nvSpPr>
          <p:cNvPr id="18" name="Shape 14"/>
          <p:cNvSpPr/>
          <p:nvPr/>
        </p:nvSpPr>
        <p:spPr>
          <a:xfrm>
            <a:off x="8476488" y="4809744"/>
            <a:ext cx="100584" cy="100584"/>
          </a:xfrm>
          <a:prstGeom prst="ellipse">
            <a:avLst/>
          </a:prstGeom>
          <a:solidFill>
            <a:srgbClr val="91C936"/>
          </a:solidFill>
          <a:ln w="12700">
            <a:solidFill>
              <a:srgbClr val="91C936">
                <a:alpha val="0"/>
              </a:srgbClr>
            </a:solidFill>
            <a:prstDash val="solid"/>
          </a:ln>
        </p:spPr>
        <p:txBody>
          <a:bodyPr/>
          <a:lstStyle/>
          <a:p>
            <a:endParaRPr lang="en-US"/>
          </a:p>
        </p:txBody>
      </p:sp>
      <p:sp>
        <p:nvSpPr>
          <p:cNvPr id="19" name="Text 15"/>
          <p:cNvSpPr/>
          <p:nvPr/>
        </p:nvSpPr>
        <p:spPr>
          <a:xfrm>
            <a:off x="8695944" y="4718304"/>
            <a:ext cx="2532888" cy="356616"/>
          </a:xfrm>
          <a:prstGeom prst="rect">
            <a:avLst/>
          </a:prstGeom>
          <a:noFill/>
          <a:ln/>
        </p:spPr>
        <p:txBody>
          <a:bodyPr wrap="square" lIns="0" tIns="0" rIns="0" bIns="0" rtlCol="0" anchor="ctr">
            <a:normAutofit/>
          </a:bodyPr>
          <a:lstStyle/>
          <a:p>
            <a:pPr marL="0" indent="0">
              <a:buNone/>
            </a:pPr>
            <a:r>
              <a:rPr lang="en-US" sz="1450" dirty="0">
                <a:solidFill>
                  <a:srgbClr val="E9F3FB"/>
                </a:solidFill>
                <a:latin typeface="Lato" pitchFamily="34" charset="0"/>
                <a:ea typeface="Lato" pitchFamily="34" charset="-122"/>
                <a:cs typeface="Lato" pitchFamily="34" charset="-120"/>
              </a:rPr>
              <a:t>Smart assistance and local services</a:t>
            </a:r>
            <a:endParaRPr lang="en-US" sz="1450" dirty="0"/>
          </a:p>
        </p:txBody>
      </p:sp>
      <p:sp>
        <p:nvSpPr>
          <p:cNvPr id="20" name="Shape 16"/>
          <p:cNvSpPr/>
          <p:nvPr/>
        </p:nvSpPr>
        <p:spPr>
          <a:xfrm>
            <a:off x="8458200" y="5532120"/>
            <a:ext cx="2834640" cy="384048"/>
          </a:xfrm>
          <a:prstGeom prst="roundRect">
            <a:avLst>
              <a:gd name="adj" fmla="val 35714"/>
            </a:avLst>
          </a:prstGeom>
          <a:solidFill>
            <a:srgbClr val="127A91"/>
          </a:solidFill>
          <a:ln w="12700">
            <a:solidFill>
              <a:srgbClr val="127A91">
                <a:alpha val="0"/>
              </a:srgbClr>
            </a:solidFill>
            <a:prstDash val="solid"/>
          </a:ln>
        </p:spPr>
        <p:txBody>
          <a:bodyPr/>
          <a:lstStyle/>
          <a:p>
            <a:endParaRPr lang="en-US"/>
          </a:p>
        </p:txBody>
      </p:sp>
      <p:sp>
        <p:nvSpPr>
          <p:cNvPr id="21" name="Text 17"/>
          <p:cNvSpPr/>
          <p:nvPr/>
        </p:nvSpPr>
        <p:spPr>
          <a:xfrm>
            <a:off x="8586216" y="5605272"/>
            <a:ext cx="2514600" cy="173736"/>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Lato Heavy" pitchFamily="34" charset="0"/>
                <a:ea typeface="Lato Heavy" pitchFamily="34" charset="-122"/>
                <a:cs typeface="Lato Heavy" pitchFamily="34" charset="-120"/>
              </a:rPr>
              <a:t>CLICK VIDEO TO PLAY   ▶</a:t>
            </a:r>
            <a:endParaRPr lang="en-US" sz="1150" dirty="0"/>
          </a:p>
        </p:txBody>
      </p:sp>
      <p:sp>
        <p:nvSpPr>
          <p:cNvPr id="22" name="Text 18"/>
          <p:cNvSpPr/>
          <p:nvPr/>
        </p:nvSpPr>
        <p:spPr>
          <a:xfrm>
            <a:off x="649224" y="6473952"/>
            <a:ext cx="10744200" cy="182880"/>
          </a:xfrm>
          <a:prstGeom prst="rect">
            <a:avLst/>
          </a:prstGeom>
          <a:noFill/>
          <a:ln/>
        </p:spPr>
        <p:txBody>
          <a:bodyPr wrap="square" lIns="0" tIns="0" rIns="0" bIns="0" rtlCol="0" anchor="ctr">
            <a:normAutofit/>
          </a:bodyPr>
          <a:lstStyle/>
          <a:p>
            <a:pPr marL="0" indent="0">
              <a:buNone/>
            </a:pPr>
            <a:r>
              <a:rPr lang="en-US" sz="1020" dirty="0">
                <a:solidFill>
                  <a:srgbClr val="617B94"/>
                </a:solidFill>
                <a:latin typeface="Lato" pitchFamily="34" charset="0"/>
                <a:ea typeface="Lato" pitchFamily="34" charset="-122"/>
                <a:cs typeface="Lato" pitchFamily="34" charset="-120"/>
              </a:rPr>
              <a:t>Illustrative On Top of the World demo • not an officially affiliated community application</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722376" y="886968"/>
            <a:ext cx="6583680" cy="246888"/>
          </a:xfrm>
          <a:prstGeom prst="rect">
            <a:avLst/>
          </a:prstGeom>
          <a:noFill/>
          <a:ln/>
        </p:spPr>
        <p:txBody>
          <a:bodyPr wrap="square" lIns="0" tIns="0" rIns="0" bIns="0" rtlCol="0" anchor="ctr">
            <a:normAutofit/>
          </a:bodyPr>
          <a:lstStyle/>
          <a:p>
            <a:pPr marL="0" indent="0">
              <a:buNone/>
            </a:pPr>
            <a:r>
              <a:rPr lang="en-US" sz="1200" b="1" kern="0" spc="70" dirty="0">
                <a:solidFill>
                  <a:srgbClr val="127A91"/>
                </a:solidFill>
                <a:latin typeface="Lato Heavy" pitchFamily="34" charset="0"/>
                <a:ea typeface="Lato Heavy" pitchFamily="34" charset="-122"/>
                <a:cs typeface="Lato Heavy" pitchFamily="34" charset="-120"/>
              </a:rPr>
              <a:t>BARNABY  /  WELCOME</a:t>
            </a:r>
            <a:endParaRPr lang="en-US" sz="1200" dirty="0"/>
          </a:p>
        </p:txBody>
      </p:sp>
      <p:sp>
        <p:nvSpPr>
          <p:cNvPr id="6" name="Text 3"/>
          <p:cNvSpPr/>
          <p:nvPr/>
        </p:nvSpPr>
        <p:spPr>
          <a:xfrm>
            <a:off x="713232" y="1179576"/>
            <a:ext cx="7315200" cy="630936"/>
          </a:xfrm>
          <a:prstGeom prst="rect">
            <a:avLst/>
          </a:prstGeom>
          <a:noFill/>
          <a:ln/>
        </p:spPr>
        <p:txBody>
          <a:bodyPr wrap="square" lIns="0" tIns="0" rIns="0" bIns="0" rtlCol="0" anchor="ctr">
            <a:normAutofit/>
          </a:bodyPr>
          <a:lstStyle/>
          <a:p>
            <a:pPr marL="0" indent="0">
              <a:buNone/>
            </a:pPr>
            <a:r>
              <a:rPr lang="en-US" sz="3400" b="1" dirty="0">
                <a:solidFill>
                  <a:srgbClr val="082B4E"/>
                </a:solidFill>
                <a:latin typeface="Lato Heavy" pitchFamily="34" charset="0"/>
                <a:ea typeface="Lato Heavy" pitchFamily="34" charset="-122"/>
                <a:cs typeface="Lato Heavy" pitchFamily="34" charset="-120"/>
              </a:rPr>
              <a:t>MEET BARNABY</a:t>
            </a:r>
            <a:endParaRPr lang="en-US" sz="3400" dirty="0"/>
          </a:p>
        </p:txBody>
      </p:sp>
      <p:sp>
        <p:nvSpPr>
          <p:cNvPr id="7" name="Text 4"/>
          <p:cNvSpPr/>
          <p:nvPr/>
        </p:nvSpPr>
        <p:spPr>
          <a:xfrm>
            <a:off x="731520" y="1856232"/>
            <a:ext cx="6858000" cy="448056"/>
          </a:xfrm>
          <a:prstGeom prst="rect">
            <a:avLst/>
          </a:prstGeom>
          <a:noFill/>
          <a:ln/>
        </p:spPr>
        <p:txBody>
          <a:bodyPr wrap="square" lIns="0" tIns="0" rIns="0" bIns="0" rtlCol="0" anchor="ctr">
            <a:normAutofit/>
          </a:bodyPr>
          <a:lstStyle/>
          <a:p>
            <a:pPr marL="0" indent="0">
              <a:buNone/>
            </a:pPr>
            <a:r>
              <a:rPr lang="en-US" sz="1950" dirty="0">
                <a:solidFill>
                  <a:srgbClr val="617B94"/>
                </a:solidFill>
                <a:latin typeface="Lato" pitchFamily="34" charset="0"/>
                <a:ea typeface="Lato" pitchFamily="34" charset="-122"/>
                <a:cs typeface="Lato" pitchFamily="34" charset="-120"/>
              </a:rPr>
              <a:t>Your community. One connected experience.</a:t>
            </a:r>
            <a:endParaRPr lang="en-US" sz="1950" dirty="0"/>
          </a:p>
        </p:txBody>
      </p:sp>
      <p:sp>
        <p:nvSpPr>
          <p:cNvPr id="8" name="Shape 5"/>
          <p:cNvSpPr/>
          <p:nvPr/>
        </p:nvSpPr>
        <p:spPr>
          <a:xfrm>
            <a:off x="731520" y="2770632"/>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9" name="Text 6"/>
          <p:cNvSpPr/>
          <p:nvPr/>
        </p:nvSpPr>
        <p:spPr>
          <a:xfrm>
            <a:off x="1024128" y="2651760"/>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A familiar assistant for everyday community life</a:t>
            </a:r>
            <a:endParaRPr lang="en-US" sz="2100" dirty="0"/>
          </a:p>
        </p:txBody>
      </p:sp>
      <p:sp>
        <p:nvSpPr>
          <p:cNvPr id="10" name="Shape 7"/>
          <p:cNvSpPr/>
          <p:nvPr/>
        </p:nvSpPr>
        <p:spPr>
          <a:xfrm>
            <a:off x="731520" y="3575304"/>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1" name="Text 8"/>
          <p:cNvSpPr/>
          <p:nvPr/>
        </p:nvSpPr>
        <p:spPr>
          <a:xfrm>
            <a:off x="1024128" y="3456432"/>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Information, bookings and services in one place</a:t>
            </a:r>
            <a:endParaRPr lang="en-US" sz="2100" dirty="0"/>
          </a:p>
        </p:txBody>
      </p:sp>
      <p:sp>
        <p:nvSpPr>
          <p:cNvPr id="12" name="Shape 9"/>
          <p:cNvSpPr/>
          <p:nvPr/>
        </p:nvSpPr>
        <p:spPr>
          <a:xfrm>
            <a:off x="731520" y="4379976"/>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3" name="Text 10"/>
          <p:cNvSpPr/>
          <p:nvPr/>
        </p:nvSpPr>
        <p:spPr>
          <a:xfrm>
            <a:off x="1024128" y="4261104"/>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A simpler way for residents to get things done</a:t>
            </a:r>
            <a:endParaRPr lang="en-US" sz="2100" dirty="0"/>
          </a:p>
        </p:txBody>
      </p:sp>
      <p:sp>
        <p:nvSpPr>
          <p:cNvPr id="14" name="Shape 11"/>
          <p:cNvSpPr/>
          <p:nvPr/>
        </p:nvSpPr>
        <p:spPr>
          <a:xfrm>
            <a:off x="713232" y="5385816"/>
            <a:ext cx="6638544" cy="822960"/>
          </a:xfrm>
          <a:prstGeom prst="roundRect">
            <a:avLst>
              <a:gd name="adj" fmla="val 16667"/>
            </a:avLst>
          </a:prstGeom>
          <a:solidFill>
            <a:srgbClr val="EAF5FF"/>
          </a:solidFill>
          <a:ln w="12700">
            <a:solidFill>
              <a:srgbClr val="CDE3F6"/>
            </a:solidFill>
            <a:prstDash val="solid"/>
          </a:ln>
        </p:spPr>
        <p:txBody>
          <a:bodyPr/>
          <a:lstStyle/>
          <a:p>
            <a:endParaRPr lang="en-US"/>
          </a:p>
        </p:txBody>
      </p:sp>
      <p:sp>
        <p:nvSpPr>
          <p:cNvPr id="15" name="Shape 12"/>
          <p:cNvSpPr/>
          <p:nvPr/>
        </p:nvSpPr>
        <p:spPr>
          <a:xfrm>
            <a:off x="914400" y="5623560"/>
            <a:ext cx="256032" cy="256032"/>
          </a:xfrm>
          <a:prstGeom prst="ellipse">
            <a:avLst/>
          </a:prstGeom>
          <a:solidFill>
            <a:srgbClr val="057BEE"/>
          </a:solidFill>
          <a:ln w="12700">
            <a:solidFill>
              <a:srgbClr val="057BEE">
                <a:alpha val="0"/>
              </a:srgbClr>
            </a:solidFill>
            <a:prstDash val="solid"/>
          </a:ln>
        </p:spPr>
        <p:txBody>
          <a:bodyPr/>
          <a:lstStyle/>
          <a:p>
            <a:endParaRPr lang="en-US"/>
          </a:p>
        </p:txBody>
      </p:sp>
      <p:sp>
        <p:nvSpPr>
          <p:cNvPr id="16" name="Text 13"/>
          <p:cNvSpPr/>
          <p:nvPr/>
        </p:nvSpPr>
        <p:spPr>
          <a:xfrm>
            <a:off x="958291" y="5623560"/>
            <a:ext cx="1828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Lato Heavy" pitchFamily="34" charset="0"/>
                <a:ea typeface="Lato Heavy" pitchFamily="34" charset="-122"/>
                <a:cs typeface="Lato Heavy" pitchFamily="34" charset="-120"/>
              </a:rPr>
              <a:t>→</a:t>
            </a:r>
            <a:endParaRPr lang="en-US" sz="1400" dirty="0"/>
          </a:p>
        </p:txBody>
      </p:sp>
      <p:sp>
        <p:nvSpPr>
          <p:cNvPr id="17" name="Text 14"/>
          <p:cNvSpPr/>
          <p:nvPr/>
        </p:nvSpPr>
        <p:spPr>
          <a:xfrm>
            <a:off x="1307592" y="5486400"/>
            <a:ext cx="5824728" cy="612648"/>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One app connects the people, places and services that make a community thrive.</a:t>
            </a:r>
            <a:endParaRPr lang="en-US" sz="1850" dirty="0"/>
          </a:p>
        </p:txBody>
      </p:sp>
      <p:sp>
        <p:nvSpPr>
          <p:cNvPr id="18" name="Text 15"/>
          <p:cNvSpPr/>
          <p:nvPr/>
        </p:nvSpPr>
        <p:spPr>
          <a:xfrm>
            <a:off x="10652760" y="6464808"/>
            <a:ext cx="1051560" cy="182880"/>
          </a:xfrm>
          <a:prstGeom prst="rect">
            <a:avLst/>
          </a:prstGeom>
          <a:noFill/>
          <a:ln/>
        </p:spPr>
        <p:txBody>
          <a:bodyPr wrap="square" lIns="0" tIns="0" rIns="0" bIns="0" rtlCol="0" anchor="ctr">
            <a:normAutofit/>
          </a:bodyPr>
          <a:lstStyle/>
          <a:p>
            <a:pPr marL="0" indent="0" algn="r">
              <a:buNone/>
            </a:pPr>
            <a:r>
              <a:rPr lang="en-US" sz="1000" b="1" dirty="0">
                <a:solidFill>
                  <a:srgbClr val="617B94"/>
                </a:solidFill>
                <a:latin typeface="Lato Heavy" pitchFamily="34" charset="0"/>
                <a:ea typeface="Lato Heavy" pitchFamily="34" charset="-122"/>
                <a:cs typeface="Lato Heavy" pitchFamily="34" charset="-120"/>
              </a:rPr>
              <a:t>01  /  14</a:t>
            </a:r>
            <a:endParaRPr lang="en-US" sz="1000" dirty="0"/>
          </a:p>
        </p:txBody>
      </p:sp>
      <p:sp>
        <p:nvSpPr>
          <p:cNvPr id="19" name="Text 16"/>
          <p:cNvSpPr/>
          <p:nvPr/>
        </p:nvSpPr>
        <p:spPr>
          <a:xfrm>
            <a:off x="731520" y="6446520"/>
            <a:ext cx="9052560" cy="210312"/>
          </a:xfrm>
          <a:prstGeom prst="rect">
            <a:avLst/>
          </a:prstGeom>
          <a:noFill/>
          <a:ln/>
        </p:spPr>
        <p:txBody>
          <a:bodyPr wrap="square" lIns="0" tIns="0" rIns="0" bIns="0" rtlCol="0" anchor="ctr">
            <a:normAutofit/>
          </a:bodyPr>
          <a:lstStyle/>
          <a:p>
            <a:pPr marL="0" indent="0">
              <a:buNone/>
            </a:pPr>
            <a:r>
              <a:rPr lang="en-US" sz="940" dirty="0">
                <a:solidFill>
                  <a:srgbClr val="617B94"/>
                </a:solidFill>
                <a:latin typeface="Lato" pitchFamily="34" charset="0"/>
                <a:ea typeface="Lato" pitchFamily="34" charset="-122"/>
                <a:cs typeface="Lato" pitchFamily="34" charset="-120"/>
              </a:rPr>
              <a:t>ILLUSTRATIVE CONCEPT DEMO • ON TOP OF THE WORLD COMMUNITY HIGHLIGHTS • NOT OFFICIALLY AFFILIATED</a:t>
            </a:r>
            <a:endParaRPr lang="en-US" sz="940" dirty="0"/>
          </a:p>
        </p:txBody>
      </p:sp>
      <p:sp>
        <p:nvSpPr>
          <p:cNvPr id="20" name="Shape 17"/>
          <p:cNvSpPr/>
          <p:nvPr/>
        </p:nvSpPr>
        <p:spPr>
          <a:xfrm>
            <a:off x="8375904" y="886968"/>
            <a:ext cx="3328416" cy="5541264"/>
          </a:xfrm>
          <a:prstGeom prst="roundRect">
            <a:avLst>
              <a:gd name="adj" fmla="val 4121"/>
            </a:avLst>
          </a:prstGeom>
          <a:solidFill>
            <a:srgbClr val="D7E0EA"/>
          </a:solidFill>
          <a:ln w="12700">
            <a:solidFill>
              <a:srgbClr val="D7E0EA">
                <a:alpha val="0"/>
              </a:srgbClr>
            </a:solidFill>
            <a:prstDash val="solid"/>
          </a:ln>
        </p:spPr>
        <p:txBody>
          <a:bodyPr/>
          <a:lstStyle/>
          <a:p>
            <a:endParaRPr lang="en-US"/>
          </a:p>
        </p:txBody>
      </p:sp>
      <p:sp>
        <p:nvSpPr>
          <p:cNvPr id="21" name="Shape 18"/>
          <p:cNvSpPr/>
          <p:nvPr/>
        </p:nvSpPr>
        <p:spPr>
          <a:xfrm>
            <a:off x="8302752" y="795528"/>
            <a:ext cx="3328416" cy="5541264"/>
          </a:xfrm>
          <a:prstGeom prst="roundRect">
            <a:avLst>
              <a:gd name="adj" fmla="val 4121"/>
            </a:avLst>
          </a:prstGeom>
          <a:solidFill>
            <a:srgbClr val="071522"/>
          </a:solidFill>
          <a:ln w="12700">
            <a:solidFill>
              <a:srgbClr val="071522">
                <a:alpha val="0"/>
              </a:srgbClr>
            </a:solidFill>
            <a:prstDash val="solid"/>
          </a:ln>
        </p:spPr>
        <p:txBody>
          <a:bodyPr/>
          <a:lstStyle/>
          <a:p>
            <a:endParaRPr lang="en-US"/>
          </a:p>
        </p:txBody>
      </p:sp>
      <p:sp>
        <p:nvSpPr>
          <p:cNvPr id="22" name="Shape 19"/>
          <p:cNvSpPr/>
          <p:nvPr/>
        </p:nvSpPr>
        <p:spPr>
          <a:xfrm>
            <a:off x="8394192" y="886968"/>
            <a:ext cx="3145536" cy="5358384"/>
          </a:xfrm>
          <a:prstGeom prst="roundRect">
            <a:avLst>
              <a:gd name="adj" fmla="val 4360"/>
            </a:avLst>
          </a:prstGeom>
          <a:solidFill>
            <a:srgbClr val="FFFFFF"/>
          </a:solidFill>
          <a:ln w="12700">
            <a:solidFill>
              <a:srgbClr val="FFFFFF">
                <a:alpha val="0"/>
              </a:srgbClr>
            </a:solidFill>
            <a:prstDash val="solid"/>
          </a:ln>
        </p:spPr>
        <p:txBody>
          <a:bodyPr/>
          <a:lstStyle/>
          <a:p>
            <a:endParaRPr lang="en-US"/>
          </a:p>
        </p:txBody>
      </p:sp>
      <p:sp>
        <p:nvSpPr>
          <p:cNvPr id="23" name="Shape 20"/>
          <p:cNvSpPr/>
          <p:nvPr/>
        </p:nvSpPr>
        <p:spPr>
          <a:xfrm>
            <a:off x="9454896" y="850392"/>
            <a:ext cx="1014984" cy="173736"/>
          </a:xfrm>
          <a:prstGeom prst="roundRect">
            <a:avLst>
              <a:gd name="adj" fmla="val 78947"/>
            </a:avLst>
          </a:prstGeom>
          <a:solidFill>
            <a:srgbClr val="071522"/>
          </a:solidFill>
          <a:ln w="12700">
            <a:solidFill>
              <a:srgbClr val="071522">
                <a:alpha val="0"/>
              </a:srgbClr>
            </a:solidFill>
            <a:prstDash val="solid"/>
          </a:ln>
        </p:spPr>
        <p:txBody>
          <a:bodyPr/>
          <a:lstStyle/>
          <a:p>
            <a:endParaRPr lang="en-US"/>
          </a:p>
        </p:txBody>
      </p:sp>
      <p:sp>
        <p:nvSpPr>
          <p:cNvPr id="24" name="Text 21"/>
          <p:cNvSpPr/>
          <p:nvPr/>
        </p:nvSpPr>
        <p:spPr>
          <a:xfrm>
            <a:off x="8558784" y="978408"/>
            <a:ext cx="566928" cy="210312"/>
          </a:xfrm>
          <a:prstGeom prst="rect">
            <a:avLst/>
          </a:prstGeom>
          <a:noFill/>
          <a:ln/>
        </p:spPr>
        <p:txBody>
          <a:bodyPr wrap="square" lIns="0" tIns="0" rIns="0" bIns="0" rtlCol="0" anchor="ctr">
            <a:normAutofit/>
          </a:bodyPr>
          <a:lstStyle/>
          <a:p>
            <a:pPr marL="0" indent="0">
              <a:buNone/>
            </a:pPr>
            <a:r>
              <a:rPr lang="en-US" sz="1000" b="1" dirty="0">
                <a:solidFill>
                  <a:srgbClr val="2A4157"/>
                </a:solidFill>
                <a:latin typeface="Lato Heavy" pitchFamily="34" charset="0"/>
                <a:ea typeface="Lato Heavy" pitchFamily="34" charset="-122"/>
                <a:cs typeface="Lato Heavy" pitchFamily="34" charset="-120"/>
              </a:rPr>
              <a:t>9:41</a:t>
            </a:r>
            <a:endParaRPr lang="en-US" sz="1000" dirty="0"/>
          </a:p>
        </p:txBody>
      </p:sp>
      <p:sp>
        <p:nvSpPr>
          <p:cNvPr id="25" name="Text 22"/>
          <p:cNvSpPr/>
          <p:nvPr/>
        </p:nvSpPr>
        <p:spPr>
          <a:xfrm>
            <a:off x="10561320" y="978408"/>
            <a:ext cx="685800" cy="210312"/>
          </a:xfrm>
          <a:prstGeom prst="rect">
            <a:avLst/>
          </a:prstGeom>
          <a:noFill/>
          <a:ln/>
        </p:spPr>
        <p:txBody>
          <a:bodyPr wrap="square" lIns="0" tIns="0" rIns="0" bIns="0" rtlCol="0" anchor="ctr">
            <a:normAutofit/>
          </a:bodyPr>
          <a:lstStyle/>
          <a:p>
            <a:pPr marL="0" indent="0" algn="r">
              <a:buNone/>
            </a:pPr>
            <a:r>
              <a:rPr lang="en-US" sz="900" b="1" dirty="0">
                <a:solidFill>
                  <a:srgbClr val="2A4157"/>
                </a:solidFill>
                <a:latin typeface="Lato Heavy" pitchFamily="34" charset="0"/>
                <a:ea typeface="Lato Heavy" pitchFamily="34" charset="-122"/>
                <a:cs typeface="Lato Heavy" pitchFamily="34" charset="-120"/>
              </a:rPr>
              <a:t>▰  Wi-Fi</a:t>
            </a:r>
            <a:endParaRPr lang="en-US" sz="900" dirty="0"/>
          </a:p>
        </p:txBody>
      </p:sp>
      <p:sp>
        <p:nvSpPr>
          <p:cNvPr id="26" name="Text 23"/>
          <p:cNvSpPr/>
          <p:nvPr/>
        </p:nvSpPr>
        <p:spPr>
          <a:xfrm>
            <a:off x="8485632" y="1298448"/>
            <a:ext cx="2962656" cy="283464"/>
          </a:xfrm>
          <a:prstGeom prst="rect">
            <a:avLst/>
          </a:prstGeom>
          <a:noFill/>
          <a:ln/>
        </p:spPr>
        <p:txBody>
          <a:bodyPr wrap="square" lIns="0" tIns="0" rIns="0" bIns="0" rtlCol="0" anchor="ctr">
            <a:normAutofit/>
          </a:bodyPr>
          <a:lstStyle/>
          <a:p>
            <a:pPr marL="0" indent="0" algn="ctr">
              <a:buNone/>
            </a:pPr>
            <a:r>
              <a:rPr lang="en-US" sz="1370" b="1" dirty="0">
                <a:solidFill>
                  <a:srgbClr val="082B4E"/>
                </a:solidFill>
                <a:latin typeface="Lato Heavy" pitchFamily="34" charset="0"/>
                <a:ea typeface="Lato Heavy" pitchFamily="34" charset="-122"/>
                <a:cs typeface="Lato Heavy" pitchFamily="34" charset="-120"/>
              </a:rPr>
              <a:t>On Top of the World</a:t>
            </a:r>
            <a:endParaRPr lang="en-US" sz="1370" dirty="0"/>
          </a:p>
        </p:txBody>
      </p:sp>
      <p:pic>
        <p:nvPicPr>
          <p:cNvPr id="27" name="Image 1" descr="/mnt/data/barnaby_hd_work/otow_gradient.png"/>
          <p:cNvPicPr>
            <a:picLocks noChangeAspect="1"/>
          </p:cNvPicPr>
          <p:nvPr/>
        </p:nvPicPr>
        <p:blipFill>
          <a:blip r:embed="rId4"/>
          <a:stretch>
            <a:fillRect/>
          </a:stretch>
        </p:blipFill>
        <p:spPr>
          <a:xfrm>
            <a:off x="8403336" y="1691640"/>
            <a:ext cx="3127248" cy="804672"/>
          </a:xfrm>
          <a:prstGeom prst="rect">
            <a:avLst/>
          </a:prstGeom>
        </p:spPr>
      </p:pic>
      <p:sp>
        <p:nvSpPr>
          <p:cNvPr id="28" name="Text 24"/>
          <p:cNvSpPr/>
          <p:nvPr/>
        </p:nvSpPr>
        <p:spPr>
          <a:xfrm>
            <a:off x="8586216" y="1783080"/>
            <a:ext cx="274320" cy="27432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Lato Heavy" pitchFamily="34" charset="0"/>
                <a:ea typeface="Lato Heavy" pitchFamily="34" charset="-122"/>
                <a:cs typeface="Lato Heavy" pitchFamily="34" charset="-120"/>
              </a:rPr>
              <a:t>≡</a:t>
            </a:r>
            <a:endParaRPr lang="en-US" sz="1900" dirty="0"/>
          </a:p>
        </p:txBody>
      </p:sp>
      <p:sp>
        <p:nvSpPr>
          <p:cNvPr id="29" name="Text 25"/>
          <p:cNvSpPr/>
          <p:nvPr/>
        </p:nvSpPr>
        <p:spPr>
          <a:xfrm>
            <a:off x="9025128" y="1810512"/>
            <a:ext cx="1920240" cy="201168"/>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Lato Heavy" pitchFamily="34" charset="0"/>
                <a:ea typeface="Lato Heavy" pitchFamily="34" charset="-122"/>
                <a:cs typeface="Lato Heavy" pitchFamily="34" charset="-120"/>
              </a:rPr>
              <a:t>On Top of the World</a:t>
            </a:r>
            <a:endParaRPr lang="en-US" sz="1200" dirty="0"/>
          </a:p>
        </p:txBody>
      </p:sp>
      <p:sp>
        <p:nvSpPr>
          <p:cNvPr id="30" name="Text 26"/>
          <p:cNvSpPr/>
          <p:nvPr/>
        </p:nvSpPr>
        <p:spPr>
          <a:xfrm>
            <a:off x="8567928" y="2148840"/>
            <a:ext cx="2377440" cy="301752"/>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Lato Heavy" pitchFamily="34" charset="0"/>
                <a:ea typeface="Lato Heavy" pitchFamily="34" charset="-122"/>
                <a:cs typeface="Lato Heavy" pitchFamily="34" charset="-120"/>
              </a:rPr>
              <a:t>INFO</a:t>
            </a:r>
            <a:endParaRPr lang="en-US" sz="1800" dirty="0"/>
          </a:p>
        </p:txBody>
      </p:sp>
      <p:sp>
        <p:nvSpPr>
          <p:cNvPr id="31" name="Shape 27"/>
          <p:cNvSpPr/>
          <p:nvPr/>
        </p:nvSpPr>
        <p:spPr>
          <a:xfrm>
            <a:off x="8449056" y="5705856"/>
            <a:ext cx="3035808" cy="420624"/>
          </a:xfrm>
          <a:prstGeom prst="roundRect">
            <a:avLst>
              <a:gd name="adj" fmla="val 32609"/>
            </a:avLst>
          </a:prstGeom>
          <a:solidFill>
            <a:srgbClr val="F8FBFE"/>
          </a:solidFill>
          <a:ln w="12700">
            <a:solidFill>
              <a:srgbClr val="F8FBFE">
                <a:alpha val="0"/>
              </a:srgbClr>
            </a:solidFill>
            <a:prstDash val="solid"/>
          </a:ln>
        </p:spPr>
        <p:txBody>
          <a:bodyPr/>
          <a:lstStyle/>
          <a:p>
            <a:endParaRPr lang="en-US"/>
          </a:p>
        </p:txBody>
      </p:sp>
      <p:sp>
        <p:nvSpPr>
          <p:cNvPr id="32" name="Text 28"/>
          <p:cNvSpPr/>
          <p:nvPr/>
        </p:nvSpPr>
        <p:spPr>
          <a:xfrm>
            <a:off x="8677656"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3" name="Text 29"/>
          <p:cNvSpPr/>
          <p:nvPr/>
        </p:nvSpPr>
        <p:spPr>
          <a:xfrm>
            <a:off x="8595360"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Home</a:t>
            </a:r>
            <a:endParaRPr lang="en-US" sz="820" dirty="0"/>
          </a:p>
        </p:txBody>
      </p:sp>
      <p:sp>
        <p:nvSpPr>
          <p:cNvPr id="34" name="Text 30"/>
          <p:cNvSpPr/>
          <p:nvPr/>
        </p:nvSpPr>
        <p:spPr>
          <a:xfrm>
            <a:off x="9372600"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5" name="Text 31"/>
          <p:cNvSpPr/>
          <p:nvPr/>
        </p:nvSpPr>
        <p:spPr>
          <a:xfrm>
            <a:off x="9290304"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Outings</a:t>
            </a:r>
            <a:endParaRPr lang="en-US" sz="820" dirty="0"/>
          </a:p>
        </p:txBody>
      </p:sp>
      <p:sp>
        <p:nvSpPr>
          <p:cNvPr id="36" name="Text 32"/>
          <p:cNvSpPr/>
          <p:nvPr/>
        </p:nvSpPr>
        <p:spPr>
          <a:xfrm>
            <a:off x="10067544"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7" name="Text 33"/>
          <p:cNvSpPr/>
          <p:nvPr/>
        </p:nvSpPr>
        <p:spPr>
          <a:xfrm>
            <a:off x="9985248"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Messages</a:t>
            </a:r>
            <a:endParaRPr lang="en-US" sz="820" dirty="0"/>
          </a:p>
        </p:txBody>
      </p:sp>
      <p:sp>
        <p:nvSpPr>
          <p:cNvPr id="38" name="Text 34"/>
          <p:cNvSpPr/>
          <p:nvPr/>
        </p:nvSpPr>
        <p:spPr>
          <a:xfrm>
            <a:off x="10762488"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9" name="Text 35"/>
          <p:cNvSpPr/>
          <p:nvPr/>
        </p:nvSpPr>
        <p:spPr>
          <a:xfrm>
            <a:off x="10680192"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More</a:t>
            </a:r>
            <a:endParaRPr lang="en-US" sz="820" dirty="0"/>
          </a:p>
        </p:txBody>
      </p:sp>
      <p:sp>
        <p:nvSpPr>
          <p:cNvPr id="40" name="Text 36"/>
          <p:cNvSpPr/>
          <p:nvPr/>
        </p:nvSpPr>
        <p:spPr>
          <a:xfrm>
            <a:off x="8485632" y="2587752"/>
            <a:ext cx="2962656" cy="338328"/>
          </a:xfrm>
          <a:prstGeom prst="rect">
            <a:avLst/>
          </a:prstGeom>
          <a:noFill/>
          <a:ln/>
        </p:spPr>
        <p:txBody>
          <a:bodyPr wrap="square" lIns="0" tIns="0" rIns="0" bIns="0" rtlCol="0" anchor="ctr">
            <a:normAutofit/>
          </a:bodyPr>
          <a:lstStyle/>
          <a:p>
            <a:pPr marL="0" indent="0">
              <a:buNone/>
            </a:pPr>
            <a:r>
              <a:rPr lang="en-US" sz="1700" b="1" dirty="0">
                <a:solidFill>
                  <a:srgbClr val="082B4E"/>
                </a:solidFill>
                <a:latin typeface="Lato Heavy" pitchFamily="34" charset="0"/>
                <a:ea typeface="Lato Heavy" pitchFamily="34" charset="-122"/>
                <a:cs typeface="Lato Heavy" pitchFamily="34" charset="-120"/>
              </a:rPr>
              <a:t>Meet Barnaby</a:t>
            </a:r>
            <a:endParaRPr lang="en-US" sz="1700" dirty="0"/>
          </a:p>
        </p:txBody>
      </p:sp>
      <p:sp>
        <p:nvSpPr>
          <p:cNvPr id="41" name="Text 37"/>
          <p:cNvSpPr/>
          <p:nvPr/>
        </p:nvSpPr>
        <p:spPr>
          <a:xfrm>
            <a:off x="8485632" y="2926080"/>
            <a:ext cx="2962656" cy="201168"/>
          </a:xfrm>
          <a:prstGeom prst="rect">
            <a:avLst/>
          </a:prstGeom>
          <a:noFill/>
          <a:ln/>
        </p:spPr>
        <p:txBody>
          <a:bodyPr wrap="square" lIns="0" tIns="0" rIns="0" bIns="0" rtlCol="0" anchor="ctr">
            <a:normAutofit/>
          </a:bodyPr>
          <a:lstStyle/>
          <a:p>
            <a:pPr marL="0" indent="0">
              <a:buNone/>
            </a:pPr>
            <a:r>
              <a:rPr lang="en-US" sz="1000" dirty="0">
                <a:solidFill>
                  <a:srgbClr val="617B94"/>
                </a:solidFill>
                <a:latin typeface="Lato" pitchFamily="34" charset="0"/>
                <a:ea typeface="Lato" pitchFamily="34" charset="-122"/>
                <a:cs typeface="Lato" pitchFamily="34" charset="-120"/>
              </a:rPr>
              <a:t>Your community concierge</a:t>
            </a:r>
            <a:endParaRPr lang="en-US" sz="1000" dirty="0"/>
          </a:p>
        </p:txBody>
      </p:sp>
      <p:sp>
        <p:nvSpPr>
          <p:cNvPr id="42" name="Shape 38"/>
          <p:cNvSpPr/>
          <p:nvPr/>
        </p:nvSpPr>
        <p:spPr>
          <a:xfrm>
            <a:off x="8485632" y="3291840"/>
            <a:ext cx="2962656" cy="475488"/>
          </a:xfrm>
          <a:prstGeom prst="roundRect">
            <a:avLst>
              <a:gd name="adj" fmla="val 23077"/>
            </a:avLst>
          </a:prstGeom>
          <a:solidFill>
            <a:srgbClr val="FFFFFF"/>
          </a:solidFill>
          <a:ln w="12700">
            <a:solidFill>
              <a:srgbClr val="DDE7F0"/>
            </a:solidFill>
            <a:prstDash val="solid"/>
          </a:ln>
        </p:spPr>
        <p:txBody>
          <a:bodyPr/>
          <a:lstStyle/>
          <a:p>
            <a:endParaRPr lang="en-US"/>
          </a:p>
        </p:txBody>
      </p:sp>
      <p:sp>
        <p:nvSpPr>
          <p:cNvPr id="43" name="Text 39"/>
          <p:cNvSpPr/>
          <p:nvPr/>
        </p:nvSpPr>
        <p:spPr>
          <a:xfrm>
            <a:off x="8613648" y="3401568"/>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What is happening this week?</a:t>
            </a:r>
            <a:endParaRPr lang="en-US" sz="1200" dirty="0"/>
          </a:p>
        </p:txBody>
      </p:sp>
      <p:sp>
        <p:nvSpPr>
          <p:cNvPr id="44" name="Shape 40"/>
          <p:cNvSpPr/>
          <p:nvPr/>
        </p:nvSpPr>
        <p:spPr>
          <a:xfrm>
            <a:off x="8485632" y="3867912"/>
            <a:ext cx="2962656" cy="475488"/>
          </a:xfrm>
          <a:prstGeom prst="roundRect">
            <a:avLst>
              <a:gd name="adj" fmla="val 23077"/>
            </a:avLst>
          </a:prstGeom>
          <a:solidFill>
            <a:srgbClr val="FFFFFF"/>
          </a:solidFill>
          <a:ln w="12700">
            <a:solidFill>
              <a:srgbClr val="DDE7F0"/>
            </a:solidFill>
            <a:prstDash val="solid"/>
          </a:ln>
        </p:spPr>
        <p:txBody>
          <a:bodyPr/>
          <a:lstStyle/>
          <a:p>
            <a:endParaRPr lang="en-US"/>
          </a:p>
        </p:txBody>
      </p:sp>
      <p:sp>
        <p:nvSpPr>
          <p:cNvPr id="45" name="Text 41"/>
          <p:cNvSpPr/>
          <p:nvPr/>
        </p:nvSpPr>
        <p:spPr>
          <a:xfrm>
            <a:off x="8613648" y="3977640"/>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Help me reserve a court.</a:t>
            </a:r>
            <a:endParaRPr lang="en-US" sz="1200" dirty="0"/>
          </a:p>
        </p:txBody>
      </p:sp>
      <p:sp>
        <p:nvSpPr>
          <p:cNvPr id="46" name="Shape 42"/>
          <p:cNvSpPr/>
          <p:nvPr/>
        </p:nvSpPr>
        <p:spPr>
          <a:xfrm>
            <a:off x="8485632" y="4443984"/>
            <a:ext cx="2962656" cy="475488"/>
          </a:xfrm>
          <a:prstGeom prst="roundRect">
            <a:avLst>
              <a:gd name="adj" fmla="val 23077"/>
            </a:avLst>
          </a:prstGeom>
          <a:solidFill>
            <a:srgbClr val="FFFFFF"/>
          </a:solidFill>
          <a:ln w="12700">
            <a:solidFill>
              <a:srgbClr val="DDE7F0"/>
            </a:solidFill>
            <a:prstDash val="solid"/>
          </a:ln>
        </p:spPr>
        <p:txBody>
          <a:bodyPr/>
          <a:lstStyle/>
          <a:p>
            <a:endParaRPr lang="en-US"/>
          </a:p>
        </p:txBody>
      </p:sp>
      <p:sp>
        <p:nvSpPr>
          <p:cNvPr id="47" name="Text 43"/>
          <p:cNvSpPr/>
          <p:nvPr/>
        </p:nvSpPr>
        <p:spPr>
          <a:xfrm>
            <a:off x="8613648" y="4553712"/>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Find a local service provider.</a:t>
            </a:r>
            <a:endParaRPr lang="en-US" sz="1200" dirty="0"/>
          </a:p>
        </p:txBody>
      </p:sp>
      <p:sp>
        <p:nvSpPr>
          <p:cNvPr id="48" name="Shape 44"/>
          <p:cNvSpPr/>
          <p:nvPr/>
        </p:nvSpPr>
        <p:spPr>
          <a:xfrm>
            <a:off x="8485632" y="5020056"/>
            <a:ext cx="2962656" cy="475488"/>
          </a:xfrm>
          <a:prstGeom prst="roundRect">
            <a:avLst>
              <a:gd name="adj" fmla="val 23077"/>
            </a:avLst>
          </a:prstGeom>
          <a:solidFill>
            <a:srgbClr val="FFFFFF"/>
          </a:solidFill>
          <a:ln w="12700">
            <a:solidFill>
              <a:srgbClr val="DDE7F0"/>
            </a:solidFill>
            <a:prstDash val="solid"/>
          </a:ln>
        </p:spPr>
        <p:txBody>
          <a:bodyPr/>
          <a:lstStyle/>
          <a:p>
            <a:endParaRPr lang="en-US"/>
          </a:p>
        </p:txBody>
      </p:sp>
      <p:sp>
        <p:nvSpPr>
          <p:cNvPr id="49" name="Text 45"/>
          <p:cNvSpPr/>
          <p:nvPr/>
        </p:nvSpPr>
        <p:spPr>
          <a:xfrm>
            <a:off x="8613648" y="5129784"/>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Show community announcements.</a:t>
            </a:r>
            <a:endParaRPr lang="en-US" sz="1200" dirty="0"/>
          </a:p>
        </p:txBody>
      </p:sp>
      <p:sp>
        <p:nvSpPr>
          <p:cNvPr id="50" name="Shape 46"/>
          <p:cNvSpPr/>
          <p:nvPr/>
        </p:nvSpPr>
        <p:spPr>
          <a:xfrm>
            <a:off x="8997696" y="5715000"/>
            <a:ext cx="1938528" cy="265176"/>
          </a:xfrm>
          <a:prstGeom prst="roundRect">
            <a:avLst>
              <a:gd name="adj" fmla="val 34483"/>
            </a:avLst>
          </a:prstGeom>
          <a:solidFill>
            <a:srgbClr val="057BEE"/>
          </a:solidFill>
          <a:ln w="12700">
            <a:solidFill>
              <a:srgbClr val="057BEE"/>
            </a:solidFill>
            <a:prstDash val="solid"/>
          </a:ln>
        </p:spPr>
        <p:txBody>
          <a:bodyPr/>
          <a:lstStyle/>
          <a:p>
            <a:endParaRPr lang="en-US"/>
          </a:p>
        </p:txBody>
      </p:sp>
      <p:sp>
        <p:nvSpPr>
          <p:cNvPr id="51" name="Text 47"/>
          <p:cNvSpPr/>
          <p:nvPr/>
        </p:nvSpPr>
        <p:spPr>
          <a:xfrm>
            <a:off x="9025128" y="5760720"/>
            <a:ext cx="1883664" cy="146304"/>
          </a:xfrm>
          <a:prstGeom prst="rect">
            <a:avLst/>
          </a:prstGeom>
          <a:noFill/>
          <a:ln/>
        </p:spPr>
        <p:txBody>
          <a:bodyPr wrap="square" lIns="0" tIns="0" rIns="0" bIns="0" rtlCol="0" anchor="ctr">
            <a:normAutofit/>
          </a:bodyPr>
          <a:lstStyle/>
          <a:p>
            <a:pPr marL="0" indent="0" algn="ctr">
              <a:buNone/>
            </a:pPr>
            <a:r>
              <a:rPr lang="en-US" sz="880" b="1" dirty="0">
                <a:solidFill>
                  <a:srgbClr val="FFFFFF"/>
                </a:solidFill>
                <a:latin typeface="Lato Heavy" pitchFamily="34" charset="0"/>
                <a:ea typeface="Lato Heavy" pitchFamily="34" charset="-122"/>
                <a:cs typeface="Lato Heavy" pitchFamily="34" charset="-120"/>
              </a:rPr>
              <a:t>Ask Barnaby  →</a:t>
            </a:r>
            <a:endParaRPr lang="en-US" sz="8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722376" y="886968"/>
            <a:ext cx="6583680" cy="246888"/>
          </a:xfrm>
          <a:prstGeom prst="rect">
            <a:avLst/>
          </a:prstGeom>
          <a:noFill/>
          <a:ln/>
        </p:spPr>
        <p:txBody>
          <a:bodyPr wrap="square" lIns="0" tIns="0" rIns="0" bIns="0" rtlCol="0" anchor="ctr">
            <a:normAutofit/>
          </a:bodyPr>
          <a:lstStyle/>
          <a:p>
            <a:pPr marL="0" indent="0">
              <a:buNone/>
            </a:pPr>
            <a:r>
              <a:rPr lang="en-US" sz="1200" b="1" kern="0" spc="70" dirty="0">
                <a:solidFill>
                  <a:srgbClr val="127A91"/>
                </a:solidFill>
                <a:latin typeface="Lato Heavy" pitchFamily="34" charset="0"/>
                <a:ea typeface="Lato Heavy" pitchFamily="34" charset="-122"/>
                <a:cs typeface="Lato Heavy" pitchFamily="34" charset="-120"/>
              </a:rPr>
              <a:t>BARNABY  /  HOME</a:t>
            </a:r>
            <a:endParaRPr lang="en-US" sz="1200" dirty="0"/>
          </a:p>
        </p:txBody>
      </p:sp>
      <p:sp>
        <p:nvSpPr>
          <p:cNvPr id="6" name="Text 3"/>
          <p:cNvSpPr/>
          <p:nvPr/>
        </p:nvSpPr>
        <p:spPr>
          <a:xfrm>
            <a:off x="713232" y="1179576"/>
            <a:ext cx="7315200" cy="630936"/>
          </a:xfrm>
          <a:prstGeom prst="rect">
            <a:avLst/>
          </a:prstGeom>
          <a:noFill/>
          <a:ln/>
        </p:spPr>
        <p:txBody>
          <a:bodyPr wrap="square" lIns="0" tIns="0" rIns="0" bIns="0" rtlCol="0" anchor="ctr">
            <a:normAutofit/>
          </a:bodyPr>
          <a:lstStyle/>
          <a:p>
            <a:pPr marL="0" indent="0">
              <a:buNone/>
            </a:pPr>
            <a:r>
              <a:rPr lang="en-US" sz="3400" b="1" dirty="0">
                <a:solidFill>
                  <a:srgbClr val="082B4E"/>
                </a:solidFill>
                <a:latin typeface="Lato Heavy" pitchFamily="34" charset="0"/>
                <a:ea typeface="Lato Heavy" pitchFamily="34" charset="-122"/>
                <a:cs typeface="Lato Heavy" pitchFamily="34" charset="-120"/>
              </a:rPr>
              <a:t>EVERYTHING IN ONE APP</a:t>
            </a:r>
            <a:endParaRPr lang="en-US" sz="3400" dirty="0"/>
          </a:p>
        </p:txBody>
      </p:sp>
      <p:sp>
        <p:nvSpPr>
          <p:cNvPr id="7" name="Text 4"/>
          <p:cNvSpPr/>
          <p:nvPr/>
        </p:nvSpPr>
        <p:spPr>
          <a:xfrm>
            <a:off x="731520" y="1856232"/>
            <a:ext cx="6858000" cy="448056"/>
          </a:xfrm>
          <a:prstGeom prst="rect">
            <a:avLst/>
          </a:prstGeom>
          <a:noFill/>
          <a:ln/>
        </p:spPr>
        <p:txBody>
          <a:bodyPr wrap="square" lIns="0" tIns="0" rIns="0" bIns="0" rtlCol="0" anchor="ctr">
            <a:normAutofit/>
          </a:bodyPr>
          <a:lstStyle/>
          <a:p>
            <a:pPr marL="0" indent="0">
              <a:buNone/>
            </a:pPr>
            <a:r>
              <a:rPr lang="en-US" sz="1950" dirty="0">
                <a:solidFill>
                  <a:srgbClr val="617B94"/>
                </a:solidFill>
                <a:latin typeface="Lato" pitchFamily="34" charset="0"/>
                <a:ea typeface="Lato" pitchFamily="34" charset="-122"/>
                <a:cs typeface="Lato" pitchFamily="34" charset="-120"/>
              </a:rPr>
              <a:t>A simpler experience for residents.</a:t>
            </a:r>
            <a:endParaRPr lang="en-US" sz="1950" dirty="0"/>
          </a:p>
        </p:txBody>
      </p:sp>
      <p:sp>
        <p:nvSpPr>
          <p:cNvPr id="8" name="Shape 5"/>
          <p:cNvSpPr/>
          <p:nvPr/>
        </p:nvSpPr>
        <p:spPr>
          <a:xfrm>
            <a:off x="731520" y="2770632"/>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9" name="Text 6"/>
          <p:cNvSpPr/>
          <p:nvPr/>
        </p:nvSpPr>
        <p:spPr>
          <a:xfrm>
            <a:off x="1024128" y="2651760"/>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Home, events, amenities and local pros</a:t>
            </a:r>
            <a:endParaRPr lang="en-US" sz="2100" dirty="0"/>
          </a:p>
        </p:txBody>
      </p:sp>
      <p:sp>
        <p:nvSpPr>
          <p:cNvPr id="10" name="Shape 7"/>
          <p:cNvSpPr/>
          <p:nvPr/>
        </p:nvSpPr>
        <p:spPr>
          <a:xfrm>
            <a:off x="731520" y="3575304"/>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1" name="Text 8"/>
          <p:cNvSpPr/>
          <p:nvPr/>
        </p:nvSpPr>
        <p:spPr>
          <a:xfrm>
            <a:off x="1024128" y="3456432"/>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Relevant content without hunting through emails</a:t>
            </a:r>
            <a:endParaRPr lang="en-US" sz="2100" dirty="0"/>
          </a:p>
        </p:txBody>
      </p:sp>
      <p:sp>
        <p:nvSpPr>
          <p:cNvPr id="12" name="Shape 9"/>
          <p:cNvSpPr/>
          <p:nvPr/>
        </p:nvSpPr>
        <p:spPr>
          <a:xfrm>
            <a:off x="731520" y="4379976"/>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3" name="Text 10"/>
          <p:cNvSpPr/>
          <p:nvPr/>
        </p:nvSpPr>
        <p:spPr>
          <a:xfrm>
            <a:off x="1024128" y="4261104"/>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A more connected resident experience</a:t>
            </a:r>
            <a:endParaRPr lang="en-US" sz="2100" dirty="0"/>
          </a:p>
        </p:txBody>
      </p:sp>
      <p:sp>
        <p:nvSpPr>
          <p:cNvPr id="14" name="Shape 11"/>
          <p:cNvSpPr/>
          <p:nvPr/>
        </p:nvSpPr>
        <p:spPr>
          <a:xfrm>
            <a:off x="713232" y="5385816"/>
            <a:ext cx="6638544" cy="822960"/>
          </a:xfrm>
          <a:prstGeom prst="roundRect">
            <a:avLst>
              <a:gd name="adj" fmla="val 16667"/>
            </a:avLst>
          </a:prstGeom>
          <a:solidFill>
            <a:srgbClr val="EAF5FF"/>
          </a:solidFill>
          <a:ln w="12700">
            <a:solidFill>
              <a:srgbClr val="CDE3F6"/>
            </a:solidFill>
            <a:prstDash val="solid"/>
          </a:ln>
        </p:spPr>
        <p:txBody>
          <a:bodyPr/>
          <a:lstStyle/>
          <a:p>
            <a:endParaRPr lang="en-US"/>
          </a:p>
        </p:txBody>
      </p:sp>
      <p:sp>
        <p:nvSpPr>
          <p:cNvPr id="15" name="Shape 12"/>
          <p:cNvSpPr/>
          <p:nvPr/>
        </p:nvSpPr>
        <p:spPr>
          <a:xfrm>
            <a:off x="914400" y="5623560"/>
            <a:ext cx="256032" cy="256032"/>
          </a:xfrm>
          <a:prstGeom prst="ellipse">
            <a:avLst/>
          </a:prstGeom>
          <a:solidFill>
            <a:srgbClr val="057BEE"/>
          </a:solidFill>
          <a:ln w="12700">
            <a:solidFill>
              <a:srgbClr val="057BEE">
                <a:alpha val="0"/>
              </a:srgbClr>
            </a:solidFill>
            <a:prstDash val="solid"/>
          </a:ln>
        </p:spPr>
        <p:txBody>
          <a:bodyPr/>
          <a:lstStyle/>
          <a:p>
            <a:endParaRPr lang="en-US"/>
          </a:p>
        </p:txBody>
      </p:sp>
      <p:sp>
        <p:nvSpPr>
          <p:cNvPr id="16" name="Text 13"/>
          <p:cNvSpPr/>
          <p:nvPr/>
        </p:nvSpPr>
        <p:spPr>
          <a:xfrm>
            <a:off x="958291" y="5623560"/>
            <a:ext cx="1828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Lato Heavy" pitchFamily="34" charset="0"/>
                <a:ea typeface="Lato Heavy" pitchFamily="34" charset="-122"/>
                <a:cs typeface="Lato Heavy" pitchFamily="34" charset="-120"/>
              </a:rPr>
              <a:t>→</a:t>
            </a:r>
            <a:endParaRPr lang="en-US" sz="1400" dirty="0"/>
          </a:p>
        </p:txBody>
      </p:sp>
      <p:sp>
        <p:nvSpPr>
          <p:cNvPr id="17" name="Text 14"/>
          <p:cNvSpPr/>
          <p:nvPr/>
        </p:nvSpPr>
        <p:spPr>
          <a:xfrm>
            <a:off x="1307592" y="5486400"/>
            <a:ext cx="5824728" cy="612648"/>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Residents can find what they need from one convenient home screen.</a:t>
            </a:r>
            <a:endParaRPr lang="en-US" sz="1850" dirty="0"/>
          </a:p>
        </p:txBody>
      </p:sp>
      <p:sp>
        <p:nvSpPr>
          <p:cNvPr id="18" name="Text 15"/>
          <p:cNvSpPr/>
          <p:nvPr/>
        </p:nvSpPr>
        <p:spPr>
          <a:xfrm>
            <a:off x="10652760" y="6464808"/>
            <a:ext cx="1051560" cy="182880"/>
          </a:xfrm>
          <a:prstGeom prst="rect">
            <a:avLst/>
          </a:prstGeom>
          <a:noFill/>
          <a:ln/>
        </p:spPr>
        <p:txBody>
          <a:bodyPr wrap="square" lIns="0" tIns="0" rIns="0" bIns="0" rtlCol="0" anchor="ctr">
            <a:normAutofit/>
          </a:bodyPr>
          <a:lstStyle/>
          <a:p>
            <a:pPr marL="0" indent="0" algn="r">
              <a:buNone/>
            </a:pPr>
            <a:r>
              <a:rPr lang="en-US" sz="1000" b="1" dirty="0">
                <a:solidFill>
                  <a:srgbClr val="617B94"/>
                </a:solidFill>
                <a:latin typeface="Lato Heavy" pitchFamily="34" charset="0"/>
                <a:ea typeface="Lato Heavy" pitchFamily="34" charset="-122"/>
                <a:cs typeface="Lato Heavy" pitchFamily="34" charset="-120"/>
              </a:rPr>
              <a:t>02  /  14</a:t>
            </a:r>
            <a:endParaRPr lang="en-US" sz="1000" dirty="0"/>
          </a:p>
        </p:txBody>
      </p:sp>
      <p:sp>
        <p:nvSpPr>
          <p:cNvPr id="19" name="Text 16"/>
          <p:cNvSpPr/>
          <p:nvPr/>
        </p:nvSpPr>
        <p:spPr>
          <a:xfrm>
            <a:off x="731520" y="6446520"/>
            <a:ext cx="9052560" cy="210312"/>
          </a:xfrm>
          <a:prstGeom prst="rect">
            <a:avLst/>
          </a:prstGeom>
          <a:noFill/>
          <a:ln/>
        </p:spPr>
        <p:txBody>
          <a:bodyPr wrap="square" lIns="0" tIns="0" rIns="0" bIns="0" rtlCol="0" anchor="ctr">
            <a:normAutofit/>
          </a:bodyPr>
          <a:lstStyle/>
          <a:p>
            <a:pPr marL="0" indent="0">
              <a:buNone/>
            </a:pPr>
            <a:r>
              <a:rPr lang="en-US" sz="940" dirty="0">
                <a:solidFill>
                  <a:srgbClr val="617B94"/>
                </a:solidFill>
                <a:latin typeface="Lato" pitchFamily="34" charset="0"/>
                <a:ea typeface="Lato" pitchFamily="34" charset="-122"/>
                <a:cs typeface="Lato" pitchFamily="34" charset="-120"/>
              </a:rPr>
              <a:t>ILLUSTRATIVE CONCEPT DEMO • ON TOP OF THE WORLD COMMUNITY HIGHLIGHTS • NOT OFFICIALLY AFFILIATED</a:t>
            </a:r>
            <a:endParaRPr lang="en-US" sz="940" dirty="0"/>
          </a:p>
        </p:txBody>
      </p:sp>
      <p:sp>
        <p:nvSpPr>
          <p:cNvPr id="20" name="Shape 17"/>
          <p:cNvSpPr/>
          <p:nvPr/>
        </p:nvSpPr>
        <p:spPr>
          <a:xfrm>
            <a:off x="8375904" y="886968"/>
            <a:ext cx="3328416" cy="5541264"/>
          </a:xfrm>
          <a:prstGeom prst="roundRect">
            <a:avLst>
              <a:gd name="adj" fmla="val 4121"/>
            </a:avLst>
          </a:prstGeom>
          <a:solidFill>
            <a:srgbClr val="D7E0EA"/>
          </a:solidFill>
          <a:ln w="12700">
            <a:solidFill>
              <a:srgbClr val="D7E0EA">
                <a:alpha val="0"/>
              </a:srgbClr>
            </a:solidFill>
            <a:prstDash val="solid"/>
          </a:ln>
        </p:spPr>
        <p:txBody>
          <a:bodyPr/>
          <a:lstStyle/>
          <a:p>
            <a:endParaRPr lang="en-US"/>
          </a:p>
        </p:txBody>
      </p:sp>
      <p:sp>
        <p:nvSpPr>
          <p:cNvPr id="21" name="Shape 18"/>
          <p:cNvSpPr/>
          <p:nvPr/>
        </p:nvSpPr>
        <p:spPr>
          <a:xfrm>
            <a:off x="8302752" y="795528"/>
            <a:ext cx="3328416" cy="5541264"/>
          </a:xfrm>
          <a:prstGeom prst="roundRect">
            <a:avLst>
              <a:gd name="adj" fmla="val 4121"/>
            </a:avLst>
          </a:prstGeom>
          <a:solidFill>
            <a:srgbClr val="071522"/>
          </a:solidFill>
          <a:ln w="12700">
            <a:solidFill>
              <a:srgbClr val="071522">
                <a:alpha val="0"/>
              </a:srgbClr>
            </a:solidFill>
            <a:prstDash val="solid"/>
          </a:ln>
        </p:spPr>
        <p:txBody>
          <a:bodyPr/>
          <a:lstStyle/>
          <a:p>
            <a:endParaRPr lang="en-US"/>
          </a:p>
        </p:txBody>
      </p:sp>
      <p:sp>
        <p:nvSpPr>
          <p:cNvPr id="22" name="Shape 19"/>
          <p:cNvSpPr/>
          <p:nvPr/>
        </p:nvSpPr>
        <p:spPr>
          <a:xfrm>
            <a:off x="8394192" y="886968"/>
            <a:ext cx="3145536" cy="5358384"/>
          </a:xfrm>
          <a:prstGeom prst="roundRect">
            <a:avLst>
              <a:gd name="adj" fmla="val 4360"/>
            </a:avLst>
          </a:prstGeom>
          <a:solidFill>
            <a:srgbClr val="FFFFFF"/>
          </a:solidFill>
          <a:ln w="12700">
            <a:solidFill>
              <a:srgbClr val="FFFFFF">
                <a:alpha val="0"/>
              </a:srgbClr>
            </a:solidFill>
            <a:prstDash val="solid"/>
          </a:ln>
        </p:spPr>
        <p:txBody>
          <a:bodyPr/>
          <a:lstStyle/>
          <a:p>
            <a:endParaRPr lang="en-US"/>
          </a:p>
        </p:txBody>
      </p:sp>
      <p:sp>
        <p:nvSpPr>
          <p:cNvPr id="23" name="Shape 20"/>
          <p:cNvSpPr/>
          <p:nvPr/>
        </p:nvSpPr>
        <p:spPr>
          <a:xfrm>
            <a:off x="9454896" y="850392"/>
            <a:ext cx="1014984" cy="173736"/>
          </a:xfrm>
          <a:prstGeom prst="roundRect">
            <a:avLst>
              <a:gd name="adj" fmla="val 78947"/>
            </a:avLst>
          </a:prstGeom>
          <a:solidFill>
            <a:srgbClr val="071522"/>
          </a:solidFill>
          <a:ln w="12700">
            <a:solidFill>
              <a:srgbClr val="071522">
                <a:alpha val="0"/>
              </a:srgbClr>
            </a:solidFill>
            <a:prstDash val="solid"/>
          </a:ln>
        </p:spPr>
        <p:txBody>
          <a:bodyPr/>
          <a:lstStyle/>
          <a:p>
            <a:endParaRPr lang="en-US"/>
          </a:p>
        </p:txBody>
      </p:sp>
      <p:sp>
        <p:nvSpPr>
          <p:cNvPr id="24" name="Text 21"/>
          <p:cNvSpPr/>
          <p:nvPr/>
        </p:nvSpPr>
        <p:spPr>
          <a:xfrm>
            <a:off x="8558784" y="978408"/>
            <a:ext cx="566928" cy="210312"/>
          </a:xfrm>
          <a:prstGeom prst="rect">
            <a:avLst/>
          </a:prstGeom>
          <a:noFill/>
          <a:ln/>
        </p:spPr>
        <p:txBody>
          <a:bodyPr wrap="square" lIns="0" tIns="0" rIns="0" bIns="0" rtlCol="0" anchor="ctr">
            <a:normAutofit/>
          </a:bodyPr>
          <a:lstStyle/>
          <a:p>
            <a:pPr marL="0" indent="0">
              <a:buNone/>
            </a:pPr>
            <a:r>
              <a:rPr lang="en-US" sz="1000" b="1" dirty="0">
                <a:solidFill>
                  <a:srgbClr val="2A4157"/>
                </a:solidFill>
                <a:latin typeface="Lato Heavy" pitchFamily="34" charset="0"/>
                <a:ea typeface="Lato Heavy" pitchFamily="34" charset="-122"/>
                <a:cs typeface="Lato Heavy" pitchFamily="34" charset="-120"/>
              </a:rPr>
              <a:t>9:41</a:t>
            </a:r>
            <a:endParaRPr lang="en-US" sz="1000" dirty="0"/>
          </a:p>
        </p:txBody>
      </p:sp>
      <p:sp>
        <p:nvSpPr>
          <p:cNvPr id="25" name="Text 22"/>
          <p:cNvSpPr/>
          <p:nvPr/>
        </p:nvSpPr>
        <p:spPr>
          <a:xfrm>
            <a:off x="10561320" y="978408"/>
            <a:ext cx="685800" cy="210312"/>
          </a:xfrm>
          <a:prstGeom prst="rect">
            <a:avLst/>
          </a:prstGeom>
          <a:noFill/>
          <a:ln/>
        </p:spPr>
        <p:txBody>
          <a:bodyPr wrap="square" lIns="0" tIns="0" rIns="0" bIns="0" rtlCol="0" anchor="ctr">
            <a:normAutofit/>
          </a:bodyPr>
          <a:lstStyle/>
          <a:p>
            <a:pPr marL="0" indent="0" algn="r">
              <a:buNone/>
            </a:pPr>
            <a:r>
              <a:rPr lang="en-US" sz="900" b="1" dirty="0">
                <a:solidFill>
                  <a:srgbClr val="2A4157"/>
                </a:solidFill>
                <a:latin typeface="Lato Heavy" pitchFamily="34" charset="0"/>
                <a:ea typeface="Lato Heavy" pitchFamily="34" charset="-122"/>
                <a:cs typeface="Lato Heavy" pitchFamily="34" charset="-120"/>
              </a:rPr>
              <a:t>▰  Wi-Fi</a:t>
            </a:r>
            <a:endParaRPr lang="en-US" sz="900" dirty="0"/>
          </a:p>
        </p:txBody>
      </p:sp>
      <p:sp>
        <p:nvSpPr>
          <p:cNvPr id="26" name="Text 23"/>
          <p:cNvSpPr/>
          <p:nvPr/>
        </p:nvSpPr>
        <p:spPr>
          <a:xfrm>
            <a:off x="8485632" y="1298448"/>
            <a:ext cx="2962656" cy="283464"/>
          </a:xfrm>
          <a:prstGeom prst="rect">
            <a:avLst/>
          </a:prstGeom>
          <a:noFill/>
          <a:ln/>
        </p:spPr>
        <p:txBody>
          <a:bodyPr wrap="square" lIns="0" tIns="0" rIns="0" bIns="0" rtlCol="0" anchor="ctr">
            <a:normAutofit/>
          </a:bodyPr>
          <a:lstStyle/>
          <a:p>
            <a:pPr marL="0" indent="0" algn="ctr">
              <a:buNone/>
            </a:pPr>
            <a:r>
              <a:rPr lang="en-US" sz="1370" b="1" dirty="0">
                <a:solidFill>
                  <a:srgbClr val="082B4E"/>
                </a:solidFill>
                <a:latin typeface="Lato Heavy" pitchFamily="34" charset="0"/>
                <a:ea typeface="Lato Heavy" pitchFamily="34" charset="-122"/>
                <a:cs typeface="Lato Heavy" pitchFamily="34" charset="-120"/>
              </a:rPr>
              <a:t>On Top of the World</a:t>
            </a:r>
            <a:endParaRPr lang="en-US" sz="1370" dirty="0"/>
          </a:p>
        </p:txBody>
      </p:sp>
      <p:pic>
        <p:nvPicPr>
          <p:cNvPr id="27" name="Image 1" descr="/mnt/data/barnaby_hd_work/otow_gradient.png"/>
          <p:cNvPicPr>
            <a:picLocks noChangeAspect="1"/>
          </p:cNvPicPr>
          <p:nvPr/>
        </p:nvPicPr>
        <p:blipFill>
          <a:blip r:embed="rId4"/>
          <a:stretch>
            <a:fillRect/>
          </a:stretch>
        </p:blipFill>
        <p:spPr>
          <a:xfrm>
            <a:off x="8403336" y="1691640"/>
            <a:ext cx="3127248" cy="804672"/>
          </a:xfrm>
          <a:prstGeom prst="rect">
            <a:avLst/>
          </a:prstGeom>
        </p:spPr>
      </p:pic>
      <p:sp>
        <p:nvSpPr>
          <p:cNvPr id="28" name="Text 24"/>
          <p:cNvSpPr/>
          <p:nvPr/>
        </p:nvSpPr>
        <p:spPr>
          <a:xfrm>
            <a:off x="8586216" y="1783080"/>
            <a:ext cx="274320" cy="27432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Lato Heavy" pitchFamily="34" charset="0"/>
                <a:ea typeface="Lato Heavy" pitchFamily="34" charset="-122"/>
                <a:cs typeface="Lato Heavy" pitchFamily="34" charset="-120"/>
              </a:rPr>
              <a:t>≡</a:t>
            </a:r>
            <a:endParaRPr lang="en-US" sz="1900" dirty="0"/>
          </a:p>
        </p:txBody>
      </p:sp>
      <p:sp>
        <p:nvSpPr>
          <p:cNvPr id="29" name="Text 25"/>
          <p:cNvSpPr/>
          <p:nvPr/>
        </p:nvSpPr>
        <p:spPr>
          <a:xfrm>
            <a:off x="9025128" y="1810512"/>
            <a:ext cx="1920240" cy="201168"/>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Lato Heavy" pitchFamily="34" charset="0"/>
                <a:ea typeface="Lato Heavy" pitchFamily="34" charset="-122"/>
                <a:cs typeface="Lato Heavy" pitchFamily="34" charset="-120"/>
              </a:rPr>
              <a:t>On Top of the World</a:t>
            </a:r>
            <a:endParaRPr lang="en-US" sz="1200" dirty="0"/>
          </a:p>
        </p:txBody>
      </p:sp>
      <p:sp>
        <p:nvSpPr>
          <p:cNvPr id="30" name="Text 26"/>
          <p:cNvSpPr/>
          <p:nvPr/>
        </p:nvSpPr>
        <p:spPr>
          <a:xfrm>
            <a:off x="8567928" y="2148840"/>
            <a:ext cx="2377440" cy="301752"/>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Lato Heavy" pitchFamily="34" charset="0"/>
                <a:ea typeface="Lato Heavy" pitchFamily="34" charset="-122"/>
                <a:cs typeface="Lato Heavy" pitchFamily="34" charset="-120"/>
              </a:rPr>
              <a:t>HOME</a:t>
            </a:r>
            <a:endParaRPr lang="en-US" sz="1800" dirty="0"/>
          </a:p>
        </p:txBody>
      </p:sp>
      <p:sp>
        <p:nvSpPr>
          <p:cNvPr id="31" name="Shape 27"/>
          <p:cNvSpPr/>
          <p:nvPr/>
        </p:nvSpPr>
        <p:spPr>
          <a:xfrm>
            <a:off x="8449056" y="5705856"/>
            <a:ext cx="3035808" cy="420624"/>
          </a:xfrm>
          <a:prstGeom prst="roundRect">
            <a:avLst>
              <a:gd name="adj" fmla="val 32609"/>
            </a:avLst>
          </a:prstGeom>
          <a:solidFill>
            <a:srgbClr val="F8FBFE"/>
          </a:solidFill>
          <a:ln w="12700">
            <a:solidFill>
              <a:srgbClr val="F8FBFE">
                <a:alpha val="0"/>
              </a:srgbClr>
            </a:solidFill>
            <a:prstDash val="solid"/>
          </a:ln>
        </p:spPr>
        <p:txBody>
          <a:bodyPr/>
          <a:lstStyle/>
          <a:p>
            <a:endParaRPr lang="en-US"/>
          </a:p>
        </p:txBody>
      </p:sp>
      <p:sp>
        <p:nvSpPr>
          <p:cNvPr id="32" name="Text 28"/>
          <p:cNvSpPr/>
          <p:nvPr/>
        </p:nvSpPr>
        <p:spPr>
          <a:xfrm>
            <a:off x="8677656"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057BEE"/>
                </a:solidFill>
                <a:latin typeface="Lato Heavy" pitchFamily="34" charset="0"/>
                <a:ea typeface="Lato Heavy" pitchFamily="34" charset="-122"/>
                <a:cs typeface="Lato Heavy" pitchFamily="34" charset="-120"/>
              </a:rPr>
              <a:t>⌂</a:t>
            </a:r>
            <a:endParaRPr lang="en-US" sz="1500" dirty="0"/>
          </a:p>
        </p:txBody>
      </p:sp>
      <p:sp>
        <p:nvSpPr>
          <p:cNvPr id="33" name="Text 29"/>
          <p:cNvSpPr/>
          <p:nvPr/>
        </p:nvSpPr>
        <p:spPr>
          <a:xfrm>
            <a:off x="8595360"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057BEE"/>
                </a:solidFill>
                <a:latin typeface="Lato Heavy" pitchFamily="34" charset="0"/>
                <a:ea typeface="Lato Heavy" pitchFamily="34" charset="-122"/>
                <a:cs typeface="Lato Heavy" pitchFamily="34" charset="-120"/>
              </a:rPr>
              <a:t>Home</a:t>
            </a:r>
            <a:endParaRPr lang="en-US" sz="820" dirty="0"/>
          </a:p>
        </p:txBody>
      </p:sp>
      <p:sp>
        <p:nvSpPr>
          <p:cNvPr id="34" name="Text 30"/>
          <p:cNvSpPr/>
          <p:nvPr/>
        </p:nvSpPr>
        <p:spPr>
          <a:xfrm>
            <a:off x="9372600"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5" name="Text 31"/>
          <p:cNvSpPr/>
          <p:nvPr/>
        </p:nvSpPr>
        <p:spPr>
          <a:xfrm>
            <a:off x="9290304"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Outings</a:t>
            </a:r>
            <a:endParaRPr lang="en-US" sz="820" dirty="0"/>
          </a:p>
        </p:txBody>
      </p:sp>
      <p:sp>
        <p:nvSpPr>
          <p:cNvPr id="36" name="Text 32"/>
          <p:cNvSpPr/>
          <p:nvPr/>
        </p:nvSpPr>
        <p:spPr>
          <a:xfrm>
            <a:off x="10067544"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7" name="Text 33"/>
          <p:cNvSpPr/>
          <p:nvPr/>
        </p:nvSpPr>
        <p:spPr>
          <a:xfrm>
            <a:off x="9985248"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Messages</a:t>
            </a:r>
            <a:endParaRPr lang="en-US" sz="820" dirty="0"/>
          </a:p>
        </p:txBody>
      </p:sp>
      <p:sp>
        <p:nvSpPr>
          <p:cNvPr id="38" name="Text 34"/>
          <p:cNvSpPr/>
          <p:nvPr/>
        </p:nvSpPr>
        <p:spPr>
          <a:xfrm>
            <a:off x="10762488"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9" name="Text 35"/>
          <p:cNvSpPr/>
          <p:nvPr/>
        </p:nvSpPr>
        <p:spPr>
          <a:xfrm>
            <a:off x="10680192"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More</a:t>
            </a:r>
            <a:endParaRPr lang="en-US" sz="820" dirty="0"/>
          </a:p>
        </p:txBody>
      </p:sp>
      <p:sp>
        <p:nvSpPr>
          <p:cNvPr id="40" name="Text 36"/>
          <p:cNvSpPr/>
          <p:nvPr/>
        </p:nvSpPr>
        <p:spPr>
          <a:xfrm>
            <a:off x="8485632" y="2587752"/>
            <a:ext cx="2962656" cy="338328"/>
          </a:xfrm>
          <a:prstGeom prst="rect">
            <a:avLst/>
          </a:prstGeom>
          <a:noFill/>
          <a:ln/>
        </p:spPr>
        <p:txBody>
          <a:bodyPr wrap="square" lIns="0" tIns="0" rIns="0" bIns="0" rtlCol="0" anchor="ctr">
            <a:normAutofit/>
          </a:bodyPr>
          <a:lstStyle/>
          <a:p>
            <a:pPr marL="0" indent="0">
              <a:buNone/>
            </a:pPr>
            <a:r>
              <a:rPr lang="en-US" sz="1700" b="1" dirty="0">
                <a:solidFill>
                  <a:srgbClr val="082B4E"/>
                </a:solidFill>
                <a:latin typeface="Lato Heavy" pitchFamily="34" charset="0"/>
                <a:ea typeface="Lato Heavy" pitchFamily="34" charset="-122"/>
                <a:cs typeface="Lato Heavy" pitchFamily="34" charset="-120"/>
              </a:rPr>
              <a:t>Welcome home</a:t>
            </a:r>
            <a:endParaRPr lang="en-US" sz="1700" dirty="0"/>
          </a:p>
        </p:txBody>
      </p:sp>
      <p:sp>
        <p:nvSpPr>
          <p:cNvPr id="41" name="Shape 37"/>
          <p:cNvSpPr/>
          <p:nvPr/>
        </p:nvSpPr>
        <p:spPr>
          <a:xfrm>
            <a:off x="8485632" y="2953512"/>
            <a:ext cx="2962656" cy="502920"/>
          </a:xfrm>
          <a:prstGeom prst="roundRect">
            <a:avLst>
              <a:gd name="adj" fmla="val 27273"/>
            </a:avLst>
          </a:prstGeom>
          <a:solidFill>
            <a:srgbClr val="EFF6FF"/>
          </a:solidFill>
          <a:ln w="12700">
            <a:solidFill>
              <a:srgbClr val="EFF6FF">
                <a:alpha val="0"/>
              </a:srgbClr>
            </a:solidFill>
            <a:prstDash val="solid"/>
          </a:ln>
        </p:spPr>
        <p:txBody>
          <a:bodyPr/>
          <a:lstStyle/>
          <a:p>
            <a:endParaRPr lang="en-US"/>
          </a:p>
        </p:txBody>
      </p:sp>
      <p:sp>
        <p:nvSpPr>
          <p:cNvPr id="42" name="Text 38"/>
          <p:cNvSpPr/>
          <p:nvPr/>
        </p:nvSpPr>
        <p:spPr>
          <a:xfrm>
            <a:off x="8595360" y="3072384"/>
            <a:ext cx="2752344" cy="219456"/>
          </a:xfrm>
          <a:prstGeom prst="rect">
            <a:avLst/>
          </a:prstGeom>
          <a:noFill/>
          <a:ln/>
        </p:spPr>
        <p:txBody>
          <a:bodyPr wrap="square" lIns="0" tIns="0" rIns="0" bIns="0" rtlCol="0" anchor="ctr">
            <a:normAutofit/>
          </a:bodyPr>
          <a:lstStyle/>
          <a:p>
            <a:pPr marL="0" indent="0">
              <a:buNone/>
            </a:pPr>
            <a:r>
              <a:rPr lang="en-US" sz="1100" dirty="0">
                <a:solidFill>
                  <a:srgbClr val="617B94"/>
                </a:solidFill>
                <a:latin typeface="Lato" pitchFamily="34" charset="0"/>
                <a:ea typeface="Lato" pitchFamily="34" charset="-122"/>
                <a:cs typeface="Lato" pitchFamily="34" charset="-120"/>
              </a:rPr>
              <a:t>+    Ask Barnaby                                      ✦</a:t>
            </a:r>
            <a:endParaRPr lang="en-US" sz="1100" dirty="0"/>
          </a:p>
        </p:txBody>
      </p:sp>
      <p:sp>
        <p:nvSpPr>
          <p:cNvPr id="43" name="Shape 39"/>
          <p:cNvSpPr/>
          <p:nvPr/>
        </p:nvSpPr>
        <p:spPr>
          <a:xfrm>
            <a:off x="8540496" y="3666744"/>
            <a:ext cx="594360" cy="603504"/>
          </a:xfrm>
          <a:prstGeom prst="roundRect">
            <a:avLst>
              <a:gd name="adj" fmla="val 23077"/>
            </a:avLst>
          </a:prstGeom>
          <a:solidFill>
            <a:srgbClr val="EEF7FF"/>
          </a:solidFill>
          <a:ln w="12700">
            <a:solidFill>
              <a:srgbClr val="D8E8F8"/>
            </a:solidFill>
            <a:prstDash val="solid"/>
          </a:ln>
        </p:spPr>
        <p:txBody>
          <a:bodyPr/>
          <a:lstStyle/>
          <a:p>
            <a:endParaRPr lang="en-US"/>
          </a:p>
        </p:txBody>
      </p:sp>
      <p:sp>
        <p:nvSpPr>
          <p:cNvPr id="44" name="Text 40"/>
          <p:cNvSpPr/>
          <p:nvPr/>
        </p:nvSpPr>
        <p:spPr>
          <a:xfrm>
            <a:off x="8650224" y="3776472"/>
            <a:ext cx="393192" cy="219456"/>
          </a:xfrm>
          <a:prstGeom prst="rect">
            <a:avLst/>
          </a:prstGeom>
          <a:noFill/>
          <a:ln/>
        </p:spPr>
        <p:txBody>
          <a:bodyPr wrap="square" lIns="0" tIns="0" rIns="0" bIns="0" rtlCol="0" anchor="ctr">
            <a:normAutofit/>
          </a:bodyPr>
          <a:lstStyle/>
          <a:p>
            <a:pPr marL="0" indent="0" algn="ctr">
              <a:buNone/>
            </a:pPr>
            <a:r>
              <a:rPr lang="en-US" sz="1900" b="1" dirty="0">
                <a:solidFill>
                  <a:srgbClr val="057BEE"/>
                </a:solidFill>
                <a:latin typeface="Lato Heavy" pitchFamily="34" charset="0"/>
                <a:ea typeface="Lato Heavy" pitchFamily="34" charset="-122"/>
                <a:cs typeface="Lato Heavy" pitchFamily="34" charset="-120"/>
              </a:rPr>
              <a:t>▦</a:t>
            </a:r>
            <a:endParaRPr lang="en-US" sz="1900" dirty="0"/>
          </a:p>
        </p:txBody>
      </p:sp>
      <p:sp>
        <p:nvSpPr>
          <p:cNvPr id="45" name="Text 41"/>
          <p:cNvSpPr/>
          <p:nvPr/>
        </p:nvSpPr>
        <p:spPr>
          <a:xfrm>
            <a:off x="8494776" y="4334256"/>
            <a:ext cx="694944" cy="182880"/>
          </a:xfrm>
          <a:prstGeom prst="rect">
            <a:avLst/>
          </a:prstGeom>
          <a:noFill/>
          <a:ln/>
        </p:spPr>
        <p:txBody>
          <a:bodyPr wrap="square" lIns="0" tIns="0" rIns="0" bIns="0" rtlCol="0" anchor="ctr">
            <a:normAutofit/>
          </a:bodyPr>
          <a:lstStyle/>
          <a:p>
            <a:pPr marL="0" indent="0" algn="ctr">
              <a:buNone/>
            </a:pPr>
            <a:r>
              <a:rPr lang="en-US" sz="1100" b="1" dirty="0">
                <a:solidFill>
                  <a:srgbClr val="082B4E"/>
                </a:solidFill>
                <a:latin typeface="Lato Heavy" pitchFamily="34" charset="0"/>
                <a:ea typeface="Lato Heavy" pitchFamily="34" charset="-122"/>
                <a:cs typeface="Lato Heavy" pitchFamily="34" charset="-120"/>
              </a:rPr>
              <a:t>Reserve</a:t>
            </a:r>
            <a:endParaRPr lang="en-US" sz="1100" dirty="0"/>
          </a:p>
        </p:txBody>
      </p:sp>
      <p:sp>
        <p:nvSpPr>
          <p:cNvPr id="46" name="Shape 42"/>
          <p:cNvSpPr/>
          <p:nvPr/>
        </p:nvSpPr>
        <p:spPr>
          <a:xfrm>
            <a:off x="9272016" y="3666744"/>
            <a:ext cx="594360" cy="603504"/>
          </a:xfrm>
          <a:prstGeom prst="roundRect">
            <a:avLst>
              <a:gd name="adj" fmla="val 23077"/>
            </a:avLst>
          </a:prstGeom>
          <a:solidFill>
            <a:srgbClr val="EEF7FF"/>
          </a:solidFill>
          <a:ln w="12700">
            <a:solidFill>
              <a:srgbClr val="D8E8F8"/>
            </a:solidFill>
            <a:prstDash val="solid"/>
          </a:ln>
        </p:spPr>
        <p:txBody>
          <a:bodyPr/>
          <a:lstStyle/>
          <a:p>
            <a:endParaRPr lang="en-US"/>
          </a:p>
        </p:txBody>
      </p:sp>
      <p:sp>
        <p:nvSpPr>
          <p:cNvPr id="47" name="Text 43"/>
          <p:cNvSpPr/>
          <p:nvPr/>
        </p:nvSpPr>
        <p:spPr>
          <a:xfrm>
            <a:off x="9381744" y="3776472"/>
            <a:ext cx="393192" cy="219456"/>
          </a:xfrm>
          <a:prstGeom prst="rect">
            <a:avLst/>
          </a:prstGeom>
          <a:noFill/>
          <a:ln/>
        </p:spPr>
        <p:txBody>
          <a:bodyPr wrap="square" lIns="0" tIns="0" rIns="0" bIns="0" rtlCol="0" anchor="ctr">
            <a:normAutofit/>
          </a:bodyPr>
          <a:lstStyle/>
          <a:p>
            <a:pPr marL="0" indent="0" algn="ctr">
              <a:buNone/>
            </a:pPr>
            <a:r>
              <a:rPr lang="en-US" sz="1900" b="1" dirty="0">
                <a:solidFill>
                  <a:srgbClr val="057BEE"/>
                </a:solidFill>
                <a:latin typeface="Lato Heavy" pitchFamily="34" charset="0"/>
                <a:ea typeface="Lato Heavy" pitchFamily="34" charset="-122"/>
                <a:cs typeface="Lato Heavy" pitchFamily="34" charset="-120"/>
              </a:rPr>
              <a:t>⚒</a:t>
            </a:r>
            <a:endParaRPr lang="en-US" sz="1900" dirty="0"/>
          </a:p>
        </p:txBody>
      </p:sp>
      <p:sp>
        <p:nvSpPr>
          <p:cNvPr id="48" name="Text 44"/>
          <p:cNvSpPr/>
          <p:nvPr/>
        </p:nvSpPr>
        <p:spPr>
          <a:xfrm>
            <a:off x="9226296" y="4334256"/>
            <a:ext cx="694944" cy="182880"/>
          </a:xfrm>
          <a:prstGeom prst="rect">
            <a:avLst/>
          </a:prstGeom>
          <a:noFill/>
          <a:ln/>
        </p:spPr>
        <p:txBody>
          <a:bodyPr wrap="square" lIns="0" tIns="0" rIns="0" bIns="0" rtlCol="0" anchor="ctr">
            <a:normAutofit/>
          </a:bodyPr>
          <a:lstStyle/>
          <a:p>
            <a:pPr marL="0" indent="0" algn="ctr">
              <a:buNone/>
            </a:pPr>
            <a:r>
              <a:rPr lang="en-US" sz="1100" b="1" dirty="0">
                <a:solidFill>
                  <a:srgbClr val="082B4E"/>
                </a:solidFill>
                <a:latin typeface="Lato Heavy" pitchFamily="34" charset="0"/>
                <a:ea typeface="Lato Heavy" pitchFamily="34" charset="-122"/>
                <a:cs typeface="Lato Heavy" pitchFamily="34" charset="-120"/>
              </a:rPr>
              <a:t>Pros</a:t>
            </a:r>
            <a:endParaRPr lang="en-US" sz="1100" dirty="0"/>
          </a:p>
        </p:txBody>
      </p:sp>
      <p:sp>
        <p:nvSpPr>
          <p:cNvPr id="49" name="Shape 45"/>
          <p:cNvSpPr/>
          <p:nvPr/>
        </p:nvSpPr>
        <p:spPr>
          <a:xfrm>
            <a:off x="10003536" y="3666744"/>
            <a:ext cx="594360" cy="603504"/>
          </a:xfrm>
          <a:prstGeom prst="roundRect">
            <a:avLst>
              <a:gd name="adj" fmla="val 23077"/>
            </a:avLst>
          </a:prstGeom>
          <a:solidFill>
            <a:srgbClr val="EEF7FF"/>
          </a:solidFill>
          <a:ln w="12700">
            <a:solidFill>
              <a:srgbClr val="D8E8F8"/>
            </a:solidFill>
            <a:prstDash val="solid"/>
          </a:ln>
        </p:spPr>
        <p:txBody>
          <a:bodyPr/>
          <a:lstStyle/>
          <a:p>
            <a:endParaRPr lang="en-US"/>
          </a:p>
        </p:txBody>
      </p:sp>
      <p:sp>
        <p:nvSpPr>
          <p:cNvPr id="50" name="Text 46"/>
          <p:cNvSpPr/>
          <p:nvPr/>
        </p:nvSpPr>
        <p:spPr>
          <a:xfrm>
            <a:off x="10113264" y="3776472"/>
            <a:ext cx="393192" cy="219456"/>
          </a:xfrm>
          <a:prstGeom prst="rect">
            <a:avLst/>
          </a:prstGeom>
          <a:noFill/>
          <a:ln/>
        </p:spPr>
        <p:txBody>
          <a:bodyPr wrap="square" lIns="0" tIns="0" rIns="0" bIns="0" rtlCol="0" anchor="ctr">
            <a:normAutofit/>
          </a:bodyPr>
          <a:lstStyle/>
          <a:p>
            <a:pPr marL="0" indent="0" algn="ctr">
              <a:buNone/>
            </a:pPr>
            <a:r>
              <a:rPr lang="en-US" sz="1900" b="1" dirty="0">
                <a:solidFill>
                  <a:srgbClr val="057BEE"/>
                </a:solidFill>
                <a:latin typeface="Lato Heavy" pitchFamily="34" charset="0"/>
                <a:ea typeface="Lato Heavy" pitchFamily="34" charset="-122"/>
                <a:cs typeface="Lato Heavy" pitchFamily="34" charset="-120"/>
              </a:rPr>
              <a:t>◉</a:t>
            </a:r>
            <a:endParaRPr lang="en-US" sz="1900" dirty="0"/>
          </a:p>
        </p:txBody>
      </p:sp>
      <p:sp>
        <p:nvSpPr>
          <p:cNvPr id="51" name="Text 47"/>
          <p:cNvSpPr/>
          <p:nvPr/>
        </p:nvSpPr>
        <p:spPr>
          <a:xfrm>
            <a:off x="9957816" y="4334256"/>
            <a:ext cx="694944" cy="182880"/>
          </a:xfrm>
          <a:prstGeom prst="rect">
            <a:avLst/>
          </a:prstGeom>
          <a:noFill/>
          <a:ln/>
        </p:spPr>
        <p:txBody>
          <a:bodyPr wrap="square" lIns="0" tIns="0" rIns="0" bIns="0" rtlCol="0" anchor="ctr">
            <a:normAutofit/>
          </a:bodyPr>
          <a:lstStyle/>
          <a:p>
            <a:pPr marL="0" indent="0" algn="ctr">
              <a:buNone/>
            </a:pPr>
            <a:r>
              <a:rPr lang="en-US" sz="1100" b="1" dirty="0">
                <a:solidFill>
                  <a:srgbClr val="082B4E"/>
                </a:solidFill>
                <a:latin typeface="Lato Heavy" pitchFamily="34" charset="0"/>
                <a:ea typeface="Lato Heavy" pitchFamily="34" charset="-122"/>
                <a:cs typeface="Lato Heavy" pitchFamily="34" charset="-120"/>
              </a:rPr>
              <a:t>Dining</a:t>
            </a:r>
            <a:endParaRPr lang="en-US" sz="1100" dirty="0"/>
          </a:p>
        </p:txBody>
      </p:sp>
      <p:sp>
        <p:nvSpPr>
          <p:cNvPr id="52" name="Shape 48"/>
          <p:cNvSpPr/>
          <p:nvPr/>
        </p:nvSpPr>
        <p:spPr>
          <a:xfrm>
            <a:off x="10735056" y="3666744"/>
            <a:ext cx="594360" cy="603504"/>
          </a:xfrm>
          <a:prstGeom prst="roundRect">
            <a:avLst>
              <a:gd name="adj" fmla="val 23077"/>
            </a:avLst>
          </a:prstGeom>
          <a:solidFill>
            <a:srgbClr val="EEF7FF"/>
          </a:solidFill>
          <a:ln w="12700">
            <a:solidFill>
              <a:srgbClr val="D8E8F8"/>
            </a:solidFill>
            <a:prstDash val="solid"/>
          </a:ln>
        </p:spPr>
        <p:txBody>
          <a:bodyPr/>
          <a:lstStyle/>
          <a:p>
            <a:endParaRPr lang="en-US"/>
          </a:p>
        </p:txBody>
      </p:sp>
      <p:sp>
        <p:nvSpPr>
          <p:cNvPr id="53" name="Text 49"/>
          <p:cNvSpPr/>
          <p:nvPr/>
        </p:nvSpPr>
        <p:spPr>
          <a:xfrm>
            <a:off x="10844784" y="3776472"/>
            <a:ext cx="393192" cy="219456"/>
          </a:xfrm>
          <a:prstGeom prst="rect">
            <a:avLst/>
          </a:prstGeom>
          <a:noFill/>
          <a:ln/>
        </p:spPr>
        <p:txBody>
          <a:bodyPr wrap="square" lIns="0" tIns="0" rIns="0" bIns="0" rtlCol="0" anchor="ctr">
            <a:normAutofit/>
          </a:bodyPr>
          <a:lstStyle/>
          <a:p>
            <a:pPr marL="0" indent="0" algn="ctr">
              <a:buNone/>
            </a:pPr>
            <a:r>
              <a:rPr lang="en-US" sz="1900" b="1" dirty="0">
                <a:solidFill>
                  <a:srgbClr val="057BEE"/>
                </a:solidFill>
                <a:latin typeface="Lato Heavy" pitchFamily="34" charset="0"/>
                <a:ea typeface="Lato Heavy" pitchFamily="34" charset="-122"/>
                <a:cs typeface="Lato Heavy" pitchFamily="34" charset="-120"/>
              </a:rPr>
              <a:t>ⓘ</a:t>
            </a:r>
            <a:endParaRPr lang="en-US" sz="1900" dirty="0"/>
          </a:p>
        </p:txBody>
      </p:sp>
      <p:sp>
        <p:nvSpPr>
          <p:cNvPr id="54" name="Text 50"/>
          <p:cNvSpPr/>
          <p:nvPr/>
        </p:nvSpPr>
        <p:spPr>
          <a:xfrm>
            <a:off x="10689336" y="4334256"/>
            <a:ext cx="694944" cy="182880"/>
          </a:xfrm>
          <a:prstGeom prst="rect">
            <a:avLst/>
          </a:prstGeom>
          <a:noFill/>
          <a:ln/>
        </p:spPr>
        <p:txBody>
          <a:bodyPr wrap="square" lIns="0" tIns="0" rIns="0" bIns="0" rtlCol="0" anchor="ctr">
            <a:normAutofit/>
          </a:bodyPr>
          <a:lstStyle/>
          <a:p>
            <a:pPr marL="0" indent="0" algn="ctr">
              <a:buNone/>
            </a:pPr>
            <a:r>
              <a:rPr lang="en-US" sz="1100" b="1" dirty="0">
                <a:solidFill>
                  <a:srgbClr val="082B4E"/>
                </a:solidFill>
                <a:latin typeface="Lato Heavy" pitchFamily="34" charset="0"/>
                <a:ea typeface="Lato Heavy" pitchFamily="34" charset="-122"/>
                <a:cs typeface="Lato Heavy" pitchFamily="34" charset="-120"/>
              </a:rPr>
              <a:t>Info</a:t>
            </a:r>
            <a:endParaRPr lang="en-US" sz="1100" dirty="0"/>
          </a:p>
        </p:txBody>
      </p:sp>
      <p:sp>
        <p:nvSpPr>
          <p:cNvPr id="55" name="Shape 51"/>
          <p:cNvSpPr/>
          <p:nvPr/>
        </p:nvSpPr>
        <p:spPr>
          <a:xfrm>
            <a:off x="8485632" y="4709160"/>
            <a:ext cx="2962656" cy="969264"/>
          </a:xfrm>
          <a:prstGeom prst="roundRect">
            <a:avLst>
              <a:gd name="adj" fmla="val 14151"/>
            </a:avLst>
          </a:prstGeom>
          <a:solidFill>
            <a:srgbClr val="ECF6FF"/>
          </a:solidFill>
          <a:ln w="12700">
            <a:solidFill>
              <a:srgbClr val="ECF6FF">
                <a:alpha val="0"/>
              </a:srgbClr>
            </a:solidFill>
            <a:prstDash val="solid"/>
          </a:ln>
        </p:spPr>
        <p:txBody>
          <a:bodyPr/>
          <a:lstStyle/>
          <a:p>
            <a:endParaRPr lang="en-US"/>
          </a:p>
        </p:txBody>
      </p:sp>
      <p:sp>
        <p:nvSpPr>
          <p:cNvPr id="56" name="Text 52"/>
          <p:cNvSpPr/>
          <p:nvPr/>
        </p:nvSpPr>
        <p:spPr>
          <a:xfrm>
            <a:off x="8604504" y="4828032"/>
            <a:ext cx="2724912" cy="274320"/>
          </a:xfrm>
          <a:prstGeom prst="rect">
            <a:avLst/>
          </a:prstGeom>
          <a:noFill/>
          <a:ln/>
        </p:spPr>
        <p:txBody>
          <a:bodyPr wrap="square" lIns="0" tIns="0" rIns="0" bIns="0" rtlCol="0" anchor="ctr">
            <a:normAutofit/>
          </a:bodyPr>
          <a:lstStyle/>
          <a:p>
            <a:pPr marL="0" indent="0">
              <a:buNone/>
            </a:pPr>
            <a:r>
              <a:rPr lang="en-US" sz="1500" b="1" dirty="0">
                <a:solidFill>
                  <a:srgbClr val="082B4E"/>
                </a:solidFill>
                <a:latin typeface="Lato Heavy" pitchFamily="34" charset="0"/>
                <a:ea typeface="Lato Heavy" pitchFamily="34" charset="-122"/>
                <a:cs typeface="Lato Heavy" pitchFamily="34" charset="-120"/>
              </a:rPr>
              <a:t>Your community, connected</a:t>
            </a:r>
            <a:endParaRPr lang="en-US" sz="1500" dirty="0"/>
          </a:p>
        </p:txBody>
      </p:sp>
      <p:sp>
        <p:nvSpPr>
          <p:cNvPr id="57" name="Text 53"/>
          <p:cNvSpPr/>
          <p:nvPr/>
        </p:nvSpPr>
        <p:spPr>
          <a:xfrm>
            <a:off x="8604504" y="5148072"/>
            <a:ext cx="2724912" cy="420624"/>
          </a:xfrm>
          <a:prstGeom prst="rect">
            <a:avLst/>
          </a:prstGeom>
          <a:noFill/>
          <a:ln/>
        </p:spPr>
        <p:txBody>
          <a:bodyPr wrap="square" lIns="0" tIns="0" rIns="0" bIns="0" rtlCol="0" anchor="t">
            <a:normAutofit/>
          </a:bodyPr>
          <a:lstStyle/>
          <a:p>
            <a:pPr marL="0" indent="0">
              <a:buNone/>
            </a:pPr>
            <a:r>
              <a:rPr lang="en-US" sz="1100" dirty="0">
                <a:solidFill>
                  <a:srgbClr val="617B94"/>
                </a:solidFill>
                <a:latin typeface="Lato" pitchFamily="34" charset="0"/>
                <a:ea typeface="Lato" pitchFamily="34" charset="-122"/>
                <a:cs typeface="Lato" pitchFamily="34" charset="-120"/>
              </a:rPr>
              <a:t>What’s on • Local pros • Recreation</a:t>
            </a:r>
            <a:endParaRPr lang="en-US" sz="1100" dirty="0"/>
          </a:p>
        </p:txBody>
      </p:sp>
      <p:sp>
        <p:nvSpPr>
          <p:cNvPr id="58" name="Text 54"/>
          <p:cNvSpPr/>
          <p:nvPr/>
        </p:nvSpPr>
        <p:spPr>
          <a:xfrm>
            <a:off x="8485632" y="5797296"/>
            <a:ext cx="1691640" cy="256032"/>
          </a:xfrm>
          <a:prstGeom prst="rect">
            <a:avLst/>
          </a:prstGeom>
          <a:noFill/>
          <a:ln/>
        </p:spPr>
        <p:txBody>
          <a:bodyPr wrap="square" lIns="0" tIns="0" rIns="0" bIns="0" rtlCol="0" anchor="ctr">
            <a:normAutofit/>
          </a:bodyPr>
          <a:lstStyle/>
          <a:p>
            <a:pPr marL="0" indent="0">
              <a:buNone/>
            </a:pPr>
            <a:r>
              <a:rPr lang="en-US" sz="1500" b="1" dirty="0">
                <a:solidFill>
                  <a:srgbClr val="082B4E"/>
                </a:solidFill>
                <a:latin typeface="Lato Heavy" pitchFamily="34" charset="0"/>
                <a:ea typeface="Lato Heavy" pitchFamily="34" charset="-122"/>
                <a:cs typeface="Lato Heavy" pitchFamily="34" charset="-120"/>
              </a:rPr>
              <a:t>Upcoming</a:t>
            </a:r>
            <a:endParaRPr lang="en-US" sz="1500" dirty="0"/>
          </a:p>
        </p:txBody>
      </p:sp>
      <p:sp>
        <p:nvSpPr>
          <p:cNvPr id="59" name="Text 55"/>
          <p:cNvSpPr/>
          <p:nvPr/>
        </p:nvSpPr>
        <p:spPr>
          <a:xfrm>
            <a:off x="8485632" y="6089904"/>
            <a:ext cx="2962656" cy="192024"/>
          </a:xfrm>
          <a:prstGeom prst="rect">
            <a:avLst/>
          </a:prstGeom>
          <a:noFill/>
          <a:ln/>
        </p:spPr>
        <p:txBody>
          <a:bodyPr wrap="square" lIns="0" tIns="0" rIns="0" bIns="0" rtlCol="0" anchor="ctr">
            <a:normAutofit/>
          </a:bodyPr>
          <a:lstStyle/>
          <a:p>
            <a:pPr marL="0" indent="0">
              <a:buNone/>
            </a:pPr>
            <a:r>
              <a:rPr lang="en-US" sz="1000" dirty="0">
                <a:solidFill>
                  <a:srgbClr val="617B94"/>
                </a:solidFill>
                <a:latin typeface="Lato" pitchFamily="34" charset="0"/>
                <a:ea typeface="Lato" pitchFamily="34" charset="-122"/>
                <a:cs typeface="Lato" pitchFamily="34" charset="-120"/>
              </a:rPr>
              <a:t>Events, activities &amp; reservations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722376" y="886968"/>
            <a:ext cx="6583680" cy="246888"/>
          </a:xfrm>
          <a:prstGeom prst="rect">
            <a:avLst/>
          </a:prstGeom>
          <a:noFill/>
          <a:ln/>
        </p:spPr>
        <p:txBody>
          <a:bodyPr wrap="square" lIns="0" tIns="0" rIns="0" bIns="0" rtlCol="0" anchor="ctr">
            <a:normAutofit/>
          </a:bodyPr>
          <a:lstStyle/>
          <a:p>
            <a:pPr marL="0" indent="0">
              <a:buNone/>
            </a:pPr>
            <a:r>
              <a:rPr lang="en-US" sz="1200" b="1" kern="0" spc="70" dirty="0">
                <a:solidFill>
                  <a:srgbClr val="127A91"/>
                </a:solidFill>
                <a:latin typeface="Lato Heavy" pitchFamily="34" charset="0"/>
                <a:ea typeface="Lato Heavy" pitchFamily="34" charset="-122"/>
                <a:cs typeface="Lato Heavy" pitchFamily="34" charset="-120"/>
              </a:rPr>
              <a:t>BARNABY  /  NEWS</a:t>
            </a:r>
            <a:endParaRPr lang="en-US" sz="1200" dirty="0"/>
          </a:p>
        </p:txBody>
      </p:sp>
      <p:sp>
        <p:nvSpPr>
          <p:cNvPr id="6" name="Text 3"/>
          <p:cNvSpPr/>
          <p:nvPr/>
        </p:nvSpPr>
        <p:spPr>
          <a:xfrm>
            <a:off x="713232" y="1179576"/>
            <a:ext cx="7315200" cy="630936"/>
          </a:xfrm>
          <a:prstGeom prst="rect">
            <a:avLst/>
          </a:prstGeom>
          <a:noFill/>
          <a:ln/>
        </p:spPr>
        <p:txBody>
          <a:bodyPr wrap="square" lIns="0" tIns="0" rIns="0" bIns="0" rtlCol="0" anchor="ctr">
            <a:normAutofit/>
          </a:bodyPr>
          <a:lstStyle/>
          <a:p>
            <a:pPr marL="0" indent="0">
              <a:buNone/>
            </a:pPr>
            <a:r>
              <a:rPr lang="en-US" sz="3400" b="1" dirty="0">
                <a:solidFill>
                  <a:srgbClr val="082B4E"/>
                </a:solidFill>
                <a:latin typeface="Lato Heavy" pitchFamily="34" charset="0"/>
                <a:ea typeface="Lato Heavy" pitchFamily="34" charset="-122"/>
                <a:cs typeface="Lato Heavy" pitchFamily="34" charset="-120"/>
              </a:rPr>
              <a:t>CLEARER COMMUNICATION</a:t>
            </a:r>
            <a:endParaRPr lang="en-US" sz="3400" dirty="0"/>
          </a:p>
        </p:txBody>
      </p:sp>
      <p:sp>
        <p:nvSpPr>
          <p:cNvPr id="7" name="Text 4"/>
          <p:cNvSpPr/>
          <p:nvPr/>
        </p:nvSpPr>
        <p:spPr>
          <a:xfrm>
            <a:off x="731520" y="1856232"/>
            <a:ext cx="6858000" cy="448056"/>
          </a:xfrm>
          <a:prstGeom prst="rect">
            <a:avLst/>
          </a:prstGeom>
          <a:noFill/>
          <a:ln/>
        </p:spPr>
        <p:txBody>
          <a:bodyPr wrap="square" lIns="0" tIns="0" rIns="0" bIns="0" rtlCol="0" anchor="ctr">
            <a:normAutofit/>
          </a:bodyPr>
          <a:lstStyle/>
          <a:p>
            <a:pPr marL="0" indent="0">
              <a:buNone/>
            </a:pPr>
            <a:r>
              <a:rPr lang="en-US" sz="1950" dirty="0">
                <a:solidFill>
                  <a:srgbClr val="617B94"/>
                </a:solidFill>
                <a:latin typeface="Lato" pitchFamily="34" charset="0"/>
                <a:ea typeface="Lato" pitchFamily="34" charset="-122"/>
                <a:cs typeface="Lato" pitchFamily="34" charset="-120"/>
              </a:rPr>
              <a:t>Community news, easy to find.</a:t>
            </a:r>
            <a:endParaRPr lang="en-US" sz="1950" dirty="0"/>
          </a:p>
        </p:txBody>
      </p:sp>
      <p:sp>
        <p:nvSpPr>
          <p:cNvPr id="8" name="Shape 5"/>
          <p:cNvSpPr/>
          <p:nvPr/>
        </p:nvSpPr>
        <p:spPr>
          <a:xfrm>
            <a:off x="731520" y="2770632"/>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9" name="Text 6"/>
          <p:cNvSpPr/>
          <p:nvPr/>
        </p:nvSpPr>
        <p:spPr>
          <a:xfrm>
            <a:off x="1024128" y="2651760"/>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Notices and important announcements</a:t>
            </a:r>
            <a:endParaRPr lang="en-US" sz="2100" dirty="0"/>
          </a:p>
        </p:txBody>
      </p:sp>
      <p:sp>
        <p:nvSpPr>
          <p:cNvPr id="10" name="Shape 7"/>
          <p:cNvSpPr/>
          <p:nvPr/>
        </p:nvSpPr>
        <p:spPr>
          <a:xfrm>
            <a:off x="731520" y="3575304"/>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1" name="Text 8"/>
          <p:cNvSpPr/>
          <p:nvPr/>
        </p:nvSpPr>
        <p:spPr>
          <a:xfrm>
            <a:off x="1024128" y="3456432"/>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A central place for resident resources</a:t>
            </a:r>
            <a:endParaRPr lang="en-US" sz="2100" dirty="0"/>
          </a:p>
        </p:txBody>
      </p:sp>
      <p:sp>
        <p:nvSpPr>
          <p:cNvPr id="12" name="Shape 9"/>
          <p:cNvSpPr/>
          <p:nvPr/>
        </p:nvSpPr>
        <p:spPr>
          <a:xfrm>
            <a:off x="731520" y="4379976"/>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3" name="Text 10"/>
          <p:cNvSpPr/>
          <p:nvPr/>
        </p:nvSpPr>
        <p:spPr>
          <a:xfrm>
            <a:off x="1024128" y="4261104"/>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Less scattered information for everyone</a:t>
            </a:r>
            <a:endParaRPr lang="en-US" sz="2100" dirty="0"/>
          </a:p>
        </p:txBody>
      </p:sp>
      <p:sp>
        <p:nvSpPr>
          <p:cNvPr id="14" name="Shape 11"/>
          <p:cNvSpPr/>
          <p:nvPr/>
        </p:nvSpPr>
        <p:spPr>
          <a:xfrm>
            <a:off x="713232" y="5385816"/>
            <a:ext cx="6638544" cy="822960"/>
          </a:xfrm>
          <a:prstGeom prst="roundRect">
            <a:avLst>
              <a:gd name="adj" fmla="val 16667"/>
            </a:avLst>
          </a:prstGeom>
          <a:solidFill>
            <a:srgbClr val="EAF5FF"/>
          </a:solidFill>
          <a:ln w="12700">
            <a:solidFill>
              <a:srgbClr val="CDE3F6"/>
            </a:solidFill>
            <a:prstDash val="solid"/>
          </a:ln>
        </p:spPr>
        <p:txBody>
          <a:bodyPr/>
          <a:lstStyle/>
          <a:p>
            <a:endParaRPr lang="en-US"/>
          </a:p>
        </p:txBody>
      </p:sp>
      <p:sp>
        <p:nvSpPr>
          <p:cNvPr id="15" name="Shape 12"/>
          <p:cNvSpPr/>
          <p:nvPr/>
        </p:nvSpPr>
        <p:spPr>
          <a:xfrm>
            <a:off x="914400" y="5623560"/>
            <a:ext cx="256032" cy="256032"/>
          </a:xfrm>
          <a:prstGeom prst="ellipse">
            <a:avLst/>
          </a:prstGeom>
          <a:solidFill>
            <a:srgbClr val="057BEE"/>
          </a:solidFill>
          <a:ln w="12700">
            <a:solidFill>
              <a:srgbClr val="057BEE">
                <a:alpha val="0"/>
              </a:srgbClr>
            </a:solidFill>
            <a:prstDash val="solid"/>
          </a:ln>
        </p:spPr>
        <p:txBody>
          <a:bodyPr/>
          <a:lstStyle/>
          <a:p>
            <a:endParaRPr lang="en-US"/>
          </a:p>
        </p:txBody>
      </p:sp>
      <p:sp>
        <p:nvSpPr>
          <p:cNvPr id="16" name="Text 13"/>
          <p:cNvSpPr/>
          <p:nvPr/>
        </p:nvSpPr>
        <p:spPr>
          <a:xfrm>
            <a:off x="958291" y="5623560"/>
            <a:ext cx="1828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Lato Heavy" pitchFamily="34" charset="0"/>
                <a:ea typeface="Lato Heavy" pitchFamily="34" charset="-122"/>
                <a:cs typeface="Lato Heavy" pitchFamily="34" charset="-120"/>
              </a:rPr>
              <a:t>→</a:t>
            </a:r>
            <a:endParaRPr lang="en-US" sz="1400" dirty="0"/>
          </a:p>
        </p:txBody>
      </p:sp>
      <p:sp>
        <p:nvSpPr>
          <p:cNvPr id="17" name="Text 14"/>
          <p:cNvSpPr/>
          <p:nvPr/>
        </p:nvSpPr>
        <p:spPr>
          <a:xfrm>
            <a:off x="1307592" y="5486400"/>
            <a:ext cx="5824728" cy="612648"/>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Centralized updates help keep residents informed and management organized.</a:t>
            </a:r>
            <a:endParaRPr lang="en-US" sz="1850" dirty="0"/>
          </a:p>
        </p:txBody>
      </p:sp>
      <p:sp>
        <p:nvSpPr>
          <p:cNvPr id="18" name="Text 15"/>
          <p:cNvSpPr/>
          <p:nvPr/>
        </p:nvSpPr>
        <p:spPr>
          <a:xfrm>
            <a:off x="10652760" y="6464808"/>
            <a:ext cx="1051560" cy="182880"/>
          </a:xfrm>
          <a:prstGeom prst="rect">
            <a:avLst/>
          </a:prstGeom>
          <a:noFill/>
          <a:ln/>
        </p:spPr>
        <p:txBody>
          <a:bodyPr wrap="square" lIns="0" tIns="0" rIns="0" bIns="0" rtlCol="0" anchor="ctr">
            <a:normAutofit/>
          </a:bodyPr>
          <a:lstStyle/>
          <a:p>
            <a:pPr marL="0" indent="0" algn="r">
              <a:buNone/>
            </a:pPr>
            <a:r>
              <a:rPr lang="en-US" sz="1000" b="1" dirty="0">
                <a:solidFill>
                  <a:srgbClr val="617B94"/>
                </a:solidFill>
                <a:latin typeface="Lato Heavy" pitchFamily="34" charset="0"/>
                <a:ea typeface="Lato Heavy" pitchFamily="34" charset="-122"/>
                <a:cs typeface="Lato Heavy" pitchFamily="34" charset="-120"/>
              </a:rPr>
              <a:t>03  /  14</a:t>
            </a:r>
            <a:endParaRPr lang="en-US" sz="1000" dirty="0"/>
          </a:p>
        </p:txBody>
      </p:sp>
      <p:sp>
        <p:nvSpPr>
          <p:cNvPr id="19" name="Text 16"/>
          <p:cNvSpPr/>
          <p:nvPr/>
        </p:nvSpPr>
        <p:spPr>
          <a:xfrm>
            <a:off x="731520" y="6446520"/>
            <a:ext cx="9052560" cy="210312"/>
          </a:xfrm>
          <a:prstGeom prst="rect">
            <a:avLst/>
          </a:prstGeom>
          <a:noFill/>
          <a:ln/>
        </p:spPr>
        <p:txBody>
          <a:bodyPr wrap="square" lIns="0" tIns="0" rIns="0" bIns="0" rtlCol="0" anchor="ctr">
            <a:normAutofit/>
          </a:bodyPr>
          <a:lstStyle/>
          <a:p>
            <a:pPr marL="0" indent="0">
              <a:buNone/>
            </a:pPr>
            <a:r>
              <a:rPr lang="en-US" sz="940" dirty="0">
                <a:solidFill>
                  <a:srgbClr val="617B94"/>
                </a:solidFill>
                <a:latin typeface="Lato" pitchFamily="34" charset="0"/>
                <a:ea typeface="Lato" pitchFamily="34" charset="-122"/>
                <a:cs typeface="Lato" pitchFamily="34" charset="-120"/>
              </a:rPr>
              <a:t>ILLUSTRATIVE CONCEPT DEMO • ON TOP OF THE WORLD COMMUNITY HIGHLIGHTS • NOT OFFICIALLY AFFILIATED</a:t>
            </a:r>
            <a:endParaRPr lang="en-US" sz="940" dirty="0"/>
          </a:p>
        </p:txBody>
      </p:sp>
      <p:sp>
        <p:nvSpPr>
          <p:cNvPr id="20" name="Shape 17"/>
          <p:cNvSpPr/>
          <p:nvPr/>
        </p:nvSpPr>
        <p:spPr>
          <a:xfrm>
            <a:off x="8375904" y="886968"/>
            <a:ext cx="3328416" cy="5541264"/>
          </a:xfrm>
          <a:prstGeom prst="roundRect">
            <a:avLst>
              <a:gd name="adj" fmla="val 4121"/>
            </a:avLst>
          </a:prstGeom>
          <a:solidFill>
            <a:srgbClr val="D7E0EA"/>
          </a:solidFill>
          <a:ln w="12700">
            <a:solidFill>
              <a:srgbClr val="D7E0EA">
                <a:alpha val="0"/>
              </a:srgbClr>
            </a:solidFill>
            <a:prstDash val="solid"/>
          </a:ln>
        </p:spPr>
        <p:txBody>
          <a:bodyPr/>
          <a:lstStyle/>
          <a:p>
            <a:endParaRPr lang="en-US"/>
          </a:p>
        </p:txBody>
      </p:sp>
      <p:sp>
        <p:nvSpPr>
          <p:cNvPr id="21" name="Shape 18"/>
          <p:cNvSpPr/>
          <p:nvPr/>
        </p:nvSpPr>
        <p:spPr>
          <a:xfrm>
            <a:off x="8302752" y="795528"/>
            <a:ext cx="3328416" cy="5541264"/>
          </a:xfrm>
          <a:prstGeom prst="roundRect">
            <a:avLst>
              <a:gd name="adj" fmla="val 4121"/>
            </a:avLst>
          </a:prstGeom>
          <a:solidFill>
            <a:srgbClr val="071522"/>
          </a:solidFill>
          <a:ln w="12700">
            <a:solidFill>
              <a:srgbClr val="071522">
                <a:alpha val="0"/>
              </a:srgbClr>
            </a:solidFill>
            <a:prstDash val="solid"/>
          </a:ln>
        </p:spPr>
        <p:txBody>
          <a:bodyPr/>
          <a:lstStyle/>
          <a:p>
            <a:endParaRPr lang="en-US"/>
          </a:p>
        </p:txBody>
      </p:sp>
      <p:sp>
        <p:nvSpPr>
          <p:cNvPr id="22" name="Shape 19"/>
          <p:cNvSpPr/>
          <p:nvPr/>
        </p:nvSpPr>
        <p:spPr>
          <a:xfrm>
            <a:off x="8394192" y="886968"/>
            <a:ext cx="3145536" cy="5358384"/>
          </a:xfrm>
          <a:prstGeom prst="roundRect">
            <a:avLst>
              <a:gd name="adj" fmla="val 4360"/>
            </a:avLst>
          </a:prstGeom>
          <a:solidFill>
            <a:srgbClr val="FFFFFF"/>
          </a:solidFill>
          <a:ln w="12700">
            <a:solidFill>
              <a:srgbClr val="FFFFFF">
                <a:alpha val="0"/>
              </a:srgbClr>
            </a:solidFill>
            <a:prstDash val="solid"/>
          </a:ln>
        </p:spPr>
        <p:txBody>
          <a:bodyPr/>
          <a:lstStyle/>
          <a:p>
            <a:endParaRPr lang="en-US"/>
          </a:p>
        </p:txBody>
      </p:sp>
      <p:sp>
        <p:nvSpPr>
          <p:cNvPr id="23" name="Shape 20"/>
          <p:cNvSpPr/>
          <p:nvPr/>
        </p:nvSpPr>
        <p:spPr>
          <a:xfrm>
            <a:off x="9454896" y="850392"/>
            <a:ext cx="1014984" cy="173736"/>
          </a:xfrm>
          <a:prstGeom prst="roundRect">
            <a:avLst>
              <a:gd name="adj" fmla="val 78947"/>
            </a:avLst>
          </a:prstGeom>
          <a:solidFill>
            <a:srgbClr val="071522"/>
          </a:solidFill>
          <a:ln w="12700">
            <a:solidFill>
              <a:srgbClr val="071522">
                <a:alpha val="0"/>
              </a:srgbClr>
            </a:solidFill>
            <a:prstDash val="solid"/>
          </a:ln>
        </p:spPr>
        <p:txBody>
          <a:bodyPr/>
          <a:lstStyle/>
          <a:p>
            <a:endParaRPr lang="en-US"/>
          </a:p>
        </p:txBody>
      </p:sp>
      <p:sp>
        <p:nvSpPr>
          <p:cNvPr id="24" name="Text 21"/>
          <p:cNvSpPr/>
          <p:nvPr/>
        </p:nvSpPr>
        <p:spPr>
          <a:xfrm>
            <a:off x="8558784" y="978408"/>
            <a:ext cx="566928" cy="210312"/>
          </a:xfrm>
          <a:prstGeom prst="rect">
            <a:avLst/>
          </a:prstGeom>
          <a:noFill/>
          <a:ln/>
        </p:spPr>
        <p:txBody>
          <a:bodyPr wrap="square" lIns="0" tIns="0" rIns="0" bIns="0" rtlCol="0" anchor="ctr">
            <a:normAutofit/>
          </a:bodyPr>
          <a:lstStyle/>
          <a:p>
            <a:pPr marL="0" indent="0">
              <a:buNone/>
            </a:pPr>
            <a:r>
              <a:rPr lang="en-US" sz="1000" b="1" dirty="0">
                <a:solidFill>
                  <a:srgbClr val="2A4157"/>
                </a:solidFill>
                <a:latin typeface="Lato Heavy" pitchFamily="34" charset="0"/>
                <a:ea typeface="Lato Heavy" pitchFamily="34" charset="-122"/>
                <a:cs typeface="Lato Heavy" pitchFamily="34" charset="-120"/>
              </a:rPr>
              <a:t>9:41</a:t>
            </a:r>
            <a:endParaRPr lang="en-US" sz="1000" dirty="0"/>
          </a:p>
        </p:txBody>
      </p:sp>
      <p:sp>
        <p:nvSpPr>
          <p:cNvPr id="25" name="Text 22"/>
          <p:cNvSpPr/>
          <p:nvPr/>
        </p:nvSpPr>
        <p:spPr>
          <a:xfrm>
            <a:off x="10561320" y="978408"/>
            <a:ext cx="685800" cy="210312"/>
          </a:xfrm>
          <a:prstGeom prst="rect">
            <a:avLst/>
          </a:prstGeom>
          <a:noFill/>
          <a:ln/>
        </p:spPr>
        <p:txBody>
          <a:bodyPr wrap="square" lIns="0" tIns="0" rIns="0" bIns="0" rtlCol="0" anchor="ctr">
            <a:normAutofit/>
          </a:bodyPr>
          <a:lstStyle/>
          <a:p>
            <a:pPr marL="0" indent="0" algn="r">
              <a:buNone/>
            </a:pPr>
            <a:r>
              <a:rPr lang="en-US" sz="900" b="1" dirty="0">
                <a:solidFill>
                  <a:srgbClr val="2A4157"/>
                </a:solidFill>
                <a:latin typeface="Lato Heavy" pitchFamily="34" charset="0"/>
                <a:ea typeface="Lato Heavy" pitchFamily="34" charset="-122"/>
                <a:cs typeface="Lato Heavy" pitchFamily="34" charset="-120"/>
              </a:rPr>
              <a:t>▰  Wi-Fi</a:t>
            </a:r>
            <a:endParaRPr lang="en-US" sz="900" dirty="0"/>
          </a:p>
        </p:txBody>
      </p:sp>
      <p:sp>
        <p:nvSpPr>
          <p:cNvPr id="26" name="Text 23"/>
          <p:cNvSpPr/>
          <p:nvPr/>
        </p:nvSpPr>
        <p:spPr>
          <a:xfrm>
            <a:off x="8485632" y="1298448"/>
            <a:ext cx="2962656" cy="283464"/>
          </a:xfrm>
          <a:prstGeom prst="rect">
            <a:avLst/>
          </a:prstGeom>
          <a:noFill/>
          <a:ln/>
        </p:spPr>
        <p:txBody>
          <a:bodyPr wrap="square" lIns="0" tIns="0" rIns="0" bIns="0" rtlCol="0" anchor="ctr">
            <a:normAutofit/>
          </a:bodyPr>
          <a:lstStyle/>
          <a:p>
            <a:pPr marL="0" indent="0" algn="ctr">
              <a:buNone/>
            </a:pPr>
            <a:r>
              <a:rPr lang="en-US" sz="1370" b="1" dirty="0">
                <a:solidFill>
                  <a:srgbClr val="082B4E"/>
                </a:solidFill>
                <a:latin typeface="Lato Heavy" pitchFamily="34" charset="0"/>
                <a:ea typeface="Lato Heavy" pitchFamily="34" charset="-122"/>
                <a:cs typeface="Lato Heavy" pitchFamily="34" charset="-120"/>
              </a:rPr>
              <a:t>On Top of the World</a:t>
            </a:r>
            <a:endParaRPr lang="en-US" sz="1370" dirty="0"/>
          </a:p>
        </p:txBody>
      </p:sp>
      <p:pic>
        <p:nvPicPr>
          <p:cNvPr id="27" name="Image 1" descr="/mnt/data/barnaby_hd_work/otow_gradient.png"/>
          <p:cNvPicPr>
            <a:picLocks noChangeAspect="1"/>
          </p:cNvPicPr>
          <p:nvPr/>
        </p:nvPicPr>
        <p:blipFill>
          <a:blip r:embed="rId4"/>
          <a:stretch>
            <a:fillRect/>
          </a:stretch>
        </p:blipFill>
        <p:spPr>
          <a:xfrm>
            <a:off x="8403336" y="1691640"/>
            <a:ext cx="3127248" cy="804672"/>
          </a:xfrm>
          <a:prstGeom prst="rect">
            <a:avLst/>
          </a:prstGeom>
        </p:spPr>
      </p:pic>
      <p:sp>
        <p:nvSpPr>
          <p:cNvPr id="28" name="Text 24"/>
          <p:cNvSpPr/>
          <p:nvPr/>
        </p:nvSpPr>
        <p:spPr>
          <a:xfrm>
            <a:off x="8586216" y="1783080"/>
            <a:ext cx="274320" cy="27432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Lato Heavy" pitchFamily="34" charset="0"/>
                <a:ea typeface="Lato Heavy" pitchFamily="34" charset="-122"/>
                <a:cs typeface="Lato Heavy" pitchFamily="34" charset="-120"/>
              </a:rPr>
              <a:t>≡</a:t>
            </a:r>
            <a:endParaRPr lang="en-US" sz="1900" dirty="0"/>
          </a:p>
        </p:txBody>
      </p:sp>
      <p:sp>
        <p:nvSpPr>
          <p:cNvPr id="29" name="Text 25"/>
          <p:cNvSpPr/>
          <p:nvPr/>
        </p:nvSpPr>
        <p:spPr>
          <a:xfrm>
            <a:off x="9025128" y="1810512"/>
            <a:ext cx="1920240" cy="201168"/>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Lato Heavy" pitchFamily="34" charset="0"/>
                <a:ea typeface="Lato Heavy" pitchFamily="34" charset="-122"/>
                <a:cs typeface="Lato Heavy" pitchFamily="34" charset="-120"/>
              </a:rPr>
              <a:t>On Top of the World</a:t>
            </a:r>
            <a:endParaRPr lang="en-US" sz="1200" dirty="0"/>
          </a:p>
        </p:txBody>
      </p:sp>
      <p:sp>
        <p:nvSpPr>
          <p:cNvPr id="30" name="Text 26"/>
          <p:cNvSpPr/>
          <p:nvPr/>
        </p:nvSpPr>
        <p:spPr>
          <a:xfrm>
            <a:off x="8567928" y="2148840"/>
            <a:ext cx="2377440" cy="301752"/>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Lato Heavy" pitchFamily="34" charset="0"/>
                <a:ea typeface="Lato Heavy" pitchFamily="34" charset="-122"/>
                <a:cs typeface="Lato Heavy" pitchFamily="34" charset="-120"/>
              </a:rPr>
              <a:t>INFO</a:t>
            </a:r>
            <a:endParaRPr lang="en-US" sz="1800" dirty="0"/>
          </a:p>
        </p:txBody>
      </p:sp>
      <p:sp>
        <p:nvSpPr>
          <p:cNvPr id="31" name="Shape 27"/>
          <p:cNvSpPr/>
          <p:nvPr/>
        </p:nvSpPr>
        <p:spPr>
          <a:xfrm>
            <a:off x="8449056" y="5705856"/>
            <a:ext cx="3035808" cy="420624"/>
          </a:xfrm>
          <a:prstGeom prst="roundRect">
            <a:avLst>
              <a:gd name="adj" fmla="val 32609"/>
            </a:avLst>
          </a:prstGeom>
          <a:solidFill>
            <a:srgbClr val="F8FBFE"/>
          </a:solidFill>
          <a:ln w="12700">
            <a:solidFill>
              <a:srgbClr val="F8FBFE">
                <a:alpha val="0"/>
              </a:srgbClr>
            </a:solidFill>
            <a:prstDash val="solid"/>
          </a:ln>
        </p:spPr>
        <p:txBody>
          <a:bodyPr/>
          <a:lstStyle/>
          <a:p>
            <a:endParaRPr lang="en-US"/>
          </a:p>
        </p:txBody>
      </p:sp>
      <p:sp>
        <p:nvSpPr>
          <p:cNvPr id="32" name="Text 28"/>
          <p:cNvSpPr/>
          <p:nvPr/>
        </p:nvSpPr>
        <p:spPr>
          <a:xfrm>
            <a:off x="8677656"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3" name="Text 29"/>
          <p:cNvSpPr/>
          <p:nvPr/>
        </p:nvSpPr>
        <p:spPr>
          <a:xfrm>
            <a:off x="8595360"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Home</a:t>
            </a:r>
            <a:endParaRPr lang="en-US" sz="820" dirty="0"/>
          </a:p>
        </p:txBody>
      </p:sp>
      <p:sp>
        <p:nvSpPr>
          <p:cNvPr id="34" name="Text 30"/>
          <p:cNvSpPr/>
          <p:nvPr/>
        </p:nvSpPr>
        <p:spPr>
          <a:xfrm>
            <a:off x="9372600"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5" name="Text 31"/>
          <p:cNvSpPr/>
          <p:nvPr/>
        </p:nvSpPr>
        <p:spPr>
          <a:xfrm>
            <a:off x="9290304"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Outings</a:t>
            </a:r>
            <a:endParaRPr lang="en-US" sz="820" dirty="0"/>
          </a:p>
        </p:txBody>
      </p:sp>
      <p:sp>
        <p:nvSpPr>
          <p:cNvPr id="36" name="Text 32"/>
          <p:cNvSpPr/>
          <p:nvPr/>
        </p:nvSpPr>
        <p:spPr>
          <a:xfrm>
            <a:off x="10067544"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7" name="Text 33"/>
          <p:cNvSpPr/>
          <p:nvPr/>
        </p:nvSpPr>
        <p:spPr>
          <a:xfrm>
            <a:off x="9985248"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Messages</a:t>
            </a:r>
            <a:endParaRPr lang="en-US" sz="820" dirty="0"/>
          </a:p>
        </p:txBody>
      </p:sp>
      <p:sp>
        <p:nvSpPr>
          <p:cNvPr id="38" name="Text 34"/>
          <p:cNvSpPr/>
          <p:nvPr/>
        </p:nvSpPr>
        <p:spPr>
          <a:xfrm>
            <a:off x="10762488"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9" name="Text 35"/>
          <p:cNvSpPr/>
          <p:nvPr/>
        </p:nvSpPr>
        <p:spPr>
          <a:xfrm>
            <a:off x="10680192"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More</a:t>
            </a:r>
            <a:endParaRPr lang="en-US" sz="820" dirty="0"/>
          </a:p>
        </p:txBody>
      </p:sp>
      <p:sp>
        <p:nvSpPr>
          <p:cNvPr id="40" name="Text 36"/>
          <p:cNvSpPr/>
          <p:nvPr/>
        </p:nvSpPr>
        <p:spPr>
          <a:xfrm>
            <a:off x="8485632" y="2587752"/>
            <a:ext cx="2962656" cy="338328"/>
          </a:xfrm>
          <a:prstGeom prst="rect">
            <a:avLst/>
          </a:prstGeom>
          <a:noFill/>
          <a:ln/>
        </p:spPr>
        <p:txBody>
          <a:bodyPr wrap="square" lIns="0" tIns="0" rIns="0" bIns="0" rtlCol="0" anchor="ctr">
            <a:normAutofit/>
          </a:bodyPr>
          <a:lstStyle/>
          <a:p>
            <a:pPr marL="0" indent="0">
              <a:buNone/>
            </a:pPr>
            <a:r>
              <a:rPr lang="en-US" sz="1700" b="1" dirty="0">
                <a:solidFill>
                  <a:srgbClr val="082B4E"/>
                </a:solidFill>
                <a:latin typeface="Lato Heavy" pitchFamily="34" charset="0"/>
                <a:ea typeface="Lato Heavy" pitchFamily="34" charset="-122"/>
                <a:cs typeface="Lato Heavy" pitchFamily="34" charset="-120"/>
              </a:rPr>
              <a:t>Community information</a:t>
            </a:r>
            <a:endParaRPr lang="en-US" sz="1700" dirty="0"/>
          </a:p>
        </p:txBody>
      </p:sp>
      <p:sp>
        <p:nvSpPr>
          <p:cNvPr id="41" name="Shape 37"/>
          <p:cNvSpPr/>
          <p:nvPr/>
        </p:nvSpPr>
        <p:spPr>
          <a:xfrm>
            <a:off x="8485632" y="3044952"/>
            <a:ext cx="2962656" cy="621792"/>
          </a:xfrm>
          <a:prstGeom prst="roundRect">
            <a:avLst>
              <a:gd name="adj" fmla="val 17647"/>
            </a:avLst>
          </a:prstGeom>
          <a:solidFill>
            <a:srgbClr val="FFFFFF"/>
          </a:solidFill>
          <a:ln w="12700">
            <a:solidFill>
              <a:srgbClr val="DDE7F0"/>
            </a:solidFill>
            <a:prstDash val="solid"/>
          </a:ln>
        </p:spPr>
        <p:txBody>
          <a:bodyPr/>
          <a:lstStyle/>
          <a:p>
            <a:endParaRPr lang="en-US"/>
          </a:p>
        </p:txBody>
      </p:sp>
      <p:sp>
        <p:nvSpPr>
          <p:cNvPr id="42" name="Text 38"/>
          <p:cNvSpPr/>
          <p:nvPr/>
        </p:nvSpPr>
        <p:spPr>
          <a:xfrm>
            <a:off x="8613648" y="3154680"/>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Community announcements</a:t>
            </a:r>
            <a:endParaRPr lang="en-US" sz="1200" dirty="0"/>
          </a:p>
        </p:txBody>
      </p:sp>
      <p:sp>
        <p:nvSpPr>
          <p:cNvPr id="43" name="Text 39"/>
          <p:cNvSpPr/>
          <p:nvPr/>
        </p:nvSpPr>
        <p:spPr>
          <a:xfrm>
            <a:off x="8613648" y="3346704"/>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HOA news and key updates</a:t>
            </a:r>
            <a:endParaRPr lang="en-US" sz="950" dirty="0"/>
          </a:p>
        </p:txBody>
      </p:sp>
      <p:sp>
        <p:nvSpPr>
          <p:cNvPr id="44" name="Shape 40"/>
          <p:cNvSpPr/>
          <p:nvPr/>
        </p:nvSpPr>
        <p:spPr>
          <a:xfrm>
            <a:off x="10789920" y="3154680"/>
            <a:ext cx="548640" cy="256032"/>
          </a:xfrm>
          <a:prstGeom prst="roundRect">
            <a:avLst>
              <a:gd name="adj" fmla="val 53571"/>
            </a:avLst>
          </a:prstGeom>
          <a:solidFill>
            <a:srgbClr val="057BEE"/>
          </a:solidFill>
          <a:ln w="12700">
            <a:solidFill>
              <a:srgbClr val="057BEE">
                <a:alpha val="0"/>
              </a:srgbClr>
            </a:solidFill>
            <a:prstDash val="solid"/>
          </a:ln>
        </p:spPr>
        <p:txBody>
          <a:bodyPr/>
          <a:lstStyle/>
          <a:p>
            <a:endParaRPr lang="en-US"/>
          </a:p>
        </p:txBody>
      </p:sp>
      <p:sp>
        <p:nvSpPr>
          <p:cNvPr id="45" name="Text 41"/>
          <p:cNvSpPr/>
          <p:nvPr/>
        </p:nvSpPr>
        <p:spPr>
          <a:xfrm>
            <a:off x="10808208" y="3172968"/>
            <a:ext cx="493776" cy="18288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Lato Heavy" pitchFamily="34" charset="0"/>
                <a:ea typeface="Lato Heavy" pitchFamily="34" charset="-122"/>
                <a:cs typeface="Lato Heavy" pitchFamily="34" charset="-120"/>
              </a:rPr>
              <a:t>View</a:t>
            </a:r>
            <a:endParaRPr lang="en-US" sz="900" dirty="0"/>
          </a:p>
        </p:txBody>
      </p:sp>
      <p:sp>
        <p:nvSpPr>
          <p:cNvPr id="46" name="Shape 42"/>
          <p:cNvSpPr/>
          <p:nvPr/>
        </p:nvSpPr>
        <p:spPr>
          <a:xfrm>
            <a:off x="8485632" y="3758184"/>
            <a:ext cx="2962656" cy="621792"/>
          </a:xfrm>
          <a:prstGeom prst="roundRect">
            <a:avLst>
              <a:gd name="adj" fmla="val 17647"/>
            </a:avLst>
          </a:prstGeom>
          <a:solidFill>
            <a:srgbClr val="FFFFFF"/>
          </a:solidFill>
          <a:ln w="12700">
            <a:solidFill>
              <a:srgbClr val="DDE7F0"/>
            </a:solidFill>
            <a:prstDash val="solid"/>
          </a:ln>
        </p:spPr>
        <p:txBody>
          <a:bodyPr/>
          <a:lstStyle/>
          <a:p>
            <a:endParaRPr lang="en-US"/>
          </a:p>
        </p:txBody>
      </p:sp>
      <p:sp>
        <p:nvSpPr>
          <p:cNvPr id="47" name="Text 43"/>
          <p:cNvSpPr/>
          <p:nvPr/>
        </p:nvSpPr>
        <p:spPr>
          <a:xfrm>
            <a:off x="8613648" y="3867912"/>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Events and activities</a:t>
            </a:r>
            <a:endParaRPr lang="en-US" sz="1200" dirty="0"/>
          </a:p>
        </p:txBody>
      </p:sp>
      <p:sp>
        <p:nvSpPr>
          <p:cNvPr id="48" name="Text 44"/>
          <p:cNvSpPr/>
          <p:nvPr/>
        </p:nvSpPr>
        <p:spPr>
          <a:xfrm>
            <a:off x="8613648" y="4059936"/>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Clubs and social programs</a:t>
            </a:r>
            <a:endParaRPr lang="en-US" sz="950" dirty="0"/>
          </a:p>
        </p:txBody>
      </p:sp>
      <p:sp>
        <p:nvSpPr>
          <p:cNvPr id="49" name="Shape 45"/>
          <p:cNvSpPr/>
          <p:nvPr/>
        </p:nvSpPr>
        <p:spPr>
          <a:xfrm>
            <a:off x="10789920" y="3867912"/>
            <a:ext cx="548640" cy="256032"/>
          </a:xfrm>
          <a:prstGeom prst="roundRect">
            <a:avLst>
              <a:gd name="adj" fmla="val 53571"/>
            </a:avLst>
          </a:prstGeom>
          <a:solidFill>
            <a:srgbClr val="057BEE"/>
          </a:solidFill>
          <a:ln w="12700">
            <a:solidFill>
              <a:srgbClr val="057BEE">
                <a:alpha val="0"/>
              </a:srgbClr>
            </a:solidFill>
            <a:prstDash val="solid"/>
          </a:ln>
        </p:spPr>
        <p:txBody>
          <a:bodyPr/>
          <a:lstStyle/>
          <a:p>
            <a:endParaRPr lang="en-US"/>
          </a:p>
        </p:txBody>
      </p:sp>
      <p:sp>
        <p:nvSpPr>
          <p:cNvPr id="50" name="Text 46"/>
          <p:cNvSpPr/>
          <p:nvPr/>
        </p:nvSpPr>
        <p:spPr>
          <a:xfrm>
            <a:off x="10808208" y="3886200"/>
            <a:ext cx="493776" cy="18288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Lato Heavy" pitchFamily="34" charset="0"/>
                <a:ea typeface="Lato Heavy" pitchFamily="34" charset="-122"/>
                <a:cs typeface="Lato Heavy" pitchFamily="34" charset="-120"/>
              </a:rPr>
              <a:t>View</a:t>
            </a:r>
            <a:endParaRPr lang="en-US" sz="900" dirty="0"/>
          </a:p>
        </p:txBody>
      </p:sp>
      <p:sp>
        <p:nvSpPr>
          <p:cNvPr id="51" name="Shape 47"/>
          <p:cNvSpPr/>
          <p:nvPr/>
        </p:nvSpPr>
        <p:spPr>
          <a:xfrm>
            <a:off x="8485632" y="4471416"/>
            <a:ext cx="2962656" cy="621792"/>
          </a:xfrm>
          <a:prstGeom prst="roundRect">
            <a:avLst>
              <a:gd name="adj" fmla="val 17647"/>
            </a:avLst>
          </a:prstGeom>
          <a:solidFill>
            <a:srgbClr val="FFFFFF"/>
          </a:solidFill>
          <a:ln w="12700">
            <a:solidFill>
              <a:srgbClr val="DDE7F0"/>
            </a:solidFill>
            <a:prstDash val="solid"/>
          </a:ln>
        </p:spPr>
        <p:txBody>
          <a:bodyPr/>
          <a:lstStyle/>
          <a:p>
            <a:endParaRPr lang="en-US"/>
          </a:p>
        </p:txBody>
      </p:sp>
      <p:sp>
        <p:nvSpPr>
          <p:cNvPr id="52" name="Text 48"/>
          <p:cNvSpPr/>
          <p:nvPr/>
        </p:nvSpPr>
        <p:spPr>
          <a:xfrm>
            <a:off x="8613648" y="4581144"/>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Important notices</a:t>
            </a:r>
            <a:endParaRPr lang="en-US" sz="1200" dirty="0"/>
          </a:p>
        </p:txBody>
      </p:sp>
      <p:sp>
        <p:nvSpPr>
          <p:cNvPr id="53" name="Text 49"/>
          <p:cNvSpPr/>
          <p:nvPr/>
        </p:nvSpPr>
        <p:spPr>
          <a:xfrm>
            <a:off x="8613648" y="4773168"/>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Alerts and information</a:t>
            </a:r>
            <a:endParaRPr lang="en-US" sz="950" dirty="0"/>
          </a:p>
        </p:txBody>
      </p:sp>
      <p:sp>
        <p:nvSpPr>
          <p:cNvPr id="54" name="Shape 50"/>
          <p:cNvSpPr/>
          <p:nvPr/>
        </p:nvSpPr>
        <p:spPr>
          <a:xfrm>
            <a:off x="10789920" y="4581144"/>
            <a:ext cx="548640" cy="256032"/>
          </a:xfrm>
          <a:prstGeom prst="roundRect">
            <a:avLst>
              <a:gd name="adj" fmla="val 53571"/>
            </a:avLst>
          </a:prstGeom>
          <a:solidFill>
            <a:srgbClr val="057BEE"/>
          </a:solidFill>
          <a:ln w="12700">
            <a:solidFill>
              <a:srgbClr val="057BEE">
                <a:alpha val="0"/>
              </a:srgbClr>
            </a:solidFill>
            <a:prstDash val="solid"/>
          </a:ln>
        </p:spPr>
        <p:txBody>
          <a:bodyPr/>
          <a:lstStyle/>
          <a:p>
            <a:endParaRPr lang="en-US"/>
          </a:p>
        </p:txBody>
      </p:sp>
      <p:sp>
        <p:nvSpPr>
          <p:cNvPr id="55" name="Text 51"/>
          <p:cNvSpPr/>
          <p:nvPr/>
        </p:nvSpPr>
        <p:spPr>
          <a:xfrm>
            <a:off x="10808208" y="4599432"/>
            <a:ext cx="493776" cy="18288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Lato Heavy" pitchFamily="34" charset="0"/>
                <a:ea typeface="Lato Heavy" pitchFamily="34" charset="-122"/>
                <a:cs typeface="Lato Heavy" pitchFamily="34" charset="-120"/>
              </a:rPr>
              <a:t>View</a:t>
            </a:r>
            <a:endParaRPr lang="en-US" sz="900" dirty="0"/>
          </a:p>
        </p:txBody>
      </p:sp>
      <p:sp>
        <p:nvSpPr>
          <p:cNvPr id="56" name="Shape 52"/>
          <p:cNvSpPr/>
          <p:nvPr/>
        </p:nvSpPr>
        <p:spPr>
          <a:xfrm>
            <a:off x="8485632" y="5184648"/>
            <a:ext cx="2962656" cy="621792"/>
          </a:xfrm>
          <a:prstGeom prst="roundRect">
            <a:avLst>
              <a:gd name="adj" fmla="val 17647"/>
            </a:avLst>
          </a:prstGeom>
          <a:solidFill>
            <a:srgbClr val="FFFFFF"/>
          </a:solidFill>
          <a:ln w="12700">
            <a:solidFill>
              <a:srgbClr val="DDE7F0"/>
            </a:solidFill>
            <a:prstDash val="solid"/>
          </a:ln>
        </p:spPr>
        <p:txBody>
          <a:bodyPr/>
          <a:lstStyle/>
          <a:p>
            <a:endParaRPr lang="en-US"/>
          </a:p>
        </p:txBody>
      </p:sp>
      <p:sp>
        <p:nvSpPr>
          <p:cNvPr id="57" name="Text 53"/>
          <p:cNvSpPr/>
          <p:nvPr/>
        </p:nvSpPr>
        <p:spPr>
          <a:xfrm>
            <a:off x="8613648" y="5294376"/>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Resident resources</a:t>
            </a:r>
            <a:endParaRPr lang="en-US" sz="1200" dirty="0"/>
          </a:p>
        </p:txBody>
      </p:sp>
      <p:sp>
        <p:nvSpPr>
          <p:cNvPr id="58" name="Text 54"/>
          <p:cNvSpPr/>
          <p:nvPr/>
        </p:nvSpPr>
        <p:spPr>
          <a:xfrm>
            <a:off x="8613648" y="5486400"/>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Quick answers and contacts</a:t>
            </a:r>
            <a:endParaRPr lang="en-US" sz="950" dirty="0"/>
          </a:p>
        </p:txBody>
      </p:sp>
      <p:sp>
        <p:nvSpPr>
          <p:cNvPr id="59" name="Shape 55"/>
          <p:cNvSpPr/>
          <p:nvPr/>
        </p:nvSpPr>
        <p:spPr>
          <a:xfrm>
            <a:off x="10789920" y="5294376"/>
            <a:ext cx="548640" cy="256032"/>
          </a:xfrm>
          <a:prstGeom prst="roundRect">
            <a:avLst>
              <a:gd name="adj" fmla="val 53571"/>
            </a:avLst>
          </a:prstGeom>
          <a:solidFill>
            <a:srgbClr val="057BEE"/>
          </a:solidFill>
          <a:ln w="12700">
            <a:solidFill>
              <a:srgbClr val="057BEE">
                <a:alpha val="0"/>
              </a:srgbClr>
            </a:solidFill>
            <a:prstDash val="solid"/>
          </a:ln>
        </p:spPr>
        <p:txBody>
          <a:bodyPr/>
          <a:lstStyle/>
          <a:p>
            <a:endParaRPr lang="en-US"/>
          </a:p>
        </p:txBody>
      </p:sp>
      <p:sp>
        <p:nvSpPr>
          <p:cNvPr id="60" name="Text 56"/>
          <p:cNvSpPr/>
          <p:nvPr/>
        </p:nvSpPr>
        <p:spPr>
          <a:xfrm>
            <a:off x="10808208" y="5312664"/>
            <a:ext cx="493776" cy="18288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Lato Heavy" pitchFamily="34" charset="0"/>
                <a:ea typeface="Lato Heavy" pitchFamily="34" charset="-122"/>
                <a:cs typeface="Lato Heavy" pitchFamily="34" charset="-120"/>
              </a:rPr>
              <a:t>View</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722376" y="886968"/>
            <a:ext cx="6583680" cy="246888"/>
          </a:xfrm>
          <a:prstGeom prst="rect">
            <a:avLst/>
          </a:prstGeom>
          <a:noFill/>
          <a:ln/>
        </p:spPr>
        <p:txBody>
          <a:bodyPr wrap="square" lIns="0" tIns="0" rIns="0" bIns="0" rtlCol="0" anchor="ctr">
            <a:normAutofit/>
          </a:bodyPr>
          <a:lstStyle/>
          <a:p>
            <a:pPr marL="0" indent="0">
              <a:buNone/>
            </a:pPr>
            <a:r>
              <a:rPr lang="en-US" sz="1200" b="1" kern="0" spc="70" dirty="0">
                <a:solidFill>
                  <a:srgbClr val="127A91"/>
                </a:solidFill>
                <a:latin typeface="Lato Heavy" pitchFamily="34" charset="0"/>
                <a:ea typeface="Lato Heavy" pitchFamily="34" charset="-122"/>
                <a:cs typeface="Lato Heavy" pitchFamily="34" charset="-120"/>
              </a:rPr>
              <a:t>BARNABY  /  RESERVE</a:t>
            </a:r>
            <a:endParaRPr lang="en-US" sz="1200" dirty="0"/>
          </a:p>
        </p:txBody>
      </p:sp>
      <p:sp>
        <p:nvSpPr>
          <p:cNvPr id="6" name="Text 3"/>
          <p:cNvSpPr/>
          <p:nvPr/>
        </p:nvSpPr>
        <p:spPr>
          <a:xfrm>
            <a:off x="713232" y="1179576"/>
            <a:ext cx="7315200" cy="630936"/>
          </a:xfrm>
          <a:prstGeom prst="rect">
            <a:avLst/>
          </a:prstGeom>
          <a:noFill/>
          <a:ln/>
        </p:spPr>
        <p:txBody>
          <a:bodyPr wrap="square" lIns="0" tIns="0" rIns="0" bIns="0" rtlCol="0" anchor="ctr">
            <a:normAutofit/>
          </a:bodyPr>
          <a:lstStyle/>
          <a:p>
            <a:pPr marL="0" indent="0">
              <a:buNone/>
            </a:pPr>
            <a:r>
              <a:rPr lang="en-US" sz="3400" b="1" dirty="0">
                <a:solidFill>
                  <a:srgbClr val="082B4E"/>
                </a:solidFill>
                <a:latin typeface="Lato Heavy" pitchFamily="34" charset="0"/>
                <a:ea typeface="Lato Heavy" pitchFamily="34" charset="-122"/>
                <a:cs typeface="Lato Heavy" pitchFamily="34" charset="-120"/>
              </a:rPr>
              <a:t>AMENITY RESERVATIONS</a:t>
            </a:r>
            <a:endParaRPr lang="en-US" sz="3400" dirty="0"/>
          </a:p>
        </p:txBody>
      </p:sp>
      <p:sp>
        <p:nvSpPr>
          <p:cNvPr id="7" name="Text 4"/>
          <p:cNvSpPr/>
          <p:nvPr/>
        </p:nvSpPr>
        <p:spPr>
          <a:xfrm>
            <a:off x="731520" y="1856232"/>
            <a:ext cx="6858000" cy="448056"/>
          </a:xfrm>
          <a:prstGeom prst="rect">
            <a:avLst/>
          </a:prstGeom>
          <a:noFill/>
          <a:ln/>
        </p:spPr>
        <p:txBody>
          <a:bodyPr wrap="square" lIns="0" tIns="0" rIns="0" bIns="0" rtlCol="0" anchor="ctr">
            <a:normAutofit/>
          </a:bodyPr>
          <a:lstStyle/>
          <a:p>
            <a:pPr marL="0" indent="0">
              <a:buNone/>
            </a:pPr>
            <a:r>
              <a:rPr lang="en-US" sz="1950" dirty="0">
                <a:solidFill>
                  <a:srgbClr val="617B94"/>
                </a:solidFill>
                <a:latin typeface="Lato" pitchFamily="34" charset="0"/>
                <a:ea typeface="Lato" pitchFamily="34" charset="-122"/>
                <a:cs typeface="Lato" pitchFamily="34" charset="-120"/>
              </a:rPr>
              <a:t>Find and book in a few taps.</a:t>
            </a:r>
            <a:endParaRPr lang="en-US" sz="1950" dirty="0"/>
          </a:p>
        </p:txBody>
      </p:sp>
      <p:sp>
        <p:nvSpPr>
          <p:cNvPr id="8" name="Shape 5"/>
          <p:cNvSpPr/>
          <p:nvPr/>
        </p:nvSpPr>
        <p:spPr>
          <a:xfrm>
            <a:off x="731520" y="2770632"/>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9" name="Text 6"/>
          <p:cNvSpPr/>
          <p:nvPr/>
        </p:nvSpPr>
        <p:spPr>
          <a:xfrm>
            <a:off x="1024128" y="2651760"/>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Browse available community facilities</a:t>
            </a:r>
            <a:endParaRPr lang="en-US" sz="2100" dirty="0"/>
          </a:p>
        </p:txBody>
      </p:sp>
      <p:sp>
        <p:nvSpPr>
          <p:cNvPr id="10" name="Shape 7"/>
          <p:cNvSpPr/>
          <p:nvPr/>
        </p:nvSpPr>
        <p:spPr>
          <a:xfrm>
            <a:off x="731520" y="3575304"/>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1" name="Text 8"/>
          <p:cNvSpPr/>
          <p:nvPr/>
        </p:nvSpPr>
        <p:spPr>
          <a:xfrm>
            <a:off x="1024128" y="3456432"/>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Courts, billiards, meeting rooms and more</a:t>
            </a:r>
            <a:endParaRPr lang="en-US" sz="2100" dirty="0"/>
          </a:p>
        </p:txBody>
      </p:sp>
      <p:sp>
        <p:nvSpPr>
          <p:cNvPr id="12" name="Shape 9"/>
          <p:cNvSpPr/>
          <p:nvPr/>
        </p:nvSpPr>
        <p:spPr>
          <a:xfrm>
            <a:off x="731520" y="4379976"/>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3" name="Text 10"/>
          <p:cNvSpPr/>
          <p:nvPr/>
        </p:nvSpPr>
        <p:spPr>
          <a:xfrm>
            <a:off x="1024128" y="4261104"/>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Illustrative listings and availability</a:t>
            </a:r>
            <a:endParaRPr lang="en-US" sz="2100" dirty="0"/>
          </a:p>
        </p:txBody>
      </p:sp>
      <p:sp>
        <p:nvSpPr>
          <p:cNvPr id="14" name="Shape 11"/>
          <p:cNvSpPr/>
          <p:nvPr/>
        </p:nvSpPr>
        <p:spPr>
          <a:xfrm>
            <a:off x="713232" y="5385816"/>
            <a:ext cx="6638544" cy="822960"/>
          </a:xfrm>
          <a:prstGeom prst="roundRect">
            <a:avLst>
              <a:gd name="adj" fmla="val 16667"/>
            </a:avLst>
          </a:prstGeom>
          <a:solidFill>
            <a:srgbClr val="EAF5FF"/>
          </a:solidFill>
          <a:ln w="12700">
            <a:solidFill>
              <a:srgbClr val="CDE3F6"/>
            </a:solidFill>
            <a:prstDash val="solid"/>
          </a:ln>
        </p:spPr>
        <p:txBody>
          <a:bodyPr/>
          <a:lstStyle/>
          <a:p>
            <a:endParaRPr lang="en-US"/>
          </a:p>
        </p:txBody>
      </p:sp>
      <p:sp>
        <p:nvSpPr>
          <p:cNvPr id="15" name="Shape 12"/>
          <p:cNvSpPr/>
          <p:nvPr/>
        </p:nvSpPr>
        <p:spPr>
          <a:xfrm>
            <a:off x="914400" y="5623560"/>
            <a:ext cx="256032" cy="256032"/>
          </a:xfrm>
          <a:prstGeom prst="ellipse">
            <a:avLst/>
          </a:prstGeom>
          <a:solidFill>
            <a:srgbClr val="057BEE"/>
          </a:solidFill>
          <a:ln w="12700">
            <a:solidFill>
              <a:srgbClr val="057BEE">
                <a:alpha val="0"/>
              </a:srgbClr>
            </a:solidFill>
            <a:prstDash val="solid"/>
          </a:ln>
        </p:spPr>
        <p:txBody>
          <a:bodyPr/>
          <a:lstStyle/>
          <a:p>
            <a:endParaRPr lang="en-US"/>
          </a:p>
        </p:txBody>
      </p:sp>
      <p:sp>
        <p:nvSpPr>
          <p:cNvPr id="16" name="Text 13"/>
          <p:cNvSpPr/>
          <p:nvPr/>
        </p:nvSpPr>
        <p:spPr>
          <a:xfrm>
            <a:off x="958291" y="5623560"/>
            <a:ext cx="1828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Lato Heavy" pitchFamily="34" charset="0"/>
                <a:ea typeface="Lato Heavy" pitchFamily="34" charset="-122"/>
                <a:cs typeface="Lato Heavy" pitchFamily="34" charset="-120"/>
              </a:rPr>
              <a:t>→</a:t>
            </a:r>
            <a:endParaRPr lang="en-US" sz="1400" dirty="0"/>
          </a:p>
        </p:txBody>
      </p:sp>
      <p:sp>
        <p:nvSpPr>
          <p:cNvPr id="17" name="Text 14"/>
          <p:cNvSpPr/>
          <p:nvPr/>
        </p:nvSpPr>
        <p:spPr>
          <a:xfrm>
            <a:off x="1307592" y="5486400"/>
            <a:ext cx="5824728" cy="612648"/>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Simplify bookings for residents and administrative teams.</a:t>
            </a:r>
            <a:endParaRPr lang="en-US" sz="1850" dirty="0"/>
          </a:p>
        </p:txBody>
      </p:sp>
      <p:sp>
        <p:nvSpPr>
          <p:cNvPr id="18" name="Text 15"/>
          <p:cNvSpPr/>
          <p:nvPr/>
        </p:nvSpPr>
        <p:spPr>
          <a:xfrm>
            <a:off x="10652760" y="6464808"/>
            <a:ext cx="1051560" cy="182880"/>
          </a:xfrm>
          <a:prstGeom prst="rect">
            <a:avLst/>
          </a:prstGeom>
          <a:noFill/>
          <a:ln/>
        </p:spPr>
        <p:txBody>
          <a:bodyPr wrap="square" lIns="0" tIns="0" rIns="0" bIns="0" rtlCol="0" anchor="ctr">
            <a:normAutofit/>
          </a:bodyPr>
          <a:lstStyle/>
          <a:p>
            <a:pPr marL="0" indent="0" algn="r">
              <a:buNone/>
            </a:pPr>
            <a:r>
              <a:rPr lang="en-US" sz="1000" b="1" dirty="0">
                <a:solidFill>
                  <a:srgbClr val="617B94"/>
                </a:solidFill>
                <a:latin typeface="Lato Heavy" pitchFamily="34" charset="0"/>
                <a:ea typeface="Lato Heavy" pitchFamily="34" charset="-122"/>
                <a:cs typeface="Lato Heavy" pitchFamily="34" charset="-120"/>
              </a:rPr>
              <a:t>04  /  14</a:t>
            </a:r>
            <a:endParaRPr lang="en-US" sz="1000" dirty="0"/>
          </a:p>
        </p:txBody>
      </p:sp>
      <p:sp>
        <p:nvSpPr>
          <p:cNvPr id="19" name="Text 16"/>
          <p:cNvSpPr/>
          <p:nvPr/>
        </p:nvSpPr>
        <p:spPr>
          <a:xfrm>
            <a:off x="731520" y="6446520"/>
            <a:ext cx="9052560" cy="210312"/>
          </a:xfrm>
          <a:prstGeom prst="rect">
            <a:avLst/>
          </a:prstGeom>
          <a:noFill/>
          <a:ln/>
        </p:spPr>
        <p:txBody>
          <a:bodyPr wrap="square" lIns="0" tIns="0" rIns="0" bIns="0" rtlCol="0" anchor="ctr">
            <a:normAutofit/>
          </a:bodyPr>
          <a:lstStyle/>
          <a:p>
            <a:pPr marL="0" indent="0">
              <a:buNone/>
            </a:pPr>
            <a:r>
              <a:rPr lang="en-US" sz="940" dirty="0">
                <a:solidFill>
                  <a:srgbClr val="617B94"/>
                </a:solidFill>
                <a:latin typeface="Lato" pitchFamily="34" charset="0"/>
                <a:ea typeface="Lato" pitchFamily="34" charset="-122"/>
                <a:cs typeface="Lato" pitchFamily="34" charset="-120"/>
              </a:rPr>
              <a:t>ILLUSTRATIVE CONCEPT DEMO • ON TOP OF THE WORLD COMMUNITY HIGHLIGHTS • NOT OFFICIALLY AFFILIATED</a:t>
            </a:r>
            <a:endParaRPr lang="en-US" sz="940" dirty="0"/>
          </a:p>
        </p:txBody>
      </p:sp>
      <p:sp>
        <p:nvSpPr>
          <p:cNvPr id="20" name="Shape 17"/>
          <p:cNvSpPr/>
          <p:nvPr/>
        </p:nvSpPr>
        <p:spPr>
          <a:xfrm>
            <a:off x="8375904" y="886968"/>
            <a:ext cx="3328416" cy="5541264"/>
          </a:xfrm>
          <a:prstGeom prst="roundRect">
            <a:avLst>
              <a:gd name="adj" fmla="val 4121"/>
            </a:avLst>
          </a:prstGeom>
          <a:solidFill>
            <a:srgbClr val="D7E0EA"/>
          </a:solidFill>
          <a:ln w="12700">
            <a:solidFill>
              <a:srgbClr val="D7E0EA">
                <a:alpha val="0"/>
              </a:srgbClr>
            </a:solidFill>
            <a:prstDash val="solid"/>
          </a:ln>
        </p:spPr>
        <p:txBody>
          <a:bodyPr/>
          <a:lstStyle/>
          <a:p>
            <a:endParaRPr lang="en-US"/>
          </a:p>
        </p:txBody>
      </p:sp>
      <p:sp>
        <p:nvSpPr>
          <p:cNvPr id="21" name="Shape 18"/>
          <p:cNvSpPr/>
          <p:nvPr/>
        </p:nvSpPr>
        <p:spPr>
          <a:xfrm>
            <a:off x="8302752" y="795528"/>
            <a:ext cx="3328416" cy="5541264"/>
          </a:xfrm>
          <a:prstGeom prst="roundRect">
            <a:avLst>
              <a:gd name="adj" fmla="val 4121"/>
            </a:avLst>
          </a:prstGeom>
          <a:solidFill>
            <a:srgbClr val="071522"/>
          </a:solidFill>
          <a:ln w="12700">
            <a:solidFill>
              <a:srgbClr val="071522">
                <a:alpha val="0"/>
              </a:srgbClr>
            </a:solidFill>
            <a:prstDash val="solid"/>
          </a:ln>
        </p:spPr>
        <p:txBody>
          <a:bodyPr/>
          <a:lstStyle/>
          <a:p>
            <a:endParaRPr lang="en-US"/>
          </a:p>
        </p:txBody>
      </p:sp>
      <p:sp>
        <p:nvSpPr>
          <p:cNvPr id="22" name="Shape 19"/>
          <p:cNvSpPr/>
          <p:nvPr/>
        </p:nvSpPr>
        <p:spPr>
          <a:xfrm>
            <a:off x="8394192" y="886968"/>
            <a:ext cx="3145536" cy="5358384"/>
          </a:xfrm>
          <a:prstGeom prst="roundRect">
            <a:avLst>
              <a:gd name="adj" fmla="val 4360"/>
            </a:avLst>
          </a:prstGeom>
          <a:solidFill>
            <a:srgbClr val="FFFFFF"/>
          </a:solidFill>
          <a:ln w="12700">
            <a:solidFill>
              <a:srgbClr val="FFFFFF">
                <a:alpha val="0"/>
              </a:srgbClr>
            </a:solidFill>
            <a:prstDash val="solid"/>
          </a:ln>
        </p:spPr>
        <p:txBody>
          <a:bodyPr/>
          <a:lstStyle/>
          <a:p>
            <a:endParaRPr lang="en-US"/>
          </a:p>
        </p:txBody>
      </p:sp>
      <p:sp>
        <p:nvSpPr>
          <p:cNvPr id="23" name="Shape 20"/>
          <p:cNvSpPr/>
          <p:nvPr/>
        </p:nvSpPr>
        <p:spPr>
          <a:xfrm>
            <a:off x="9454896" y="850392"/>
            <a:ext cx="1014984" cy="173736"/>
          </a:xfrm>
          <a:prstGeom prst="roundRect">
            <a:avLst>
              <a:gd name="adj" fmla="val 78947"/>
            </a:avLst>
          </a:prstGeom>
          <a:solidFill>
            <a:srgbClr val="071522"/>
          </a:solidFill>
          <a:ln w="12700">
            <a:solidFill>
              <a:srgbClr val="071522">
                <a:alpha val="0"/>
              </a:srgbClr>
            </a:solidFill>
            <a:prstDash val="solid"/>
          </a:ln>
        </p:spPr>
        <p:txBody>
          <a:bodyPr/>
          <a:lstStyle/>
          <a:p>
            <a:endParaRPr lang="en-US"/>
          </a:p>
        </p:txBody>
      </p:sp>
      <p:sp>
        <p:nvSpPr>
          <p:cNvPr id="24" name="Text 21"/>
          <p:cNvSpPr/>
          <p:nvPr/>
        </p:nvSpPr>
        <p:spPr>
          <a:xfrm>
            <a:off x="8558784" y="978408"/>
            <a:ext cx="566928" cy="210312"/>
          </a:xfrm>
          <a:prstGeom prst="rect">
            <a:avLst/>
          </a:prstGeom>
          <a:noFill/>
          <a:ln/>
        </p:spPr>
        <p:txBody>
          <a:bodyPr wrap="square" lIns="0" tIns="0" rIns="0" bIns="0" rtlCol="0" anchor="ctr">
            <a:normAutofit/>
          </a:bodyPr>
          <a:lstStyle/>
          <a:p>
            <a:pPr marL="0" indent="0">
              <a:buNone/>
            </a:pPr>
            <a:r>
              <a:rPr lang="en-US" sz="1000" b="1" dirty="0">
                <a:solidFill>
                  <a:srgbClr val="2A4157"/>
                </a:solidFill>
                <a:latin typeface="Lato Heavy" pitchFamily="34" charset="0"/>
                <a:ea typeface="Lato Heavy" pitchFamily="34" charset="-122"/>
                <a:cs typeface="Lato Heavy" pitchFamily="34" charset="-120"/>
              </a:rPr>
              <a:t>9:41</a:t>
            </a:r>
            <a:endParaRPr lang="en-US" sz="1000" dirty="0"/>
          </a:p>
        </p:txBody>
      </p:sp>
      <p:sp>
        <p:nvSpPr>
          <p:cNvPr id="25" name="Text 22"/>
          <p:cNvSpPr/>
          <p:nvPr/>
        </p:nvSpPr>
        <p:spPr>
          <a:xfrm>
            <a:off x="10561320" y="978408"/>
            <a:ext cx="685800" cy="210312"/>
          </a:xfrm>
          <a:prstGeom prst="rect">
            <a:avLst/>
          </a:prstGeom>
          <a:noFill/>
          <a:ln/>
        </p:spPr>
        <p:txBody>
          <a:bodyPr wrap="square" lIns="0" tIns="0" rIns="0" bIns="0" rtlCol="0" anchor="ctr">
            <a:normAutofit/>
          </a:bodyPr>
          <a:lstStyle/>
          <a:p>
            <a:pPr marL="0" indent="0" algn="r">
              <a:buNone/>
            </a:pPr>
            <a:r>
              <a:rPr lang="en-US" sz="900" b="1" dirty="0">
                <a:solidFill>
                  <a:srgbClr val="2A4157"/>
                </a:solidFill>
                <a:latin typeface="Lato Heavy" pitchFamily="34" charset="0"/>
                <a:ea typeface="Lato Heavy" pitchFamily="34" charset="-122"/>
                <a:cs typeface="Lato Heavy" pitchFamily="34" charset="-120"/>
              </a:rPr>
              <a:t>▰  Wi-Fi</a:t>
            </a:r>
            <a:endParaRPr lang="en-US" sz="900" dirty="0"/>
          </a:p>
        </p:txBody>
      </p:sp>
      <p:sp>
        <p:nvSpPr>
          <p:cNvPr id="26" name="Text 23"/>
          <p:cNvSpPr/>
          <p:nvPr/>
        </p:nvSpPr>
        <p:spPr>
          <a:xfrm>
            <a:off x="8485632" y="1298448"/>
            <a:ext cx="2962656" cy="283464"/>
          </a:xfrm>
          <a:prstGeom prst="rect">
            <a:avLst/>
          </a:prstGeom>
          <a:noFill/>
          <a:ln/>
        </p:spPr>
        <p:txBody>
          <a:bodyPr wrap="square" lIns="0" tIns="0" rIns="0" bIns="0" rtlCol="0" anchor="ctr">
            <a:normAutofit/>
          </a:bodyPr>
          <a:lstStyle/>
          <a:p>
            <a:pPr marL="0" indent="0" algn="ctr">
              <a:buNone/>
            </a:pPr>
            <a:r>
              <a:rPr lang="en-US" sz="1370" b="1" dirty="0">
                <a:solidFill>
                  <a:srgbClr val="082B4E"/>
                </a:solidFill>
                <a:latin typeface="Lato Heavy" pitchFamily="34" charset="0"/>
                <a:ea typeface="Lato Heavy" pitchFamily="34" charset="-122"/>
                <a:cs typeface="Lato Heavy" pitchFamily="34" charset="-120"/>
              </a:rPr>
              <a:t>On Top of the World</a:t>
            </a:r>
            <a:endParaRPr lang="en-US" sz="1370" dirty="0"/>
          </a:p>
        </p:txBody>
      </p:sp>
      <p:pic>
        <p:nvPicPr>
          <p:cNvPr id="27" name="Image 1" descr="/mnt/data/barnaby_hd_work/otow_gradient.png"/>
          <p:cNvPicPr>
            <a:picLocks noChangeAspect="1"/>
          </p:cNvPicPr>
          <p:nvPr/>
        </p:nvPicPr>
        <p:blipFill>
          <a:blip r:embed="rId4"/>
          <a:stretch>
            <a:fillRect/>
          </a:stretch>
        </p:blipFill>
        <p:spPr>
          <a:xfrm>
            <a:off x="8403336" y="1691640"/>
            <a:ext cx="3127248" cy="804672"/>
          </a:xfrm>
          <a:prstGeom prst="rect">
            <a:avLst/>
          </a:prstGeom>
        </p:spPr>
      </p:pic>
      <p:sp>
        <p:nvSpPr>
          <p:cNvPr id="28" name="Text 24"/>
          <p:cNvSpPr/>
          <p:nvPr/>
        </p:nvSpPr>
        <p:spPr>
          <a:xfrm>
            <a:off x="8586216" y="1783080"/>
            <a:ext cx="274320" cy="27432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Lato Heavy" pitchFamily="34" charset="0"/>
                <a:ea typeface="Lato Heavy" pitchFamily="34" charset="-122"/>
                <a:cs typeface="Lato Heavy" pitchFamily="34" charset="-120"/>
              </a:rPr>
              <a:t>≡</a:t>
            </a:r>
            <a:endParaRPr lang="en-US" sz="1900" dirty="0"/>
          </a:p>
        </p:txBody>
      </p:sp>
      <p:sp>
        <p:nvSpPr>
          <p:cNvPr id="29" name="Text 25"/>
          <p:cNvSpPr/>
          <p:nvPr/>
        </p:nvSpPr>
        <p:spPr>
          <a:xfrm>
            <a:off x="9025128" y="1810512"/>
            <a:ext cx="1920240" cy="201168"/>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Lato Heavy" pitchFamily="34" charset="0"/>
                <a:ea typeface="Lato Heavy" pitchFamily="34" charset="-122"/>
                <a:cs typeface="Lato Heavy" pitchFamily="34" charset="-120"/>
              </a:rPr>
              <a:t>On Top of the World</a:t>
            </a:r>
            <a:endParaRPr lang="en-US" sz="1200" dirty="0"/>
          </a:p>
        </p:txBody>
      </p:sp>
      <p:sp>
        <p:nvSpPr>
          <p:cNvPr id="30" name="Text 26"/>
          <p:cNvSpPr/>
          <p:nvPr/>
        </p:nvSpPr>
        <p:spPr>
          <a:xfrm>
            <a:off x="8567928" y="2148840"/>
            <a:ext cx="2377440" cy="301752"/>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Lato Heavy" pitchFamily="34" charset="0"/>
                <a:ea typeface="Lato Heavy" pitchFamily="34" charset="-122"/>
                <a:cs typeface="Lato Heavy" pitchFamily="34" charset="-120"/>
              </a:rPr>
              <a:t>RESERVE</a:t>
            </a:r>
            <a:endParaRPr lang="en-US" sz="1800" dirty="0"/>
          </a:p>
        </p:txBody>
      </p:sp>
      <p:sp>
        <p:nvSpPr>
          <p:cNvPr id="31" name="Shape 27"/>
          <p:cNvSpPr/>
          <p:nvPr/>
        </p:nvSpPr>
        <p:spPr>
          <a:xfrm>
            <a:off x="8442960" y="5536692"/>
            <a:ext cx="3035808" cy="420624"/>
          </a:xfrm>
          <a:prstGeom prst="roundRect">
            <a:avLst>
              <a:gd name="adj" fmla="val 32609"/>
            </a:avLst>
          </a:prstGeom>
          <a:solidFill>
            <a:srgbClr val="F8FBFE"/>
          </a:solidFill>
          <a:ln w="12700">
            <a:solidFill>
              <a:srgbClr val="F8FBFE">
                <a:alpha val="0"/>
              </a:srgbClr>
            </a:solidFill>
            <a:prstDash val="solid"/>
          </a:ln>
        </p:spPr>
        <p:txBody>
          <a:bodyPr/>
          <a:lstStyle/>
          <a:p>
            <a:endParaRPr lang="en-US"/>
          </a:p>
        </p:txBody>
      </p:sp>
      <p:sp>
        <p:nvSpPr>
          <p:cNvPr id="32" name="Text 28"/>
          <p:cNvSpPr/>
          <p:nvPr/>
        </p:nvSpPr>
        <p:spPr>
          <a:xfrm>
            <a:off x="8677656"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3" name="Text 29"/>
          <p:cNvSpPr/>
          <p:nvPr/>
        </p:nvSpPr>
        <p:spPr>
          <a:xfrm>
            <a:off x="8595360"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Home</a:t>
            </a:r>
            <a:endParaRPr lang="en-US" sz="820" dirty="0"/>
          </a:p>
        </p:txBody>
      </p:sp>
      <p:sp>
        <p:nvSpPr>
          <p:cNvPr id="34" name="Text 30"/>
          <p:cNvSpPr/>
          <p:nvPr/>
        </p:nvSpPr>
        <p:spPr>
          <a:xfrm>
            <a:off x="9372600"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5" name="Text 31"/>
          <p:cNvSpPr/>
          <p:nvPr/>
        </p:nvSpPr>
        <p:spPr>
          <a:xfrm>
            <a:off x="9290304"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Outings</a:t>
            </a:r>
            <a:endParaRPr lang="en-US" sz="820" dirty="0"/>
          </a:p>
        </p:txBody>
      </p:sp>
      <p:sp>
        <p:nvSpPr>
          <p:cNvPr id="36" name="Text 32"/>
          <p:cNvSpPr/>
          <p:nvPr/>
        </p:nvSpPr>
        <p:spPr>
          <a:xfrm>
            <a:off x="10067544"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7" name="Text 33"/>
          <p:cNvSpPr/>
          <p:nvPr/>
        </p:nvSpPr>
        <p:spPr>
          <a:xfrm>
            <a:off x="9985248"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Messages</a:t>
            </a:r>
            <a:endParaRPr lang="en-US" sz="820" dirty="0"/>
          </a:p>
        </p:txBody>
      </p:sp>
      <p:sp>
        <p:nvSpPr>
          <p:cNvPr id="38" name="Text 34"/>
          <p:cNvSpPr/>
          <p:nvPr/>
        </p:nvSpPr>
        <p:spPr>
          <a:xfrm>
            <a:off x="10762488"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9" name="Text 35"/>
          <p:cNvSpPr/>
          <p:nvPr/>
        </p:nvSpPr>
        <p:spPr>
          <a:xfrm>
            <a:off x="10680192"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More</a:t>
            </a:r>
            <a:endParaRPr lang="en-US" sz="820" dirty="0"/>
          </a:p>
        </p:txBody>
      </p:sp>
      <p:sp>
        <p:nvSpPr>
          <p:cNvPr id="40" name="Text 36"/>
          <p:cNvSpPr/>
          <p:nvPr/>
        </p:nvSpPr>
        <p:spPr>
          <a:xfrm>
            <a:off x="8485632" y="2587752"/>
            <a:ext cx="2962656" cy="338328"/>
          </a:xfrm>
          <a:prstGeom prst="rect">
            <a:avLst/>
          </a:prstGeom>
          <a:noFill/>
          <a:ln/>
        </p:spPr>
        <p:txBody>
          <a:bodyPr wrap="square" lIns="0" tIns="0" rIns="0" bIns="0" rtlCol="0" anchor="ctr">
            <a:normAutofit/>
          </a:bodyPr>
          <a:lstStyle/>
          <a:p>
            <a:pPr marL="0" indent="0">
              <a:buNone/>
            </a:pPr>
            <a:r>
              <a:rPr lang="en-US" sz="1700" b="1" dirty="0">
                <a:solidFill>
                  <a:srgbClr val="082B4E"/>
                </a:solidFill>
                <a:latin typeface="Lato Heavy" pitchFamily="34" charset="0"/>
                <a:ea typeface="Lato Heavy" pitchFamily="34" charset="-122"/>
                <a:cs typeface="Lato Heavy" pitchFamily="34" charset="-120"/>
              </a:rPr>
              <a:t>Activities</a:t>
            </a:r>
            <a:endParaRPr lang="en-US" sz="1700" dirty="0"/>
          </a:p>
        </p:txBody>
      </p:sp>
      <p:sp>
        <p:nvSpPr>
          <p:cNvPr id="41" name="Shape 37"/>
          <p:cNvSpPr/>
          <p:nvPr/>
        </p:nvSpPr>
        <p:spPr>
          <a:xfrm>
            <a:off x="10561320" y="2606040"/>
            <a:ext cx="822960" cy="265176"/>
          </a:xfrm>
          <a:prstGeom prst="roundRect">
            <a:avLst>
              <a:gd name="adj" fmla="val 34483"/>
            </a:avLst>
          </a:prstGeom>
          <a:solidFill>
            <a:srgbClr val="057BEE"/>
          </a:solidFill>
          <a:ln w="12700">
            <a:solidFill>
              <a:srgbClr val="057BEE"/>
            </a:solidFill>
            <a:prstDash val="solid"/>
          </a:ln>
        </p:spPr>
        <p:txBody>
          <a:bodyPr/>
          <a:lstStyle/>
          <a:p>
            <a:endParaRPr lang="en-US"/>
          </a:p>
        </p:txBody>
      </p:sp>
      <p:sp>
        <p:nvSpPr>
          <p:cNvPr id="42" name="Text 38"/>
          <p:cNvSpPr/>
          <p:nvPr/>
        </p:nvSpPr>
        <p:spPr>
          <a:xfrm>
            <a:off x="10588752" y="2651760"/>
            <a:ext cx="768096" cy="146304"/>
          </a:xfrm>
          <a:prstGeom prst="rect">
            <a:avLst/>
          </a:prstGeom>
          <a:noFill/>
          <a:ln/>
        </p:spPr>
        <p:txBody>
          <a:bodyPr wrap="square" lIns="0" tIns="0" rIns="0" bIns="0" rtlCol="0" anchor="ctr">
            <a:normAutofit/>
          </a:bodyPr>
          <a:lstStyle/>
          <a:p>
            <a:pPr marL="0" indent="0" algn="ctr">
              <a:buNone/>
            </a:pPr>
            <a:r>
              <a:rPr lang="en-US" sz="880" b="1" dirty="0">
                <a:solidFill>
                  <a:srgbClr val="FFFFFF"/>
                </a:solidFill>
                <a:latin typeface="Lato Heavy" pitchFamily="34" charset="0"/>
                <a:ea typeface="Lato Heavy" pitchFamily="34" charset="-122"/>
                <a:cs typeface="Lato Heavy" pitchFamily="34" charset="-120"/>
              </a:rPr>
              <a:t>Reserve +</a:t>
            </a:r>
            <a:endParaRPr lang="en-US" sz="880" dirty="0"/>
          </a:p>
        </p:txBody>
      </p:sp>
      <p:sp>
        <p:nvSpPr>
          <p:cNvPr id="43" name="Text 39"/>
          <p:cNvSpPr/>
          <p:nvPr/>
        </p:nvSpPr>
        <p:spPr>
          <a:xfrm>
            <a:off x="8485632" y="3072384"/>
            <a:ext cx="2962656" cy="228600"/>
          </a:xfrm>
          <a:prstGeom prst="rect">
            <a:avLst/>
          </a:prstGeom>
          <a:noFill/>
          <a:ln/>
        </p:spPr>
        <p:txBody>
          <a:bodyPr wrap="square" lIns="0" tIns="0" rIns="0" bIns="0" rtlCol="0" anchor="ctr">
            <a:normAutofit/>
          </a:bodyPr>
          <a:lstStyle/>
          <a:p>
            <a:pPr marL="0" indent="0">
              <a:buNone/>
            </a:pPr>
            <a:r>
              <a:rPr lang="en-US" sz="1100" b="1" dirty="0">
                <a:solidFill>
                  <a:srgbClr val="082B4E"/>
                </a:solidFill>
                <a:latin typeface="Lato Heavy" pitchFamily="34" charset="0"/>
                <a:ea typeface="Lato Heavy" pitchFamily="34" charset="-122"/>
                <a:cs typeface="Lato Heavy" pitchFamily="34" charset="-120"/>
              </a:rPr>
              <a:t>Upcoming</a:t>
            </a:r>
            <a:endParaRPr lang="en-US" sz="1100" dirty="0"/>
          </a:p>
        </p:txBody>
      </p:sp>
      <p:sp>
        <p:nvSpPr>
          <p:cNvPr id="44" name="Shape 40"/>
          <p:cNvSpPr/>
          <p:nvPr/>
        </p:nvSpPr>
        <p:spPr>
          <a:xfrm>
            <a:off x="8485632" y="3374136"/>
            <a:ext cx="2962656" cy="566928"/>
          </a:xfrm>
          <a:prstGeom prst="roundRect">
            <a:avLst>
              <a:gd name="adj" fmla="val 24194"/>
            </a:avLst>
          </a:prstGeom>
          <a:solidFill>
            <a:srgbClr val="F0F6FB"/>
          </a:solidFill>
          <a:ln w="12700">
            <a:solidFill>
              <a:srgbClr val="F0F6FB">
                <a:alpha val="0"/>
              </a:srgbClr>
            </a:solidFill>
            <a:prstDash val="solid"/>
          </a:ln>
        </p:spPr>
        <p:txBody>
          <a:bodyPr/>
          <a:lstStyle/>
          <a:p>
            <a:endParaRPr lang="en-US"/>
          </a:p>
        </p:txBody>
      </p:sp>
      <p:sp>
        <p:nvSpPr>
          <p:cNvPr id="45" name="Text 41"/>
          <p:cNvSpPr/>
          <p:nvPr/>
        </p:nvSpPr>
        <p:spPr>
          <a:xfrm>
            <a:off x="8604504" y="3502152"/>
            <a:ext cx="2715768" cy="274320"/>
          </a:xfrm>
          <a:prstGeom prst="rect">
            <a:avLst/>
          </a:prstGeom>
          <a:noFill/>
          <a:ln/>
        </p:spPr>
        <p:txBody>
          <a:bodyPr wrap="square" lIns="0" tIns="0" rIns="0" bIns="0" rtlCol="0" anchor="ctr">
            <a:normAutofit/>
          </a:bodyPr>
          <a:lstStyle/>
          <a:p>
            <a:pPr marL="0" indent="0">
              <a:buNone/>
            </a:pPr>
            <a:r>
              <a:rPr lang="en-US" sz="1050" b="1" dirty="0">
                <a:solidFill>
                  <a:srgbClr val="057BEE"/>
                </a:solidFill>
                <a:latin typeface="Lato Heavy" pitchFamily="34" charset="0"/>
                <a:ea typeface="Lato Heavy" pitchFamily="34" charset="-122"/>
                <a:cs typeface="Lato Heavy" pitchFamily="34" charset="-120"/>
              </a:rPr>
              <a:t>No bookings yet — explore amenities</a:t>
            </a:r>
            <a:endParaRPr lang="en-US" sz="1050" dirty="0"/>
          </a:p>
        </p:txBody>
      </p:sp>
      <p:sp>
        <p:nvSpPr>
          <p:cNvPr id="46" name="Text 42"/>
          <p:cNvSpPr/>
          <p:nvPr/>
        </p:nvSpPr>
        <p:spPr>
          <a:xfrm>
            <a:off x="8485632" y="4123944"/>
            <a:ext cx="2962656" cy="274320"/>
          </a:xfrm>
          <a:prstGeom prst="rect">
            <a:avLst/>
          </a:prstGeom>
          <a:noFill/>
          <a:ln/>
        </p:spPr>
        <p:txBody>
          <a:bodyPr wrap="square" lIns="0" tIns="0" rIns="0" bIns="0" rtlCol="0" anchor="ctr">
            <a:normAutofit/>
          </a:bodyPr>
          <a:lstStyle/>
          <a:p>
            <a:pPr marL="0" indent="0">
              <a:buNone/>
            </a:pPr>
            <a:r>
              <a:rPr lang="en-US" sz="1400" b="1" dirty="0">
                <a:solidFill>
                  <a:srgbClr val="082B4E"/>
                </a:solidFill>
                <a:latin typeface="Lato Heavy" pitchFamily="34" charset="0"/>
                <a:ea typeface="Lato Heavy" pitchFamily="34" charset="-122"/>
                <a:cs typeface="Lato Heavy" pitchFamily="34" charset="-120"/>
              </a:rPr>
              <a:t>Club facilities</a:t>
            </a:r>
            <a:endParaRPr lang="en-US" sz="1400" dirty="0"/>
          </a:p>
        </p:txBody>
      </p:sp>
      <p:sp>
        <p:nvSpPr>
          <p:cNvPr id="47" name="Shape 43"/>
          <p:cNvSpPr/>
          <p:nvPr/>
        </p:nvSpPr>
        <p:spPr>
          <a:xfrm>
            <a:off x="8485632" y="4471416"/>
            <a:ext cx="2962656" cy="448056"/>
          </a:xfrm>
          <a:prstGeom prst="roundRect">
            <a:avLst>
              <a:gd name="adj" fmla="val 24490"/>
            </a:avLst>
          </a:prstGeom>
          <a:solidFill>
            <a:srgbClr val="FFFFFF"/>
          </a:solidFill>
          <a:ln w="12700">
            <a:solidFill>
              <a:srgbClr val="DDE7F0"/>
            </a:solidFill>
            <a:prstDash val="solid"/>
          </a:ln>
        </p:spPr>
        <p:txBody>
          <a:bodyPr/>
          <a:lstStyle/>
          <a:p>
            <a:endParaRPr lang="en-US"/>
          </a:p>
        </p:txBody>
      </p:sp>
      <p:sp>
        <p:nvSpPr>
          <p:cNvPr id="48" name="Text 44"/>
          <p:cNvSpPr/>
          <p:nvPr/>
        </p:nvSpPr>
        <p:spPr>
          <a:xfrm>
            <a:off x="8613648" y="4581144"/>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Pickleball courts</a:t>
            </a:r>
            <a:endParaRPr lang="en-US" sz="1200" dirty="0"/>
          </a:p>
        </p:txBody>
      </p:sp>
      <p:sp>
        <p:nvSpPr>
          <p:cNvPr id="49" name="Text 45"/>
          <p:cNvSpPr/>
          <p:nvPr/>
        </p:nvSpPr>
        <p:spPr>
          <a:xfrm>
            <a:off x="8613648" y="4773168"/>
            <a:ext cx="2688336" cy="155448"/>
          </a:xfrm>
          <a:prstGeom prst="rect">
            <a:avLst/>
          </a:prstGeom>
          <a:noFill/>
          <a:ln/>
        </p:spPr>
        <p:txBody>
          <a:bodyPr wrap="square" lIns="0" tIns="0" rIns="0" bIns="0" rtlCol="0" anchor="ctr">
            <a:normAutofit/>
          </a:bodyPr>
          <a:lstStyle/>
          <a:p>
            <a:pPr marL="0" indent="0">
              <a:buNone/>
            </a:pPr>
            <a:endParaRPr lang="en-US" sz="950" dirty="0"/>
          </a:p>
        </p:txBody>
      </p:sp>
      <p:sp>
        <p:nvSpPr>
          <p:cNvPr id="50" name="Shape 46"/>
          <p:cNvSpPr/>
          <p:nvPr/>
        </p:nvSpPr>
        <p:spPr>
          <a:xfrm>
            <a:off x="8485632" y="4983480"/>
            <a:ext cx="2962656" cy="448056"/>
          </a:xfrm>
          <a:prstGeom prst="roundRect">
            <a:avLst>
              <a:gd name="adj" fmla="val 24490"/>
            </a:avLst>
          </a:prstGeom>
          <a:solidFill>
            <a:srgbClr val="FFFFFF"/>
          </a:solidFill>
          <a:ln w="12700">
            <a:solidFill>
              <a:srgbClr val="DDE7F0"/>
            </a:solidFill>
            <a:prstDash val="solid"/>
          </a:ln>
        </p:spPr>
        <p:txBody>
          <a:bodyPr/>
          <a:lstStyle/>
          <a:p>
            <a:endParaRPr lang="en-US"/>
          </a:p>
        </p:txBody>
      </p:sp>
      <p:sp>
        <p:nvSpPr>
          <p:cNvPr id="51" name="Text 47"/>
          <p:cNvSpPr/>
          <p:nvPr/>
        </p:nvSpPr>
        <p:spPr>
          <a:xfrm>
            <a:off x="8613648" y="5093208"/>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Billiard table</a:t>
            </a:r>
            <a:endParaRPr lang="en-US" sz="1200" dirty="0"/>
          </a:p>
        </p:txBody>
      </p:sp>
      <p:sp>
        <p:nvSpPr>
          <p:cNvPr id="52" name="Text 48"/>
          <p:cNvSpPr/>
          <p:nvPr/>
        </p:nvSpPr>
        <p:spPr>
          <a:xfrm>
            <a:off x="8613648" y="5285232"/>
            <a:ext cx="2688336" cy="155448"/>
          </a:xfrm>
          <a:prstGeom prst="rect">
            <a:avLst/>
          </a:prstGeom>
          <a:noFill/>
          <a:ln/>
        </p:spPr>
        <p:txBody>
          <a:bodyPr wrap="square" lIns="0" tIns="0" rIns="0" bIns="0" rtlCol="0" anchor="ctr">
            <a:normAutofit/>
          </a:bodyPr>
          <a:lstStyle/>
          <a:p>
            <a:pPr marL="0" indent="0">
              <a:buNone/>
            </a:pPr>
            <a:endParaRPr lang="en-US" sz="950" dirty="0"/>
          </a:p>
        </p:txBody>
      </p:sp>
      <p:sp>
        <p:nvSpPr>
          <p:cNvPr id="54" name="Text 50"/>
          <p:cNvSpPr/>
          <p:nvPr/>
        </p:nvSpPr>
        <p:spPr>
          <a:xfrm>
            <a:off x="8613648" y="5605272"/>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Meeting room</a:t>
            </a:r>
            <a:endParaRPr lang="en-US" sz="1200" dirty="0"/>
          </a:p>
        </p:txBody>
      </p:sp>
      <p:sp>
        <p:nvSpPr>
          <p:cNvPr id="55" name="Text 51"/>
          <p:cNvSpPr/>
          <p:nvPr/>
        </p:nvSpPr>
        <p:spPr>
          <a:xfrm>
            <a:off x="8613648" y="5797296"/>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Gatherings and groups</a:t>
            </a:r>
            <a:endParaRPr lang="en-US" sz="950" dirty="0"/>
          </a:p>
        </p:txBody>
      </p:sp>
      <p:sp>
        <p:nvSpPr>
          <p:cNvPr id="56" name="Shape 52"/>
          <p:cNvSpPr/>
          <p:nvPr/>
        </p:nvSpPr>
        <p:spPr>
          <a:xfrm>
            <a:off x="8503920" y="5509260"/>
            <a:ext cx="2962656" cy="448056"/>
          </a:xfrm>
          <a:prstGeom prst="roundRect">
            <a:avLst>
              <a:gd name="adj" fmla="val 24490"/>
            </a:avLst>
          </a:prstGeom>
          <a:solidFill>
            <a:srgbClr val="FFFFFF"/>
          </a:solidFill>
          <a:ln w="12700">
            <a:solidFill>
              <a:srgbClr val="DDE7F0"/>
            </a:solidFill>
            <a:prstDash val="solid"/>
          </a:ln>
        </p:spPr>
        <p:txBody>
          <a:bodyPr/>
          <a:lstStyle/>
          <a:p>
            <a:endParaRPr lang="en-US"/>
          </a:p>
        </p:txBody>
      </p:sp>
      <p:sp>
        <p:nvSpPr>
          <p:cNvPr id="58" name="Text 54"/>
          <p:cNvSpPr/>
          <p:nvPr/>
        </p:nvSpPr>
        <p:spPr>
          <a:xfrm>
            <a:off x="8613648" y="6309360"/>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Indoor golf practice</a:t>
            </a:r>
            <a:endParaRPr lang="en-US" sz="950" dirty="0"/>
          </a:p>
        </p:txBody>
      </p:sp>
      <p:sp>
        <p:nvSpPr>
          <p:cNvPr id="60" name="Text 53">
            <a:extLst>
              <a:ext uri="{FF2B5EF4-FFF2-40B4-BE49-F238E27FC236}">
                <a16:creationId xmlns:a16="http://schemas.microsoft.com/office/drawing/2014/main" id="{4DCDA619-3E12-EC19-CEB5-BEE973CB8058}"/>
              </a:ext>
            </a:extLst>
          </p:cNvPr>
          <p:cNvSpPr/>
          <p:nvPr/>
        </p:nvSpPr>
        <p:spPr>
          <a:xfrm>
            <a:off x="8604504" y="5615765"/>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Golf simulator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722376" y="886968"/>
            <a:ext cx="6583680" cy="246888"/>
          </a:xfrm>
          <a:prstGeom prst="rect">
            <a:avLst/>
          </a:prstGeom>
          <a:noFill/>
          <a:ln/>
        </p:spPr>
        <p:txBody>
          <a:bodyPr wrap="square" lIns="0" tIns="0" rIns="0" bIns="0" rtlCol="0" anchor="ctr">
            <a:normAutofit/>
          </a:bodyPr>
          <a:lstStyle/>
          <a:p>
            <a:pPr marL="0" indent="0">
              <a:buNone/>
            </a:pPr>
            <a:r>
              <a:rPr lang="en-US" sz="1200" b="1" kern="0" spc="70" dirty="0">
                <a:solidFill>
                  <a:srgbClr val="127A91"/>
                </a:solidFill>
                <a:latin typeface="Lato Heavy" pitchFamily="34" charset="0"/>
                <a:ea typeface="Lato Heavy" pitchFamily="34" charset="-122"/>
                <a:cs typeface="Lato Heavy" pitchFamily="34" charset="-120"/>
              </a:rPr>
              <a:t>BARNABY  /  BOOK</a:t>
            </a:r>
            <a:endParaRPr lang="en-US" sz="1200" dirty="0"/>
          </a:p>
        </p:txBody>
      </p:sp>
      <p:sp>
        <p:nvSpPr>
          <p:cNvPr id="6" name="Text 3"/>
          <p:cNvSpPr/>
          <p:nvPr/>
        </p:nvSpPr>
        <p:spPr>
          <a:xfrm>
            <a:off x="713232" y="1179576"/>
            <a:ext cx="7315200" cy="630936"/>
          </a:xfrm>
          <a:prstGeom prst="rect">
            <a:avLst/>
          </a:prstGeom>
          <a:noFill/>
          <a:ln/>
        </p:spPr>
        <p:txBody>
          <a:bodyPr wrap="square" lIns="0" tIns="0" rIns="0" bIns="0" rtlCol="0" anchor="ctr">
            <a:normAutofit/>
          </a:bodyPr>
          <a:lstStyle/>
          <a:p>
            <a:pPr marL="0" indent="0">
              <a:buNone/>
            </a:pPr>
            <a:r>
              <a:rPr lang="en-US" sz="3400" b="1" dirty="0">
                <a:solidFill>
                  <a:srgbClr val="082B4E"/>
                </a:solidFill>
                <a:latin typeface="Lato Heavy" pitchFamily="34" charset="0"/>
                <a:ea typeface="Lato Heavy" pitchFamily="34" charset="-122"/>
                <a:cs typeface="Lato Heavy" pitchFamily="34" charset="-120"/>
              </a:rPr>
              <a:t>BOOKING MADE SIMPLE</a:t>
            </a:r>
            <a:endParaRPr lang="en-US" sz="3400" dirty="0"/>
          </a:p>
        </p:txBody>
      </p:sp>
      <p:sp>
        <p:nvSpPr>
          <p:cNvPr id="7" name="Text 4"/>
          <p:cNvSpPr/>
          <p:nvPr/>
        </p:nvSpPr>
        <p:spPr>
          <a:xfrm>
            <a:off x="731520" y="1856232"/>
            <a:ext cx="6858000" cy="448056"/>
          </a:xfrm>
          <a:prstGeom prst="rect">
            <a:avLst/>
          </a:prstGeom>
          <a:noFill/>
          <a:ln/>
        </p:spPr>
        <p:txBody>
          <a:bodyPr wrap="square" lIns="0" tIns="0" rIns="0" bIns="0" rtlCol="0" anchor="ctr">
            <a:normAutofit/>
          </a:bodyPr>
          <a:lstStyle/>
          <a:p>
            <a:pPr marL="0" indent="0">
              <a:buNone/>
            </a:pPr>
            <a:r>
              <a:rPr lang="en-US" sz="1950" dirty="0">
                <a:solidFill>
                  <a:srgbClr val="617B94"/>
                </a:solidFill>
                <a:latin typeface="Lato" pitchFamily="34" charset="0"/>
                <a:ea typeface="Lato" pitchFamily="34" charset="-122"/>
                <a:cs typeface="Lato" pitchFamily="34" charset="-120"/>
              </a:rPr>
              <a:t>From selection to confirmation.</a:t>
            </a:r>
            <a:endParaRPr lang="en-US" sz="1950" dirty="0"/>
          </a:p>
        </p:txBody>
      </p:sp>
      <p:sp>
        <p:nvSpPr>
          <p:cNvPr id="8" name="Shape 5"/>
          <p:cNvSpPr/>
          <p:nvPr/>
        </p:nvSpPr>
        <p:spPr>
          <a:xfrm>
            <a:off x="731520" y="2770632"/>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9" name="Text 6"/>
          <p:cNvSpPr/>
          <p:nvPr/>
        </p:nvSpPr>
        <p:spPr>
          <a:xfrm>
            <a:off x="1024128" y="2651760"/>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Choose your amenity</a:t>
            </a:r>
            <a:endParaRPr lang="en-US" sz="2100" dirty="0"/>
          </a:p>
        </p:txBody>
      </p:sp>
      <p:sp>
        <p:nvSpPr>
          <p:cNvPr id="10" name="Shape 7"/>
          <p:cNvSpPr/>
          <p:nvPr/>
        </p:nvSpPr>
        <p:spPr>
          <a:xfrm>
            <a:off x="731520" y="3575304"/>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1" name="Text 8"/>
          <p:cNvSpPr/>
          <p:nvPr/>
        </p:nvSpPr>
        <p:spPr>
          <a:xfrm>
            <a:off x="1024128" y="3456432"/>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Pick a convenient time</a:t>
            </a:r>
            <a:endParaRPr lang="en-US" sz="2100" dirty="0"/>
          </a:p>
        </p:txBody>
      </p:sp>
      <p:sp>
        <p:nvSpPr>
          <p:cNvPr id="12" name="Shape 9"/>
          <p:cNvSpPr/>
          <p:nvPr/>
        </p:nvSpPr>
        <p:spPr>
          <a:xfrm>
            <a:off x="731520" y="4379976"/>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3" name="Text 10"/>
          <p:cNvSpPr/>
          <p:nvPr/>
        </p:nvSpPr>
        <p:spPr>
          <a:xfrm>
            <a:off x="1024128" y="4261104"/>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Confirm from the app</a:t>
            </a:r>
            <a:endParaRPr lang="en-US" sz="2100" dirty="0"/>
          </a:p>
        </p:txBody>
      </p:sp>
      <p:sp>
        <p:nvSpPr>
          <p:cNvPr id="14" name="Shape 11"/>
          <p:cNvSpPr/>
          <p:nvPr/>
        </p:nvSpPr>
        <p:spPr>
          <a:xfrm>
            <a:off x="713232" y="5385816"/>
            <a:ext cx="6638544" cy="822960"/>
          </a:xfrm>
          <a:prstGeom prst="roundRect">
            <a:avLst>
              <a:gd name="adj" fmla="val 16667"/>
            </a:avLst>
          </a:prstGeom>
          <a:solidFill>
            <a:srgbClr val="EAF5FF"/>
          </a:solidFill>
          <a:ln w="12700">
            <a:solidFill>
              <a:srgbClr val="CDE3F6"/>
            </a:solidFill>
            <a:prstDash val="solid"/>
          </a:ln>
        </p:spPr>
        <p:txBody>
          <a:bodyPr/>
          <a:lstStyle/>
          <a:p>
            <a:endParaRPr lang="en-US"/>
          </a:p>
        </p:txBody>
      </p:sp>
      <p:sp>
        <p:nvSpPr>
          <p:cNvPr id="15" name="Shape 12"/>
          <p:cNvSpPr/>
          <p:nvPr/>
        </p:nvSpPr>
        <p:spPr>
          <a:xfrm>
            <a:off x="914400" y="5623560"/>
            <a:ext cx="256032" cy="256032"/>
          </a:xfrm>
          <a:prstGeom prst="ellipse">
            <a:avLst/>
          </a:prstGeom>
          <a:solidFill>
            <a:srgbClr val="057BEE"/>
          </a:solidFill>
          <a:ln w="12700">
            <a:solidFill>
              <a:srgbClr val="057BEE">
                <a:alpha val="0"/>
              </a:srgbClr>
            </a:solidFill>
            <a:prstDash val="solid"/>
          </a:ln>
        </p:spPr>
        <p:txBody>
          <a:bodyPr/>
          <a:lstStyle/>
          <a:p>
            <a:endParaRPr lang="en-US"/>
          </a:p>
        </p:txBody>
      </p:sp>
      <p:sp>
        <p:nvSpPr>
          <p:cNvPr id="16" name="Text 13"/>
          <p:cNvSpPr/>
          <p:nvPr/>
        </p:nvSpPr>
        <p:spPr>
          <a:xfrm>
            <a:off x="958291" y="5623560"/>
            <a:ext cx="1828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Lato Heavy" pitchFamily="34" charset="0"/>
                <a:ea typeface="Lato Heavy" pitchFamily="34" charset="-122"/>
                <a:cs typeface="Lato Heavy" pitchFamily="34" charset="-120"/>
              </a:rPr>
              <a:t>→</a:t>
            </a:r>
            <a:endParaRPr lang="en-US" sz="1400" dirty="0"/>
          </a:p>
        </p:txBody>
      </p:sp>
      <p:sp>
        <p:nvSpPr>
          <p:cNvPr id="17" name="Text 14"/>
          <p:cNvSpPr/>
          <p:nvPr/>
        </p:nvSpPr>
        <p:spPr>
          <a:xfrm>
            <a:off x="1307592" y="5486400"/>
            <a:ext cx="5824728" cy="612648"/>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One clear workflow can replace calls, emails and manual scheduling.</a:t>
            </a:r>
            <a:endParaRPr lang="en-US" sz="1850" dirty="0"/>
          </a:p>
        </p:txBody>
      </p:sp>
      <p:sp>
        <p:nvSpPr>
          <p:cNvPr id="18" name="Text 15"/>
          <p:cNvSpPr/>
          <p:nvPr/>
        </p:nvSpPr>
        <p:spPr>
          <a:xfrm>
            <a:off x="10652760" y="6464808"/>
            <a:ext cx="1051560" cy="182880"/>
          </a:xfrm>
          <a:prstGeom prst="rect">
            <a:avLst/>
          </a:prstGeom>
          <a:noFill/>
          <a:ln/>
        </p:spPr>
        <p:txBody>
          <a:bodyPr wrap="square" lIns="0" tIns="0" rIns="0" bIns="0" rtlCol="0" anchor="ctr">
            <a:normAutofit/>
          </a:bodyPr>
          <a:lstStyle/>
          <a:p>
            <a:pPr marL="0" indent="0" algn="r">
              <a:buNone/>
            </a:pPr>
            <a:r>
              <a:rPr lang="en-US" sz="1000" b="1" dirty="0">
                <a:solidFill>
                  <a:srgbClr val="617B94"/>
                </a:solidFill>
                <a:latin typeface="Lato Heavy" pitchFamily="34" charset="0"/>
                <a:ea typeface="Lato Heavy" pitchFamily="34" charset="-122"/>
                <a:cs typeface="Lato Heavy" pitchFamily="34" charset="-120"/>
              </a:rPr>
              <a:t>05  /  14</a:t>
            </a:r>
            <a:endParaRPr lang="en-US" sz="1000" dirty="0"/>
          </a:p>
        </p:txBody>
      </p:sp>
      <p:sp>
        <p:nvSpPr>
          <p:cNvPr id="19" name="Text 16"/>
          <p:cNvSpPr/>
          <p:nvPr/>
        </p:nvSpPr>
        <p:spPr>
          <a:xfrm>
            <a:off x="731520" y="6446520"/>
            <a:ext cx="9052560" cy="210312"/>
          </a:xfrm>
          <a:prstGeom prst="rect">
            <a:avLst/>
          </a:prstGeom>
          <a:noFill/>
          <a:ln/>
        </p:spPr>
        <p:txBody>
          <a:bodyPr wrap="square" lIns="0" tIns="0" rIns="0" bIns="0" rtlCol="0" anchor="ctr">
            <a:normAutofit/>
          </a:bodyPr>
          <a:lstStyle/>
          <a:p>
            <a:pPr marL="0" indent="0">
              <a:buNone/>
            </a:pPr>
            <a:r>
              <a:rPr lang="en-US" sz="940" dirty="0">
                <a:solidFill>
                  <a:srgbClr val="617B94"/>
                </a:solidFill>
                <a:latin typeface="Lato" pitchFamily="34" charset="0"/>
                <a:ea typeface="Lato" pitchFamily="34" charset="-122"/>
                <a:cs typeface="Lato" pitchFamily="34" charset="-120"/>
              </a:rPr>
              <a:t>ILLUSTRATIVE CONCEPT DEMO • ON TOP OF THE WORLD COMMUNITY HIGHLIGHTS • NOT OFFICIALLY AFFILIATED</a:t>
            </a:r>
            <a:endParaRPr lang="en-US" sz="940" dirty="0"/>
          </a:p>
        </p:txBody>
      </p:sp>
      <p:sp>
        <p:nvSpPr>
          <p:cNvPr id="20" name="Shape 17"/>
          <p:cNvSpPr/>
          <p:nvPr/>
        </p:nvSpPr>
        <p:spPr>
          <a:xfrm>
            <a:off x="8375904" y="886968"/>
            <a:ext cx="3328416" cy="5541264"/>
          </a:xfrm>
          <a:prstGeom prst="roundRect">
            <a:avLst>
              <a:gd name="adj" fmla="val 4121"/>
            </a:avLst>
          </a:prstGeom>
          <a:solidFill>
            <a:srgbClr val="D7E0EA"/>
          </a:solidFill>
          <a:ln w="12700">
            <a:solidFill>
              <a:srgbClr val="D7E0EA">
                <a:alpha val="0"/>
              </a:srgbClr>
            </a:solidFill>
            <a:prstDash val="solid"/>
          </a:ln>
        </p:spPr>
        <p:txBody>
          <a:bodyPr/>
          <a:lstStyle/>
          <a:p>
            <a:endParaRPr lang="en-US"/>
          </a:p>
        </p:txBody>
      </p:sp>
      <p:sp>
        <p:nvSpPr>
          <p:cNvPr id="21" name="Shape 18"/>
          <p:cNvSpPr/>
          <p:nvPr/>
        </p:nvSpPr>
        <p:spPr>
          <a:xfrm>
            <a:off x="8302752" y="795528"/>
            <a:ext cx="3328416" cy="5541264"/>
          </a:xfrm>
          <a:prstGeom prst="roundRect">
            <a:avLst>
              <a:gd name="adj" fmla="val 4121"/>
            </a:avLst>
          </a:prstGeom>
          <a:solidFill>
            <a:srgbClr val="071522"/>
          </a:solidFill>
          <a:ln w="12700">
            <a:solidFill>
              <a:srgbClr val="071522">
                <a:alpha val="0"/>
              </a:srgbClr>
            </a:solidFill>
            <a:prstDash val="solid"/>
          </a:ln>
        </p:spPr>
        <p:txBody>
          <a:bodyPr/>
          <a:lstStyle/>
          <a:p>
            <a:endParaRPr lang="en-US"/>
          </a:p>
        </p:txBody>
      </p:sp>
      <p:sp>
        <p:nvSpPr>
          <p:cNvPr id="22" name="Shape 19"/>
          <p:cNvSpPr/>
          <p:nvPr/>
        </p:nvSpPr>
        <p:spPr>
          <a:xfrm>
            <a:off x="8394192" y="886968"/>
            <a:ext cx="3145536" cy="5358384"/>
          </a:xfrm>
          <a:prstGeom prst="roundRect">
            <a:avLst>
              <a:gd name="adj" fmla="val 4360"/>
            </a:avLst>
          </a:prstGeom>
          <a:solidFill>
            <a:srgbClr val="FFFFFF"/>
          </a:solidFill>
          <a:ln w="12700">
            <a:solidFill>
              <a:srgbClr val="FFFFFF">
                <a:alpha val="0"/>
              </a:srgbClr>
            </a:solidFill>
            <a:prstDash val="solid"/>
          </a:ln>
        </p:spPr>
        <p:txBody>
          <a:bodyPr/>
          <a:lstStyle/>
          <a:p>
            <a:endParaRPr lang="en-US"/>
          </a:p>
        </p:txBody>
      </p:sp>
      <p:sp>
        <p:nvSpPr>
          <p:cNvPr id="23" name="Shape 20"/>
          <p:cNvSpPr/>
          <p:nvPr/>
        </p:nvSpPr>
        <p:spPr>
          <a:xfrm>
            <a:off x="9454896" y="850392"/>
            <a:ext cx="1014984" cy="173736"/>
          </a:xfrm>
          <a:prstGeom prst="roundRect">
            <a:avLst>
              <a:gd name="adj" fmla="val 78947"/>
            </a:avLst>
          </a:prstGeom>
          <a:solidFill>
            <a:srgbClr val="071522"/>
          </a:solidFill>
          <a:ln w="12700">
            <a:solidFill>
              <a:srgbClr val="071522">
                <a:alpha val="0"/>
              </a:srgbClr>
            </a:solidFill>
            <a:prstDash val="solid"/>
          </a:ln>
        </p:spPr>
        <p:txBody>
          <a:bodyPr/>
          <a:lstStyle/>
          <a:p>
            <a:endParaRPr lang="en-US"/>
          </a:p>
        </p:txBody>
      </p:sp>
      <p:sp>
        <p:nvSpPr>
          <p:cNvPr id="24" name="Text 21"/>
          <p:cNvSpPr/>
          <p:nvPr/>
        </p:nvSpPr>
        <p:spPr>
          <a:xfrm>
            <a:off x="8558784" y="978408"/>
            <a:ext cx="566928" cy="210312"/>
          </a:xfrm>
          <a:prstGeom prst="rect">
            <a:avLst/>
          </a:prstGeom>
          <a:noFill/>
          <a:ln/>
        </p:spPr>
        <p:txBody>
          <a:bodyPr wrap="square" lIns="0" tIns="0" rIns="0" bIns="0" rtlCol="0" anchor="ctr">
            <a:normAutofit/>
          </a:bodyPr>
          <a:lstStyle/>
          <a:p>
            <a:pPr marL="0" indent="0">
              <a:buNone/>
            </a:pPr>
            <a:r>
              <a:rPr lang="en-US" sz="1000" b="1" dirty="0">
                <a:solidFill>
                  <a:srgbClr val="2A4157"/>
                </a:solidFill>
                <a:latin typeface="Lato Heavy" pitchFamily="34" charset="0"/>
                <a:ea typeface="Lato Heavy" pitchFamily="34" charset="-122"/>
                <a:cs typeface="Lato Heavy" pitchFamily="34" charset="-120"/>
              </a:rPr>
              <a:t>9:41</a:t>
            </a:r>
            <a:endParaRPr lang="en-US" sz="1000" dirty="0"/>
          </a:p>
        </p:txBody>
      </p:sp>
      <p:sp>
        <p:nvSpPr>
          <p:cNvPr id="25" name="Text 22"/>
          <p:cNvSpPr/>
          <p:nvPr/>
        </p:nvSpPr>
        <p:spPr>
          <a:xfrm>
            <a:off x="10561320" y="978408"/>
            <a:ext cx="685800" cy="210312"/>
          </a:xfrm>
          <a:prstGeom prst="rect">
            <a:avLst/>
          </a:prstGeom>
          <a:noFill/>
          <a:ln/>
        </p:spPr>
        <p:txBody>
          <a:bodyPr wrap="square" lIns="0" tIns="0" rIns="0" bIns="0" rtlCol="0" anchor="ctr">
            <a:normAutofit/>
          </a:bodyPr>
          <a:lstStyle/>
          <a:p>
            <a:pPr marL="0" indent="0" algn="r">
              <a:buNone/>
            </a:pPr>
            <a:r>
              <a:rPr lang="en-US" sz="900" b="1" dirty="0">
                <a:solidFill>
                  <a:srgbClr val="2A4157"/>
                </a:solidFill>
                <a:latin typeface="Lato Heavy" pitchFamily="34" charset="0"/>
                <a:ea typeface="Lato Heavy" pitchFamily="34" charset="-122"/>
                <a:cs typeface="Lato Heavy" pitchFamily="34" charset="-120"/>
              </a:rPr>
              <a:t>▰  Wi-Fi</a:t>
            </a:r>
            <a:endParaRPr lang="en-US" sz="900" dirty="0"/>
          </a:p>
        </p:txBody>
      </p:sp>
      <p:sp>
        <p:nvSpPr>
          <p:cNvPr id="26" name="Text 23"/>
          <p:cNvSpPr/>
          <p:nvPr/>
        </p:nvSpPr>
        <p:spPr>
          <a:xfrm>
            <a:off x="8485632" y="1298448"/>
            <a:ext cx="2962656" cy="283464"/>
          </a:xfrm>
          <a:prstGeom prst="rect">
            <a:avLst/>
          </a:prstGeom>
          <a:noFill/>
          <a:ln/>
        </p:spPr>
        <p:txBody>
          <a:bodyPr wrap="square" lIns="0" tIns="0" rIns="0" bIns="0" rtlCol="0" anchor="ctr">
            <a:normAutofit/>
          </a:bodyPr>
          <a:lstStyle/>
          <a:p>
            <a:pPr marL="0" indent="0" algn="ctr">
              <a:buNone/>
            </a:pPr>
            <a:r>
              <a:rPr lang="en-US" sz="1370" b="1" dirty="0">
                <a:solidFill>
                  <a:srgbClr val="082B4E"/>
                </a:solidFill>
                <a:latin typeface="Lato Heavy" pitchFamily="34" charset="0"/>
                <a:ea typeface="Lato Heavy" pitchFamily="34" charset="-122"/>
                <a:cs typeface="Lato Heavy" pitchFamily="34" charset="-120"/>
              </a:rPr>
              <a:t>On Top of the World</a:t>
            </a:r>
            <a:endParaRPr lang="en-US" sz="1370" dirty="0"/>
          </a:p>
        </p:txBody>
      </p:sp>
      <p:pic>
        <p:nvPicPr>
          <p:cNvPr id="27" name="Image 1" descr="/mnt/data/barnaby_hd_work/otow_gradient.png"/>
          <p:cNvPicPr>
            <a:picLocks noChangeAspect="1"/>
          </p:cNvPicPr>
          <p:nvPr/>
        </p:nvPicPr>
        <p:blipFill>
          <a:blip r:embed="rId4"/>
          <a:stretch>
            <a:fillRect/>
          </a:stretch>
        </p:blipFill>
        <p:spPr>
          <a:xfrm>
            <a:off x="8403336" y="1691640"/>
            <a:ext cx="3127248" cy="804672"/>
          </a:xfrm>
          <a:prstGeom prst="rect">
            <a:avLst/>
          </a:prstGeom>
        </p:spPr>
      </p:pic>
      <p:sp>
        <p:nvSpPr>
          <p:cNvPr id="28" name="Text 24"/>
          <p:cNvSpPr/>
          <p:nvPr/>
        </p:nvSpPr>
        <p:spPr>
          <a:xfrm>
            <a:off x="8586216" y="1783080"/>
            <a:ext cx="274320" cy="27432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Lato Heavy" pitchFamily="34" charset="0"/>
                <a:ea typeface="Lato Heavy" pitchFamily="34" charset="-122"/>
                <a:cs typeface="Lato Heavy" pitchFamily="34" charset="-120"/>
              </a:rPr>
              <a:t>≡</a:t>
            </a:r>
            <a:endParaRPr lang="en-US" sz="1900" dirty="0"/>
          </a:p>
        </p:txBody>
      </p:sp>
      <p:sp>
        <p:nvSpPr>
          <p:cNvPr id="29" name="Text 25"/>
          <p:cNvSpPr/>
          <p:nvPr/>
        </p:nvSpPr>
        <p:spPr>
          <a:xfrm>
            <a:off x="9025128" y="1810512"/>
            <a:ext cx="1920240" cy="201168"/>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Lato Heavy" pitchFamily="34" charset="0"/>
                <a:ea typeface="Lato Heavy" pitchFamily="34" charset="-122"/>
                <a:cs typeface="Lato Heavy" pitchFamily="34" charset="-120"/>
              </a:rPr>
              <a:t>On Top of the World</a:t>
            </a:r>
            <a:endParaRPr lang="en-US" sz="1200" dirty="0"/>
          </a:p>
        </p:txBody>
      </p:sp>
      <p:sp>
        <p:nvSpPr>
          <p:cNvPr id="30" name="Text 26"/>
          <p:cNvSpPr/>
          <p:nvPr/>
        </p:nvSpPr>
        <p:spPr>
          <a:xfrm>
            <a:off x="8567928" y="2148840"/>
            <a:ext cx="2377440" cy="301752"/>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Lato Heavy" pitchFamily="34" charset="0"/>
                <a:ea typeface="Lato Heavy" pitchFamily="34" charset="-122"/>
                <a:cs typeface="Lato Heavy" pitchFamily="34" charset="-120"/>
              </a:rPr>
              <a:t>RESERVE</a:t>
            </a:r>
            <a:endParaRPr lang="en-US" sz="1800" dirty="0"/>
          </a:p>
        </p:txBody>
      </p:sp>
      <p:sp>
        <p:nvSpPr>
          <p:cNvPr id="31" name="Shape 27"/>
          <p:cNvSpPr/>
          <p:nvPr/>
        </p:nvSpPr>
        <p:spPr>
          <a:xfrm>
            <a:off x="8449056" y="5705856"/>
            <a:ext cx="3035808" cy="420624"/>
          </a:xfrm>
          <a:prstGeom prst="roundRect">
            <a:avLst>
              <a:gd name="adj" fmla="val 32609"/>
            </a:avLst>
          </a:prstGeom>
          <a:solidFill>
            <a:srgbClr val="F8FBFE"/>
          </a:solidFill>
          <a:ln w="12700">
            <a:solidFill>
              <a:srgbClr val="F8FBFE">
                <a:alpha val="0"/>
              </a:srgbClr>
            </a:solidFill>
            <a:prstDash val="solid"/>
          </a:ln>
        </p:spPr>
        <p:txBody>
          <a:bodyPr/>
          <a:lstStyle/>
          <a:p>
            <a:endParaRPr lang="en-US"/>
          </a:p>
        </p:txBody>
      </p:sp>
      <p:sp>
        <p:nvSpPr>
          <p:cNvPr id="32" name="Text 28"/>
          <p:cNvSpPr/>
          <p:nvPr/>
        </p:nvSpPr>
        <p:spPr>
          <a:xfrm>
            <a:off x="8677656"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3" name="Text 29"/>
          <p:cNvSpPr/>
          <p:nvPr/>
        </p:nvSpPr>
        <p:spPr>
          <a:xfrm>
            <a:off x="8595360"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Home</a:t>
            </a:r>
            <a:endParaRPr lang="en-US" sz="820" dirty="0"/>
          </a:p>
        </p:txBody>
      </p:sp>
      <p:sp>
        <p:nvSpPr>
          <p:cNvPr id="34" name="Text 30"/>
          <p:cNvSpPr/>
          <p:nvPr/>
        </p:nvSpPr>
        <p:spPr>
          <a:xfrm>
            <a:off x="9372600"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5" name="Text 31"/>
          <p:cNvSpPr/>
          <p:nvPr/>
        </p:nvSpPr>
        <p:spPr>
          <a:xfrm>
            <a:off x="9290304"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Outings</a:t>
            </a:r>
            <a:endParaRPr lang="en-US" sz="820" dirty="0"/>
          </a:p>
        </p:txBody>
      </p:sp>
      <p:sp>
        <p:nvSpPr>
          <p:cNvPr id="36" name="Text 32"/>
          <p:cNvSpPr/>
          <p:nvPr/>
        </p:nvSpPr>
        <p:spPr>
          <a:xfrm>
            <a:off x="10067544"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7" name="Text 33"/>
          <p:cNvSpPr/>
          <p:nvPr/>
        </p:nvSpPr>
        <p:spPr>
          <a:xfrm>
            <a:off x="9985248"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Messages</a:t>
            </a:r>
            <a:endParaRPr lang="en-US" sz="820" dirty="0"/>
          </a:p>
        </p:txBody>
      </p:sp>
      <p:sp>
        <p:nvSpPr>
          <p:cNvPr id="38" name="Text 34"/>
          <p:cNvSpPr/>
          <p:nvPr/>
        </p:nvSpPr>
        <p:spPr>
          <a:xfrm>
            <a:off x="10762488"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9" name="Text 35"/>
          <p:cNvSpPr/>
          <p:nvPr/>
        </p:nvSpPr>
        <p:spPr>
          <a:xfrm>
            <a:off x="10680192"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More</a:t>
            </a:r>
            <a:endParaRPr lang="en-US" sz="820" dirty="0"/>
          </a:p>
        </p:txBody>
      </p:sp>
      <p:sp>
        <p:nvSpPr>
          <p:cNvPr id="40" name="Text 36"/>
          <p:cNvSpPr/>
          <p:nvPr/>
        </p:nvSpPr>
        <p:spPr>
          <a:xfrm>
            <a:off x="8485632" y="2587752"/>
            <a:ext cx="2962656" cy="338328"/>
          </a:xfrm>
          <a:prstGeom prst="rect">
            <a:avLst/>
          </a:prstGeom>
          <a:noFill/>
          <a:ln/>
        </p:spPr>
        <p:txBody>
          <a:bodyPr wrap="square" lIns="0" tIns="0" rIns="0" bIns="0" rtlCol="0" anchor="ctr">
            <a:normAutofit/>
          </a:bodyPr>
          <a:lstStyle/>
          <a:p>
            <a:pPr marL="0" indent="0">
              <a:buNone/>
            </a:pPr>
            <a:r>
              <a:rPr lang="en-US" sz="1700" b="1" dirty="0">
                <a:solidFill>
                  <a:srgbClr val="082B4E"/>
                </a:solidFill>
                <a:latin typeface="Lato Heavy" pitchFamily="34" charset="0"/>
                <a:ea typeface="Lato Heavy" pitchFamily="34" charset="-122"/>
                <a:cs typeface="Lato Heavy" pitchFamily="34" charset="-120"/>
              </a:rPr>
              <a:t>Book an amenity</a:t>
            </a:r>
            <a:endParaRPr lang="en-US" sz="1700" dirty="0"/>
          </a:p>
        </p:txBody>
      </p:sp>
      <p:sp>
        <p:nvSpPr>
          <p:cNvPr id="41" name="Text 37"/>
          <p:cNvSpPr/>
          <p:nvPr/>
        </p:nvSpPr>
        <p:spPr>
          <a:xfrm>
            <a:off x="8485632" y="2907792"/>
            <a:ext cx="2962656" cy="228600"/>
          </a:xfrm>
          <a:prstGeom prst="rect">
            <a:avLst/>
          </a:prstGeom>
          <a:noFill/>
          <a:ln/>
        </p:spPr>
        <p:txBody>
          <a:bodyPr wrap="square" lIns="0" tIns="0" rIns="0" bIns="0" rtlCol="0" anchor="ctr">
            <a:normAutofit/>
          </a:bodyPr>
          <a:lstStyle/>
          <a:p>
            <a:pPr marL="0" indent="0">
              <a:buNone/>
            </a:pPr>
            <a:r>
              <a:rPr lang="en-US" sz="1000" dirty="0">
                <a:solidFill>
                  <a:srgbClr val="617B94"/>
                </a:solidFill>
                <a:latin typeface="Lato" pitchFamily="34" charset="0"/>
                <a:ea typeface="Lato" pitchFamily="34" charset="-122"/>
                <a:cs typeface="Lato" pitchFamily="34" charset="-120"/>
              </a:rPr>
              <a:t>Pickleball court  •  sample flow</a:t>
            </a:r>
            <a:endParaRPr lang="en-US" sz="1000" dirty="0"/>
          </a:p>
        </p:txBody>
      </p:sp>
      <p:sp>
        <p:nvSpPr>
          <p:cNvPr id="42" name="Shape 38"/>
          <p:cNvSpPr/>
          <p:nvPr/>
        </p:nvSpPr>
        <p:spPr>
          <a:xfrm>
            <a:off x="8485632" y="3310128"/>
            <a:ext cx="2962656" cy="521208"/>
          </a:xfrm>
          <a:prstGeom prst="roundRect">
            <a:avLst>
              <a:gd name="adj" fmla="val 21053"/>
            </a:avLst>
          </a:prstGeom>
          <a:solidFill>
            <a:srgbClr val="FFFFFF"/>
          </a:solidFill>
          <a:ln w="12700">
            <a:solidFill>
              <a:srgbClr val="DDE7F0"/>
            </a:solidFill>
            <a:prstDash val="solid"/>
          </a:ln>
        </p:spPr>
        <p:txBody>
          <a:bodyPr/>
          <a:lstStyle/>
          <a:p>
            <a:endParaRPr lang="en-US"/>
          </a:p>
        </p:txBody>
      </p:sp>
      <p:sp>
        <p:nvSpPr>
          <p:cNvPr id="43" name="Text 39"/>
          <p:cNvSpPr/>
          <p:nvPr/>
        </p:nvSpPr>
        <p:spPr>
          <a:xfrm>
            <a:off x="8613648" y="3419856"/>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Choose a date</a:t>
            </a:r>
            <a:endParaRPr lang="en-US" sz="1200" dirty="0"/>
          </a:p>
        </p:txBody>
      </p:sp>
      <p:sp>
        <p:nvSpPr>
          <p:cNvPr id="44" name="Text 40"/>
          <p:cNvSpPr/>
          <p:nvPr/>
        </p:nvSpPr>
        <p:spPr>
          <a:xfrm>
            <a:off x="8613648" y="3611880"/>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Tuesday · November 3</a:t>
            </a:r>
            <a:endParaRPr lang="en-US" sz="950" dirty="0"/>
          </a:p>
        </p:txBody>
      </p:sp>
      <p:sp>
        <p:nvSpPr>
          <p:cNvPr id="45" name="Shape 41"/>
          <p:cNvSpPr/>
          <p:nvPr/>
        </p:nvSpPr>
        <p:spPr>
          <a:xfrm>
            <a:off x="8485632" y="3950208"/>
            <a:ext cx="2962656" cy="521208"/>
          </a:xfrm>
          <a:prstGeom prst="roundRect">
            <a:avLst>
              <a:gd name="adj" fmla="val 21053"/>
            </a:avLst>
          </a:prstGeom>
          <a:solidFill>
            <a:srgbClr val="FFFFFF"/>
          </a:solidFill>
          <a:ln w="12700">
            <a:solidFill>
              <a:srgbClr val="DDE7F0"/>
            </a:solidFill>
            <a:prstDash val="solid"/>
          </a:ln>
        </p:spPr>
        <p:txBody>
          <a:bodyPr/>
          <a:lstStyle/>
          <a:p>
            <a:endParaRPr lang="en-US"/>
          </a:p>
        </p:txBody>
      </p:sp>
      <p:sp>
        <p:nvSpPr>
          <p:cNvPr id="46" name="Text 42"/>
          <p:cNvSpPr/>
          <p:nvPr/>
        </p:nvSpPr>
        <p:spPr>
          <a:xfrm>
            <a:off x="8613648" y="4059936"/>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Choose a time</a:t>
            </a:r>
            <a:endParaRPr lang="en-US" sz="1200" dirty="0"/>
          </a:p>
        </p:txBody>
      </p:sp>
      <p:sp>
        <p:nvSpPr>
          <p:cNvPr id="47" name="Text 43"/>
          <p:cNvSpPr/>
          <p:nvPr/>
        </p:nvSpPr>
        <p:spPr>
          <a:xfrm>
            <a:off x="8613648" y="4251960"/>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10:00 AM – 11:00 AM</a:t>
            </a:r>
            <a:endParaRPr lang="en-US" sz="950" dirty="0"/>
          </a:p>
        </p:txBody>
      </p:sp>
      <p:sp>
        <p:nvSpPr>
          <p:cNvPr id="48" name="Shape 44"/>
          <p:cNvSpPr/>
          <p:nvPr/>
        </p:nvSpPr>
        <p:spPr>
          <a:xfrm>
            <a:off x="8485632" y="4590288"/>
            <a:ext cx="2962656" cy="521208"/>
          </a:xfrm>
          <a:prstGeom prst="roundRect">
            <a:avLst>
              <a:gd name="adj" fmla="val 21053"/>
            </a:avLst>
          </a:prstGeom>
          <a:solidFill>
            <a:srgbClr val="FFFFFF"/>
          </a:solidFill>
          <a:ln w="12700">
            <a:solidFill>
              <a:srgbClr val="DDE7F0"/>
            </a:solidFill>
            <a:prstDash val="solid"/>
          </a:ln>
        </p:spPr>
        <p:txBody>
          <a:bodyPr/>
          <a:lstStyle/>
          <a:p>
            <a:endParaRPr lang="en-US"/>
          </a:p>
        </p:txBody>
      </p:sp>
      <p:sp>
        <p:nvSpPr>
          <p:cNvPr id="49" name="Text 45"/>
          <p:cNvSpPr/>
          <p:nvPr/>
        </p:nvSpPr>
        <p:spPr>
          <a:xfrm>
            <a:off x="8613648" y="4700016"/>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Invite a neighbor</a:t>
            </a:r>
            <a:endParaRPr lang="en-US" sz="1200" dirty="0"/>
          </a:p>
        </p:txBody>
      </p:sp>
      <p:sp>
        <p:nvSpPr>
          <p:cNvPr id="50" name="Text 46"/>
          <p:cNvSpPr/>
          <p:nvPr/>
        </p:nvSpPr>
        <p:spPr>
          <a:xfrm>
            <a:off x="8613648" y="4892040"/>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Optional</a:t>
            </a:r>
            <a:endParaRPr lang="en-US" sz="950" dirty="0"/>
          </a:p>
        </p:txBody>
      </p:sp>
      <p:sp>
        <p:nvSpPr>
          <p:cNvPr id="51" name="Shape 47"/>
          <p:cNvSpPr/>
          <p:nvPr/>
        </p:nvSpPr>
        <p:spPr>
          <a:xfrm>
            <a:off x="8869680" y="5422392"/>
            <a:ext cx="2212848" cy="265176"/>
          </a:xfrm>
          <a:prstGeom prst="roundRect">
            <a:avLst>
              <a:gd name="adj" fmla="val 34483"/>
            </a:avLst>
          </a:prstGeom>
          <a:solidFill>
            <a:srgbClr val="057BEE"/>
          </a:solidFill>
          <a:ln w="12700">
            <a:solidFill>
              <a:srgbClr val="057BEE"/>
            </a:solidFill>
            <a:prstDash val="solid"/>
          </a:ln>
        </p:spPr>
        <p:txBody>
          <a:bodyPr/>
          <a:lstStyle/>
          <a:p>
            <a:endParaRPr lang="en-US"/>
          </a:p>
        </p:txBody>
      </p:sp>
      <p:sp>
        <p:nvSpPr>
          <p:cNvPr id="52" name="Text 48"/>
          <p:cNvSpPr/>
          <p:nvPr/>
        </p:nvSpPr>
        <p:spPr>
          <a:xfrm>
            <a:off x="8897112" y="5468112"/>
            <a:ext cx="2157984" cy="146304"/>
          </a:xfrm>
          <a:prstGeom prst="rect">
            <a:avLst/>
          </a:prstGeom>
          <a:noFill/>
          <a:ln/>
        </p:spPr>
        <p:txBody>
          <a:bodyPr wrap="square" lIns="0" tIns="0" rIns="0" bIns="0" rtlCol="0" anchor="ctr">
            <a:normAutofit/>
          </a:bodyPr>
          <a:lstStyle/>
          <a:p>
            <a:pPr marL="0" indent="0" algn="ctr">
              <a:buNone/>
            </a:pPr>
            <a:r>
              <a:rPr lang="en-US" sz="880" b="1" dirty="0">
                <a:solidFill>
                  <a:srgbClr val="FFFFFF"/>
                </a:solidFill>
                <a:latin typeface="Lato Heavy" pitchFamily="34" charset="0"/>
                <a:ea typeface="Lato Heavy" pitchFamily="34" charset="-122"/>
                <a:cs typeface="Lato Heavy" pitchFamily="34" charset="-120"/>
              </a:rPr>
              <a:t>Confirm reservation</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722376" y="886968"/>
            <a:ext cx="6583680" cy="246888"/>
          </a:xfrm>
          <a:prstGeom prst="rect">
            <a:avLst/>
          </a:prstGeom>
          <a:noFill/>
          <a:ln/>
        </p:spPr>
        <p:txBody>
          <a:bodyPr wrap="square" lIns="0" tIns="0" rIns="0" bIns="0" rtlCol="0" anchor="ctr">
            <a:normAutofit/>
          </a:bodyPr>
          <a:lstStyle/>
          <a:p>
            <a:pPr marL="0" indent="0">
              <a:buNone/>
            </a:pPr>
            <a:r>
              <a:rPr lang="en-US" sz="1200" b="1" kern="0" spc="70" dirty="0">
                <a:solidFill>
                  <a:srgbClr val="127A91"/>
                </a:solidFill>
                <a:latin typeface="Lato Heavy" pitchFamily="34" charset="0"/>
                <a:ea typeface="Lato Heavy" pitchFamily="34" charset="-122"/>
                <a:cs typeface="Lato Heavy" pitchFamily="34" charset="-120"/>
              </a:rPr>
              <a:t>BARNABY  /  CALENDAR</a:t>
            </a:r>
            <a:endParaRPr lang="en-US" sz="1200" dirty="0"/>
          </a:p>
        </p:txBody>
      </p:sp>
      <p:sp>
        <p:nvSpPr>
          <p:cNvPr id="6" name="Text 3"/>
          <p:cNvSpPr/>
          <p:nvPr/>
        </p:nvSpPr>
        <p:spPr>
          <a:xfrm>
            <a:off x="713232" y="1179576"/>
            <a:ext cx="7315200" cy="630936"/>
          </a:xfrm>
          <a:prstGeom prst="rect">
            <a:avLst/>
          </a:prstGeom>
          <a:noFill/>
          <a:ln/>
        </p:spPr>
        <p:txBody>
          <a:bodyPr wrap="square" lIns="0" tIns="0" rIns="0" bIns="0" rtlCol="0" anchor="ctr">
            <a:normAutofit/>
          </a:bodyPr>
          <a:lstStyle/>
          <a:p>
            <a:pPr marL="0" indent="0">
              <a:buNone/>
            </a:pPr>
            <a:r>
              <a:rPr lang="en-US" sz="3400" b="1" dirty="0">
                <a:solidFill>
                  <a:srgbClr val="082B4E"/>
                </a:solidFill>
                <a:latin typeface="Lato Heavy" pitchFamily="34" charset="0"/>
                <a:ea typeface="Lato Heavy" pitchFamily="34" charset="-122"/>
                <a:cs typeface="Lato Heavy" pitchFamily="34" charset="-120"/>
              </a:rPr>
              <a:t>YOUR COMMUNITY CALENDAR</a:t>
            </a:r>
            <a:endParaRPr lang="en-US" sz="3400" dirty="0"/>
          </a:p>
        </p:txBody>
      </p:sp>
      <p:sp>
        <p:nvSpPr>
          <p:cNvPr id="7" name="Text 4"/>
          <p:cNvSpPr/>
          <p:nvPr/>
        </p:nvSpPr>
        <p:spPr>
          <a:xfrm>
            <a:off x="731520" y="1856232"/>
            <a:ext cx="6858000" cy="448056"/>
          </a:xfrm>
          <a:prstGeom prst="rect">
            <a:avLst/>
          </a:prstGeom>
          <a:noFill/>
          <a:ln/>
        </p:spPr>
        <p:txBody>
          <a:bodyPr wrap="square" lIns="0" tIns="0" rIns="0" bIns="0" rtlCol="0" anchor="ctr">
            <a:normAutofit/>
          </a:bodyPr>
          <a:lstStyle/>
          <a:p>
            <a:pPr marL="0" indent="0">
              <a:buNone/>
            </a:pPr>
            <a:r>
              <a:rPr lang="en-US" sz="1950" dirty="0">
                <a:solidFill>
                  <a:srgbClr val="617B94"/>
                </a:solidFill>
                <a:latin typeface="Lato" pitchFamily="34" charset="0"/>
                <a:ea typeface="Lato" pitchFamily="34" charset="-122"/>
                <a:cs typeface="Lato" pitchFamily="34" charset="-120"/>
              </a:rPr>
              <a:t>A better view of what is coming up.</a:t>
            </a:r>
            <a:endParaRPr lang="en-US" sz="1950" dirty="0"/>
          </a:p>
        </p:txBody>
      </p:sp>
      <p:sp>
        <p:nvSpPr>
          <p:cNvPr id="8" name="Shape 5"/>
          <p:cNvSpPr/>
          <p:nvPr/>
        </p:nvSpPr>
        <p:spPr>
          <a:xfrm>
            <a:off x="731520" y="2770632"/>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9" name="Text 6"/>
          <p:cNvSpPr/>
          <p:nvPr/>
        </p:nvSpPr>
        <p:spPr>
          <a:xfrm>
            <a:off x="1024128" y="2651760"/>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Activity schedules and resident clubs</a:t>
            </a:r>
            <a:endParaRPr lang="en-US" sz="2100" dirty="0"/>
          </a:p>
        </p:txBody>
      </p:sp>
      <p:sp>
        <p:nvSpPr>
          <p:cNvPr id="10" name="Shape 7"/>
          <p:cNvSpPr/>
          <p:nvPr/>
        </p:nvSpPr>
        <p:spPr>
          <a:xfrm>
            <a:off x="731520" y="3575304"/>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1" name="Text 8"/>
          <p:cNvSpPr/>
          <p:nvPr/>
        </p:nvSpPr>
        <p:spPr>
          <a:xfrm>
            <a:off x="1024128" y="3456432"/>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Reservations and upcoming events</a:t>
            </a:r>
            <a:endParaRPr lang="en-US" sz="2100" dirty="0"/>
          </a:p>
        </p:txBody>
      </p:sp>
      <p:sp>
        <p:nvSpPr>
          <p:cNvPr id="12" name="Shape 9"/>
          <p:cNvSpPr/>
          <p:nvPr/>
        </p:nvSpPr>
        <p:spPr>
          <a:xfrm>
            <a:off x="731520" y="4379976"/>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3" name="Text 10"/>
          <p:cNvSpPr/>
          <p:nvPr/>
        </p:nvSpPr>
        <p:spPr>
          <a:xfrm>
            <a:off x="1024128" y="4261104"/>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Encourage participation every day</a:t>
            </a:r>
            <a:endParaRPr lang="en-US" sz="2100" dirty="0"/>
          </a:p>
        </p:txBody>
      </p:sp>
      <p:sp>
        <p:nvSpPr>
          <p:cNvPr id="14" name="Shape 11"/>
          <p:cNvSpPr/>
          <p:nvPr/>
        </p:nvSpPr>
        <p:spPr>
          <a:xfrm>
            <a:off x="713232" y="5385816"/>
            <a:ext cx="6638544" cy="822960"/>
          </a:xfrm>
          <a:prstGeom prst="roundRect">
            <a:avLst>
              <a:gd name="adj" fmla="val 16667"/>
            </a:avLst>
          </a:prstGeom>
          <a:solidFill>
            <a:srgbClr val="EAF5FF"/>
          </a:solidFill>
          <a:ln w="12700">
            <a:solidFill>
              <a:srgbClr val="CDE3F6"/>
            </a:solidFill>
            <a:prstDash val="solid"/>
          </a:ln>
        </p:spPr>
        <p:txBody>
          <a:bodyPr/>
          <a:lstStyle/>
          <a:p>
            <a:endParaRPr lang="en-US"/>
          </a:p>
        </p:txBody>
      </p:sp>
      <p:sp>
        <p:nvSpPr>
          <p:cNvPr id="15" name="Shape 12"/>
          <p:cNvSpPr/>
          <p:nvPr/>
        </p:nvSpPr>
        <p:spPr>
          <a:xfrm>
            <a:off x="914400" y="5623560"/>
            <a:ext cx="256032" cy="256032"/>
          </a:xfrm>
          <a:prstGeom prst="ellipse">
            <a:avLst/>
          </a:prstGeom>
          <a:solidFill>
            <a:srgbClr val="057BEE"/>
          </a:solidFill>
          <a:ln w="12700">
            <a:solidFill>
              <a:srgbClr val="057BEE">
                <a:alpha val="0"/>
              </a:srgbClr>
            </a:solidFill>
            <a:prstDash val="solid"/>
          </a:ln>
        </p:spPr>
        <p:txBody>
          <a:bodyPr/>
          <a:lstStyle/>
          <a:p>
            <a:endParaRPr lang="en-US"/>
          </a:p>
        </p:txBody>
      </p:sp>
      <p:sp>
        <p:nvSpPr>
          <p:cNvPr id="16" name="Text 13"/>
          <p:cNvSpPr/>
          <p:nvPr/>
        </p:nvSpPr>
        <p:spPr>
          <a:xfrm>
            <a:off x="958291" y="5623560"/>
            <a:ext cx="1828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Lato Heavy" pitchFamily="34" charset="0"/>
                <a:ea typeface="Lato Heavy" pitchFamily="34" charset="-122"/>
                <a:cs typeface="Lato Heavy" pitchFamily="34" charset="-120"/>
              </a:rPr>
              <a:t>→</a:t>
            </a:r>
            <a:endParaRPr lang="en-US" sz="1400" dirty="0"/>
          </a:p>
        </p:txBody>
      </p:sp>
      <p:sp>
        <p:nvSpPr>
          <p:cNvPr id="17" name="Text 14"/>
          <p:cNvSpPr/>
          <p:nvPr/>
        </p:nvSpPr>
        <p:spPr>
          <a:xfrm>
            <a:off x="1307592" y="5486400"/>
            <a:ext cx="5824728" cy="612648"/>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Help residents discover more of their community, more often.</a:t>
            </a:r>
            <a:endParaRPr lang="en-US" sz="1850" dirty="0"/>
          </a:p>
        </p:txBody>
      </p:sp>
      <p:sp>
        <p:nvSpPr>
          <p:cNvPr id="18" name="Text 15"/>
          <p:cNvSpPr/>
          <p:nvPr/>
        </p:nvSpPr>
        <p:spPr>
          <a:xfrm>
            <a:off x="10652760" y="6464808"/>
            <a:ext cx="1051560" cy="182880"/>
          </a:xfrm>
          <a:prstGeom prst="rect">
            <a:avLst/>
          </a:prstGeom>
          <a:noFill/>
          <a:ln/>
        </p:spPr>
        <p:txBody>
          <a:bodyPr wrap="square" lIns="0" tIns="0" rIns="0" bIns="0" rtlCol="0" anchor="ctr">
            <a:normAutofit/>
          </a:bodyPr>
          <a:lstStyle/>
          <a:p>
            <a:pPr marL="0" indent="0" algn="r">
              <a:buNone/>
            </a:pPr>
            <a:r>
              <a:rPr lang="en-US" sz="1000" b="1" dirty="0">
                <a:solidFill>
                  <a:srgbClr val="617B94"/>
                </a:solidFill>
                <a:latin typeface="Lato Heavy" pitchFamily="34" charset="0"/>
                <a:ea typeface="Lato Heavy" pitchFamily="34" charset="-122"/>
                <a:cs typeface="Lato Heavy" pitchFamily="34" charset="-120"/>
              </a:rPr>
              <a:t>06  /  14</a:t>
            </a:r>
            <a:endParaRPr lang="en-US" sz="1000" dirty="0"/>
          </a:p>
        </p:txBody>
      </p:sp>
      <p:sp>
        <p:nvSpPr>
          <p:cNvPr id="19" name="Text 16"/>
          <p:cNvSpPr/>
          <p:nvPr/>
        </p:nvSpPr>
        <p:spPr>
          <a:xfrm>
            <a:off x="731520" y="6446520"/>
            <a:ext cx="9052560" cy="210312"/>
          </a:xfrm>
          <a:prstGeom prst="rect">
            <a:avLst/>
          </a:prstGeom>
          <a:noFill/>
          <a:ln/>
        </p:spPr>
        <p:txBody>
          <a:bodyPr wrap="square" lIns="0" tIns="0" rIns="0" bIns="0" rtlCol="0" anchor="ctr">
            <a:normAutofit/>
          </a:bodyPr>
          <a:lstStyle/>
          <a:p>
            <a:pPr marL="0" indent="0">
              <a:buNone/>
            </a:pPr>
            <a:r>
              <a:rPr lang="en-US" sz="940" dirty="0">
                <a:solidFill>
                  <a:srgbClr val="617B94"/>
                </a:solidFill>
                <a:latin typeface="Lato" pitchFamily="34" charset="0"/>
                <a:ea typeface="Lato" pitchFamily="34" charset="-122"/>
                <a:cs typeface="Lato" pitchFamily="34" charset="-120"/>
              </a:rPr>
              <a:t>ILLUSTRATIVE CONCEPT DEMO • ON TOP OF THE WORLD COMMUNITY HIGHLIGHTS • NOT OFFICIALLY AFFILIATED</a:t>
            </a:r>
            <a:endParaRPr lang="en-US" sz="940" dirty="0"/>
          </a:p>
        </p:txBody>
      </p:sp>
      <p:sp>
        <p:nvSpPr>
          <p:cNvPr id="20" name="Shape 17"/>
          <p:cNvSpPr/>
          <p:nvPr/>
        </p:nvSpPr>
        <p:spPr>
          <a:xfrm>
            <a:off x="8375904" y="886968"/>
            <a:ext cx="3328416" cy="5541264"/>
          </a:xfrm>
          <a:prstGeom prst="roundRect">
            <a:avLst>
              <a:gd name="adj" fmla="val 4121"/>
            </a:avLst>
          </a:prstGeom>
          <a:solidFill>
            <a:srgbClr val="D7E0EA"/>
          </a:solidFill>
          <a:ln w="12700">
            <a:solidFill>
              <a:srgbClr val="D7E0EA">
                <a:alpha val="0"/>
              </a:srgbClr>
            </a:solidFill>
            <a:prstDash val="solid"/>
          </a:ln>
        </p:spPr>
        <p:txBody>
          <a:bodyPr/>
          <a:lstStyle/>
          <a:p>
            <a:endParaRPr lang="en-US"/>
          </a:p>
        </p:txBody>
      </p:sp>
      <p:sp>
        <p:nvSpPr>
          <p:cNvPr id="21" name="Shape 18"/>
          <p:cNvSpPr/>
          <p:nvPr/>
        </p:nvSpPr>
        <p:spPr>
          <a:xfrm>
            <a:off x="8302752" y="795528"/>
            <a:ext cx="3328416" cy="5541264"/>
          </a:xfrm>
          <a:prstGeom prst="roundRect">
            <a:avLst>
              <a:gd name="adj" fmla="val 4121"/>
            </a:avLst>
          </a:prstGeom>
          <a:solidFill>
            <a:srgbClr val="071522"/>
          </a:solidFill>
          <a:ln w="12700">
            <a:solidFill>
              <a:srgbClr val="071522">
                <a:alpha val="0"/>
              </a:srgbClr>
            </a:solidFill>
            <a:prstDash val="solid"/>
          </a:ln>
        </p:spPr>
        <p:txBody>
          <a:bodyPr/>
          <a:lstStyle/>
          <a:p>
            <a:endParaRPr lang="en-US"/>
          </a:p>
        </p:txBody>
      </p:sp>
      <p:sp>
        <p:nvSpPr>
          <p:cNvPr id="22" name="Shape 19"/>
          <p:cNvSpPr/>
          <p:nvPr/>
        </p:nvSpPr>
        <p:spPr>
          <a:xfrm>
            <a:off x="8394192" y="886968"/>
            <a:ext cx="3145536" cy="5358384"/>
          </a:xfrm>
          <a:prstGeom prst="roundRect">
            <a:avLst>
              <a:gd name="adj" fmla="val 4360"/>
            </a:avLst>
          </a:prstGeom>
          <a:solidFill>
            <a:srgbClr val="FFFFFF"/>
          </a:solidFill>
          <a:ln w="12700">
            <a:solidFill>
              <a:srgbClr val="FFFFFF">
                <a:alpha val="0"/>
              </a:srgbClr>
            </a:solidFill>
            <a:prstDash val="solid"/>
          </a:ln>
        </p:spPr>
        <p:txBody>
          <a:bodyPr/>
          <a:lstStyle/>
          <a:p>
            <a:endParaRPr lang="en-US"/>
          </a:p>
        </p:txBody>
      </p:sp>
      <p:sp>
        <p:nvSpPr>
          <p:cNvPr id="23" name="Shape 20"/>
          <p:cNvSpPr/>
          <p:nvPr/>
        </p:nvSpPr>
        <p:spPr>
          <a:xfrm>
            <a:off x="9454896" y="850392"/>
            <a:ext cx="1014984" cy="173736"/>
          </a:xfrm>
          <a:prstGeom prst="roundRect">
            <a:avLst>
              <a:gd name="adj" fmla="val 78947"/>
            </a:avLst>
          </a:prstGeom>
          <a:solidFill>
            <a:srgbClr val="071522"/>
          </a:solidFill>
          <a:ln w="12700">
            <a:solidFill>
              <a:srgbClr val="071522">
                <a:alpha val="0"/>
              </a:srgbClr>
            </a:solidFill>
            <a:prstDash val="solid"/>
          </a:ln>
        </p:spPr>
        <p:txBody>
          <a:bodyPr/>
          <a:lstStyle/>
          <a:p>
            <a:endParaRPr lang="en-US"/>
          </a:p>
        </p:txBody>
      </p:sp>
      <p:sp>
        <p:nvSpPr>
          <p:cNvPr id="24" name="Text 21"/>
          <p:cNvSpPr/>
          <p:nvPr/>
        </p:nvSpPr>
        <p:spPr>
          <a:xfrm>
            <a:off x="8558784" y="978408"/>
            <a:ext cx="566928" cy="210312"/>
          </a:xfrm>
          <a:prstGeom prst="rect">
            <a:avLst/>
          </a:prstGeom>
          <a:noFill/>
          <a:ln/>
        </p:spPr>
        <p:txBody>
          <a:bodyPr wrap="square" lIns="0" tIns="0" rIns="0" bIns="0" rtlCol="0" anchor="ctr">
            <a:normAutofit/>
          </a:bodyPr>
          <a:lstStyle/>
          <a:p>
            <a:pPr marL="0" indent="0">
              <a:buNone/>
            </a:pPr>
            <a:r>
              <a:rPr lang="en-US" sz="1000" b="1" dirty="0">
                <a:solidFill>
                  <a:srgbClr val="2A4157"/>
                </a:solidFill>
                <a:latin typeface="Lato Heavy" pitchFamily="34" charset="0"/>
                <a:ea typeface="Lato Heavy" pitchFamily="34" charset="-122"/>
                <a:cs typeface="Lato Heavy" pitchFamily="34" charset="-120"/>
              </a:rPr>
              <a:t>9:41</a:t>
            </a:r>
            <a:endParaRPr lang="en-US" sz="1000" dirty="0"/>
          </a:p>
        </p:txBody>
      </p:sp>
      <p:sp>
        <p:nvSpPr>
          <p:cNvPr id="25" name="Text 22"/>
          <p:cNvSpPr/>
          <p:nvPr/>
        </p:nvSpPr>
        <p:spPr>
          <a:xfrm>
            <a:off x="10561320" y="978408"/>
            <a:ext cx="685800" cy="210312"/>
          </a:xfrm>
          <a:prstGeom prst="rect">
            <a:avLst/>
          </a:prstGeom>
          <a:noFill/>
          <a:ln/>
        </p:spPr>
        <p:txBody>
          <a:bodyPr wrap="square" lIns="0" tIns="0" rIns="0" bIns="0" rtlCol="0" anchor="ctr">
            <a:normAutofit/>
          </a:bodyPr>
          <a:lstStyle/>
          <a:p>
            <a:pPr marL="0" indent="0" algn="r">
              <a:buNone/>
            </a:pPr>
            <a:r>
              <a:rPr lang="en-US" sz="900" b="1" dirty="0">
                <a:solidFill>
                  <a:srgbClr val="2A4157"/>
                </a:solidFill>
                <a:latin typeface="Lato Heavy" pitchFamily="34" charset="0"/>
                <a:ea typeface="Lato Heavy" pitchFamily="34" charset="-122"/>
                <a:cs typeface="Lato Heavy" pitchFamily="34" charset="-120"/>
              </a:rPr>
              <a:t>▰  Wi-Fi</a:t>
            </a:r>
            <a:endParaRPr lang="en-US" sz="900" dirty="0"/>
          </a:p>
        </p:txBody>
      </p:sp>
      <p:sp>
        <p:nvSpPr>
          <p:cNvPr id="26" name="Text 23"/>
          <p:cNvSpPr/>
          <p:nvPr/>
        </p:nvSpPr>
        <p:spPr>
          <a:xfrm>
            <a:off x="8485632" y="1298448"/>
            <a:ext cx="2962656" cy="283464"/>
          </a:xfrm>
          <a:prstGeom prst="rect">
            <a:avLst/>
          </a:prstGeom>
          <a:noFill/>
          <a:ln/>
        </p:spPr>
        <p:txBody>
          <a:bodyPr wrap="square" lIns="0" tIns="0" rIns="0" bIns="0" rtlCol="0" anchor="ctr">
            <a:normAutofit/>
          </a:bodyPr>
          <a:lstStyle/>
          <a:p>
            <a:pPr marL="0" indent="0" algn="ctr">
              <a:buNone/>
            </a:pPr>
            <a:r>
              <a:rPr lang="en-US" sz="1370" b="1" dirty="0">
                <a:solidFill>
                  <a:srgbClr val="082B4E"/>
                </a:solidFill>
                <a:latin typeface="Lato Heavy" pitchFamily="34" charset="0"/>
                <a:ea typeface="Lato Heavy" pitchFamily="34" charset="-122"/>
                <a:cs typeface="Lato Heavy" pitchFamily="34" charset="-120"/>
              </a:rPr>
              <a:t>On Top of the World</a:t>
            </a:r>
            <a:endParaRPr lang="en-US" sz="1370" dirty="0"/>
          </a:p>
        </p:txBody>
      </p:sp>
      <p:pic>
        <p:nvPicPr>
          <p:cNvPr id="27" name="Image 1" descr="/mnt/data/barnaby_hd_work/otow_gradient.png"/>
          <p:cNvPicPr>
            <a:picLocks noChangeAspect="1"/>
          </p:cNvPicPr>
          <p:nvPr/>
        </p:nvPicPr>
        <p:blipFill>
          <a:blip r:embed="rId4"/>
          <a:stretch>
            <a:fillRect/>
          </a:stretch>
        </p:blipFill>
        <p:spPr>
          <a:xfrm>
            <a:off x="8403336" y="1691640"/>
            <a:ext cx="3127248" cy="804672"/>
          </a:xfrm>
          <a:prstGeom prst="rect">
            <a:avLst/>
          </a:prstGeom>
        </p:spPr>
      </p:pic>
      <p:sp>
        <p:nvSpPr>
          <p:cNvPr id="28" name="Text 24"/>
          <p:cNvSpPr/>
          <p:nvPr/>
        </p:nvSpPr>
        <p:spPr>
          <a:xfrm>
            <a:off x="8586216" y="1783080"/>
            <a:ext cx="274320" cy="27432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Lato Heavy" pitchFamily="34" charset="0"/>
                <a:ea typeface="Lato Heavy" pitchFamily="34" charset="-122"/>
                <a:cs typeface="Lato Heavy" pitchFamily="34" charset="-120"/>
              </a:rPr>
              <a:t>≡</a:t>
            </a:r>
            <a:endParaRPr lang="en-US" sz="1900" dirty="0"/>
          </a:p>
        </p:txBody>
      </p:sp>
      <p:sp>
        <p:nvSpPr>
          <p:cNvPr id="29" name="Text 25"/>
          <p:cNvSpPr/>
          <p:nvPr/>
        </p:nvSpPr>
        <p:spPr>
          <a:xfrm>
            <a:off x="9025128" y="1810512"/>
            <a:ext cx="1920240" cy="201168"/>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Lato Heavy" pitchFamily="34" charset="0"/>
                <a:ea typeface="Lato Heavy" pitchFamily="34" charset="-122"/>
                <a:cs typeface="Lato Heavy" pitchFamily="34" charset="-120"/>
              </a:rPr>
              <a:t>On Top of the World</a:t>
            </a:r>
            <a:endParaRPr lang="en-US" sz="1200" dirty="0"/>
          </a:p>
        </p:txBody>
      </p:sp>
      <p:sp>
        <p:nvSpPr>
          <p:cNvPr id="30" name="Text 26"/>
          <p:cNvSpPr/>
          <p:nvPr/>
        </p:nvSpPr>
        <p:spPr>
          <a:xfrm>
            <a:off x="8567928" y="2148840"/>
            <a:ext cx="2377440" cy="301752"/>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Lato Heavy" pitchFamily="34" charset="0"/>
                <a:ea typeface="Lato Heavy" pitchFamily="34" charset="-122"/>
                <a:cs typeface="Lato Heavy" pitchFamily="34" charset="-120"/>
              </a:rPr>
              <a:t>OUTINGS</a:t>
            </a:r>
            <a:endParaRPr lang="en-US" sz="1800" dirty="0"/>
          </a:p>
        </p:txBody>
      </p:sp>
      <p:sp>
        <p:nvSpPr>
          <p:cNvPr id="31" name="Shape 27"/>
          <p:cNvSpPr/>
          <p:nvPr/>
        </p:nvSpPr>
        <p:spPr>
          <a:xfrm>
            <a:off x="8449056" y="5705856"/>
            <a:ext cx="3035808" cy="420624"/>
          </a:xfrm>
          <a:prstGeom prst="roundRect">
            <a:avLst>
              <a:gd name="adj" fmla="val 32609"/>
            </a:avLst>
          </a:prstGeom>
          <a:solidFill>
            <a:srgbClr val="F8FBFE"/>
          </a:solidFill>
          <a:ln w="12700">
            <a:solidFill>
              <a:srgbClr val="F8FBFE">
                <a:alpha val="0"/>
              </a:srgbClr>
            </a:solidFill>
            <a:prstDash val="solid"/>
          </a:ln>
        </p:spPr>
        <p:txBody>
          <a:bodyPr/>
          <a:lstStyle/>
          <a:p>
            <a:endParaRPr lang="en-US"/>
          </a:p>
        </p:txBody>
      </p:sp>
      <p:sp>
        <p:nvSpPr>
          <p:cNvPr id="32" name="Text 28"/>
          <p:cNvSpPr/>
          <p:nvPr/>
        </p:nvSpPr>
        <p:spPr>
          <a:xfrm>
            <a:off x="8677656"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3" name="Text 29"/>
          <p:cNvSpPr/>
          <p:nvPr/>
        </p:nvSpPr>
        <p:spPr>
          <a:xfrm>
            <a:off x="8595360"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Home</a:t>
            </a:r>
            <a:endParaRPr lang="en-US" sz="820" dirty="0"/>
          </a:p>
        </p:txBody>
      </p:sp>
      <p:sp>
        <p:nvSpPr>
          <p:cNvPr id="34" name="Text 30"/>
          <p:cNvSpPr/>
          <p:nvPr/>
        </p:nvSpPr>
        <p:spPr>
          <a:xfrm>
            <a:off x="9372600"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057BEE"/>
                </a:solidFill>
                <a:latin typeface="Lato Heavy" pitchFamily="34" charset="0"/>
                <a:ea typeface="Lato Heavy" pitchFamily="34" charset="-122"/>
                <a:cs typeface="Lato Heavy" pitchFamily="34" charset="-120"/>
              </a:rPr>
              <a:t>◎</a:t>
            </a:r>
            <a:endParaRPr lang="en-US" sz="1500" dirty="0"/>
          </a:p>
        </p:txBody>
      </p:sp>
      <p:sp>
        <p:nvSpPr>
          <p:cNvPr id="35" name="Text 31"/>
          <p:cNvSpPr/>
          <p:nvPr/>
        </p:nvSpPr>
        <p:spPr>
          <a:xfrm>
            <a:off x="9290304"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057BEE"/>
                </a:solidFill>
                <a:latin typeface="Lato Heavy" pitchFamily="34" charset="0"/>
                <a:ea typeface="Lato Heavy" pitchFamily="34" charset="-122"/>
                <a:cs typeface="Lato Heavy" pitchFamily="34" charset="-120"/>
              </a:rPr>
              <a:t>Outings</a:t>
            </a:r>
            <a:endParaRPr lang="en-US" sz="820" dirty="0"/>
          </a:p>
        </p:txBody>
      </p:sp>
      <p:sp>
        <p:nvSpPr>
          <p:cNvPr id="36" name="Text 32"/>
          <p:cNvSpPr/>
          <p:nvPr/>
        </p:nvSpPr>
        <p:spPr>
          <a:xfrm>
            <a:off x="10067544"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7" name="Text 33"/>
          <p:cNvSpPr/>
          <p:nvPr/>
        </p:nvSpPr>
        <p:spPr>
          <a:xfrm>
            <a:off x="9985248"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Messages</a:t>
            </a:r>
            <a:endParaRPr lang="en-US" sz="820" dirty="0"/>
          </a:p>
        </p:txBody>
      </p:sp>
      <p:sp>
        <p:nvSpPr>
          <p:cNvPr id="38" name="Text 34"/>
          <p:cNvSpPr/>
          <p:nvPr/>
        </p:nvSpPr>
        <p:spPr>
          <a:xfrm>
            <a:off x="10762488"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9" name="Text 35"/>
          <p:cNvSpPr/>
          <p:nvPr/>
        </p:nvSpPr>
        <p:spPr>
          <a:xfrm>
            <a:off x="10680192"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More</a:t>
            </a:r>
            <a:endParaRPr lang="en-US" sz="820" dirty="0"/>
          </a:p>
        </p:txBody>
      </p:sp>
      <p:sp>
        <p:nvSpPr>
          <p:cNvPr id="40" name="Text 36"/>
          <p:cNvSpPr/>
          <p:nvPr/>
        </p:nvSpPr>
        <p:spPr>
          <a:xfrm>
            <a:off x="8485632" y="2587752"/>
            <a:ext cx="2962656" cy="338328"/>
          </a:xfrm>
          <a:prstGeom prst="rect">
            <a:avLst/>
          </a:prstGeom>
          <a:noFill/>
          <a:ln/>
        </p:spPr>
        <p:txBody>
          <a:bodyPr wrap="square" lIns="0" tIns="0" rIns="0" bIns="0" rtlCol="0" anchor="ctr">
            <a:normAutofit/>
          </a:bodyPr>
          <a:lstStyle/>
          <a:p>
            <a:pPr marL="0" indent="0">
              <a:buNone/>
            </a:pPr>
            <a:r>
              <a:rPr lang="en-US" sz="1700" b="1" dirty="0">
                <a:solidFill>
                  <a:srgbClr val="082B4E"/>
                </a:solidFill>
                <a:latin typeface="Lato Heavy" pitchFamily="34" charset="0"/>
                <a:ea typeface="Lato Heavy" pitchFamily="34" charset="-122"/>
                <a:cs typeface="Lato Heavy" pitchFamily="34" charset="-120"/>
              </a:rPr>
              <a:t>Calendar</a:t>
            </a:r>
            <a:endParaRPr lang="en-US" sz="1700" dirty="0"/>
          </a:p>
        </p:txBody>
      </p:sp>
      <p:sp>
        <p:nvSpPr>
          <p:cNvPr id="41" name="Text 37"/>
          <p:cNvSpPr/>
          <p:nvPr/>
        </p:nvSpPr>
        <p:spPr>
          <a:xfrm>
            <a:off x="8485632" y="2898648"/>
            <a:ext cx="2962656" cy="201168"/>
          </a:xfrm>
          <a:prstGeom prst="rect">
            <a:avLst/>
          </a:prstGeom>
          <a:noFill/>
          <a:ln/>
        </p:spPr>
        <p:txBody>
          <a:bodyPr wrap="square" lIns="0" tIns="0" rIns="0" bIns="0" rtlCol="0" anchor="ctr">
            <a:normAutofit/>
          </a:bodyPr>
          <a:lstStyle/>
          <a:p>
            <a:pPr marL="0" indent="0">
              <a:buNone/>
            </a:pPr>
            <a:r>
              <a:rPr lang="en-US" sz="1000" dirty="0">
                <a:solidFill>
                  <a:srgbClr val="617B94"/>
                </a:solidFill>
                <a:latin typeface="Lato" pitchFamily="34" charset="0"/>
                <a:ea typeface="Lato" pitchFamily="34" charset="-122"/>
                <a:cs typeface="Lato" pitchFamily="34" charset="-120"/>
              </a:rPr>
              <a:t>Your events, activities and bookings</a:t>
            </a:r>
            <a:endParaRPr lang="en-US" sz="1000" dirty="0"/>
          </a:p>
        </p:txBody>
      </p:sp>
      <p:sp>
        <p:nvSpPr>
          <p:cNvPr id="42" name="Shape 38"/>
          <p:cNvSpPr/>
          <p:nvPr/>
        </p:nvSpPr>
        <p:spPr>
          <a:xfrm>
            <a:off x="8485632" y="3246120"/>
            <a:ext cx="941832" cy="265176"/>
          </a:xfrm>
          <a:prstGeom prst="roundRect">
            <a:avLst>
              <a:gd name="adj" fmla="val 34483"/>
            </a:avLst>
          </a:prstGeom>
          <a:solidFill>
            <a:srgbClr val="EDF3F8"/>
          </a:solidFill>
          <a:ln w="12700">
            <a:solidFill>
              <a:srgbClr val="E2EAF2"/>
            </a:solidFill>
            <a:prstDash val="solid"/>
          </a:ln>
        </p:spPr>
        <p:txBody>
          <a:bodyPr/>
          <a:lstStyle/>
          <a:p>
            <a:endParaRPr lang="en-US"/>
          </a:p>
        </p:txBody>
      </p:sp>
      <p:sp>
        <p:nvSpPr>
          <p:cNvPr id="43" name="Text 39"/>
          <p:cNvSpPr/>
          <p:nvPr/>
        </p:nvSpPr>
        <p:spPr>
          <a:xfrm>
            <a:off x="8513064" y="3291840"/>
            <a:ext cx="886968" cy="146304"/>
          </a:xfrm>
          <a:prstGeom prst="rect">
            <a:avLst/>
          </a:prstGeom>
          <a:noFill/>
          <a:ln/>
        </p:spPr>
        <p:txBody>
          <a:bodyPr wrap="square" lIns="0" tIns="0" rIns="0" bIns="0" rtlCol="0" anchor="ctr">
            <a:normAutofit/>
          </a:bodyPr>
          <a:lstStyle/>
          <a:p>
            <a:pPr marL="0" indent="0" algn="ctr">
              <a:buNone/>
            </a:pPr>
            <a:r>
              <a:rPr lang="en-US" sz="880" b="1" dirty="0">
                <a:solidFill>
                  <a:srgbClr val="617B94"/>
                </a:solidFill>
                <a:latin typeface="Lato Heavy" pitchFamily="34" charset="0"/>
                <a:ea typeface="Lato Heavy" pitchFamily="34" charset="-122"/>
                <a:cs typeface="Lato Heavy" pitchFamily="34" charset="-120"/>
              </a:rPr>
              <a:t>List</a:t>
            </a:r>
            <a:endParaRPr lang="en-US" sz="880" dirty="0"/>
          </a:p>
        </p:txBody>
      </p:sp>
      <p:sp>
        <p:nvSpPr>
          <p:cNvPr id="44" name="Shape 40"/>
          <p:cNvSpPr/>
          <p:nvPr/>
        </p:nvSpPr>
        <p:spPr>
          <a:xfrm>
            <a:off x="9473184" y="3246120"/>
            <a:ext cx="941832" cy="265176"/>
          </a:xfrm>
          <a:prstGeom prst="roundRect">
            <a:avLst>
              <a:gd name="adj" fmla="val 34483"/>
            </a:avLst>
          </a:prstGeom>
          <a:solidFill>
            <a:srgbClr val="EDF3F8"/>
          </a:solidFill>
          <a:ln w="12700">
            <a:solidFill>
              <a:srgbClr val="E2EAF2"/>
            </a:solidFill>
            <a:prstDash val="solid"/>
          </a:ln>
        </p:spPr>
        <p:txBody>
          <a:bodyPr/>
          <a:lstStyle/>
          <a:p>
            <a:endParaRPr lang="en-US"/>
          </a:p>
        </p:txBody>
      </p:sp>
      <p:sp>
        <p:nvSpPr>
          <p:cNvPr id="45" name="Text 41"/>
          <p:cNvSpPr/>
          <p:nvPr/>
        </p:nvSpPr>
        <p:spPr>
          <a:xfrm>
            <a:off x="9500616" y="3291840"/>
            <a:ext cx="886968" cy="146304"/>
          </a:xfrm>
          <a:prstGeom prst="rect">
            <a:avLst/>
          </a:prstGeom>
          <a:noFill/>
          <a:ln/>
        </p:spPr>
        <p:txBody>
          <a:bodyPr wrap="square" lIns="0" tIns="0" rIns="0" bIns="0" rtlCol="0" anchor="ctr">
            <a:normAutofit/>
          </a:bodyPr>
          <a:lstStyle/>
          <a:p>
            <a:pPr marL="0" indent="0" algn="ctr">
              <a:buNone/>
            </a:pPr>
            <a:r>
              <a:rPr lang="en-US" sz="880" b="1" dirty="0">
                <a:solidFill>
                  <a:srgbClr val="617B94"/>
                </a:solidFill>
                <a:latin typeface="Lato Heavy" pitchFamily="34" charset="0"/>
                <a:ea typeface="Lato Heavy" pitchFamily="34" charset="-122"/>
                <a:cs typeface="Lato Heavy" pitchFamily="34" charset="-120"/>
              </a:rPr>
              <a:t>Week</a:t>
            </a:r>
            <a:endParaRPr lang="en-US" sz="880" dirty="0"/>
          </a:p>
        </p:txBody>
      </p:sp>
      <p:sp>
        <p:nvSpPr>
          <p:cNvPr id="46" name="Shape 42"/>
          <p:cNvSpPr/>
          <p:nvPr/>
        </p:nvSpPr>
        <p:spPr>
          <a:xfrm>
            <a:off x="10460736" y="3246120"/>
            <a:ext cx="941832" cy="265176"/>
          </a:xfrm>
          <a:prstGeom prst="roundRect">
            <a:avLst>
              <a:gd name="adj" fmla="val 34483"/>
            </a:avLst>
          </a:prstGeom>
          <a:solidFill>
            <a:srgbClr val="057BEE"/>
          </a:solidFill>
          <a:ln w="12700">
            <a:solidFill>
              <a:srgbClr val="057BEE"/>
            </a:solidFill>
            <a:prstDash val="solid"/>
          </a:ln>
        </p:spPr>
        <p:txBody>
          <a:bodyPr/>
          <a:lstStyle/>
          <a:p>
            <a:endParaRPr lang="en-US"/>
          </a:p>
        </p:txBody>
      </p:sp>
      <p:sp>
        <p:nvSpPr>
          <p:cNvPr id="47" name="Text 43"/>
          <p:cNvSpPr/>
          <p:nvPr/>
        </p:nvSpPr>
        <p:spPr>
          <a:xfrm>
            <a:off x="10488168" y="3291840"/>
            <a:ext cx="886968" cy="146304"/>
          </a:xfrm>
          <a:prstGeom prst="rect">
            <a:avLst/>
          </a:prstGeom>
          <a:noFill/>
          <a:ln/>
        </p:spPr>
        <p:txBody>
          <a:bodyPr wrap="square" lIns="0" tIns="0" rIns="0" bIns="0" rtlCol="0" anchor="ctr">
            <a:normAutofit/>
          </a:bodyPr>
          <a:lstStyle/>
          <a:p>
            <a:pPr marL="0" indent="0" algn="ctr">
              <a:buNone/>
            </a:pPr>
            <a:r>
              <a:rPr lang="en-US" sz="880" b="1" dirty="0">
                <a:solidFill>
                  <a:srgbClr val="FFFFFF"/>
                </a:solidFill>
                <a:latin typeface="Lato Heavy" pitchFamily="34" charset="0"/>
                <a:ea typeface="Lato Heavy" pitchFamily="34" charset="-122"/>
                <a:cs typeface="Lato Heavy" pitchFamily="34" charset="-120"/>
              </a:rPr>
              <a:t>Month</a:t>
            </a:r>
            <a:endParaRPr lang="en-US" sz="880" dirty="0"/>
          </a:p>
        </p:txBody>
      </p:sp>
      <p:sp>
        <p:nvSpPr>
          <p:cNvPr id="48" name="Text 44"/>
          <p:cNvSpPr/>
          <p:nvPr/>
        </p:nvSpPr>
        <p:spPr>
          <a:xfrm>
            <a:off x="9089136" y="3657600"/>
            <a:ext cx="1764792" cy="283464"/>
          </a:xfrm>
          <a:prstGeom prst="rect">
            <a:avLst/>
          </a:prstGeom>
          <a:noFill/>
          <a:ln/>
        </p:spPr>
        <p:txBody>
          <a:bodyPr wrap="square" lIns="0" tIns="0" rIns="0" bIns="0" rtlCol="0" anchor="ctr">
            <a:normAutofit/>
          </a:bodyPr>
          <a:lstStyle/>
          <a:p>
            <a:pPr marL="0" indent="0" algn="ctr">
              <a:buNone/>
            </a:pPr>
            <a:r>
              <a:rPr lang="en-US" sz="1400" b="1" dirty="0">
                <a:solidFill>
                  <a:srgbClr val="082B4E"/>
                </a:solidFill>
                <a:latin typeface="Lato Heavy" pitchFamily="34" charset="0"/>
                <a:ea typeface="Lato Heavy" pitchFamily="34" charset="-122"/>
                <a:cs typeface="Lato Heavy" pitchFamily="34" charset="-120"/>
              </a:rPr>
              <a:t>October 2026</a:t>
            </a:r>
            <a:endParaRPr lang="en-US" sz="1400" dirty="0"/>
          </a:p>
        </p:txBody>
      </p:sp>
      <p:sp>
        <p:nvSpPr>
          <p:cNvPr id="49" name="Text 45"/>
          <p:cNvSpPr/>
          <p:nvPr/>
        </p:nvSpPr>
        <p:spPr>
          <a:xfrm>
            <a:off x="8622792" y="4050792"/>
            <a:ext cx="320040" cy="228600"/>
          </a:xfrm>
          <a:prstGeom prst="rect">
            <a:avLst/>
          </a:prstGeom>
          <a:noFill/>
          <a:ln/>
        </p:spPr>
        <p:txBody>
          <a:bodyPr wrap="square" lIns="0" tIns="0" rIns="0" bIns="0" rtlCol="0" anchor="ctr">
            <a:normAutofit/>
          </a:bodyPr>
          <a:lstStyle/>
          <a:p>
            <a:pPr marL="0" indent="0" algn="ctr">
              <a:buNone/>
            </a:pPr>
            <a:r>
              <a:rPr lang="en-US" sz="1100" b="1" dirty="0">
                <a:solidFill>
                  <a:srgbClr val="617B94"/>
                </a:solidFill>
                <a:latin typeface="Lato Heavy" pitchFamily="34" charset="0"/>
                <a:ea typeface="Lato Heavy" pitchFamily="34" charset="-122"/>
                <a:cs typeface="Lato Heavy" pitchFamily="34" charset="-120"/>
              </a:rPr>
              <a:t>S</a:t>
            </a:r>
            <a:endParaRPr lang="en-US" sz="1100" dirty="0"/>
          </a:p>
        </p:txBody>
      </p:sp>
      <p:sp>
        <p:nvSpPr>
          <p:cNvPr id="50" name="Text 46"/>
          <p:cNvSpPr/>
          <p:nvPr/>
        </p:nvSpPr>
        <p:spPr>
          <a:xfrm>
            <a:off x="9015984" y="4050792"/>
            <a:ext cx="320040" cy="228600"/>
          </a:xfrm>
          <a:prstGeom prst="rect">
            <a:avLst/>
          </a:prstGeom>
          <a:noFill/>
          <a:ln/>
        </p:spPr>
        <p:txBody>
          <a:bodyPr wrap="square" lIns="0" tIns="0" rIns="0" bIns="0" rtlCol="0" anchor="ctr">
            <a:normAutofit/>
          </a:bodyPr>
          <a:lstStyle/>
          <a:p>
            <a:pPr marL="0" indent="0" algn="ctr">
              <a:buNone/>
            </a:pPr>
            <a:r>
              <a:rPr lang="en-US" sz="1100" b="1" dirty="0">
                <a:solidFill>
                  <a:srgbClr val="617B94"/>
                </a:solidFill>
                <a:latin typeface="Lato Heavy" pitchFamily="34" charset="0"/>
                <a:ea typeface="Lato Heavy" pitchFamily="34" charset="-122"/>
                <a:cs typeface="Lato Heavy" pitchFamily="34" charset="-120"/>
              </a:rPr>
              <a:t>M</a:t>
            </a:r>
            <a:endParaRPr lang="en-US" sz="1100" dirty="0"/>
          </a:p>
        </p:txBody>
      </p:sp>
      <p:sp>
        <p:nvSpPr>
          <p:cNvPr id="51" name="Text 47"/>
          <p:cNvSpPr/>
          <p:nvPr/>
        </p:nvSpPr>
        <p:spPr>
          <a:xfrm>
            <a:off x="9409176" y="4050792"/>
            <a:ext cx="320040" cy="228600"/>
          </a:xfrm>
          <a:prstGeom prst="rect">
            <a:avLst/>
          </a:prstGeom>
          <a:noFill/>
          <a:ln/>
        </p:spPr>
        <p:txBody>
          <a:bodyPr wrap="square" lIns="0" tIns="0" rIns="0" bIns="0" rtlCol="0" anchor="ctr">
            <a:normAutofit/>
          </a:bodyPr>
          <a:lstStyle/>
          <a:p>
            <a:pPr marL="0" indent="0" algn="ctr">
              <a:buNone/>
            </a:pPr>
            <a:r>
              <a:rPr lang="en-US" sz="1100" b="1" dirty="0">
                <a:solidFill>
                  <a:srgbClr val="617B94"/>
                </a:solidFill>
                <a:latin typeface="Lato Heavy" pitchFamily="34" charset="0"/>
                <a:ea typeface="Lato Heavy" pitchFamily="34" charset="-122"/>
                <a:cs typeface="Lato Heavy" pitchFamily="34" charset="-120"/>
              </a:rPr>
              <a:t>T</a:t>
            </a:r>
            <a:endParaRPr lang="en-US" sz="1100" dirty="0"/>
          </a:p>
        </p:txBody>
      </p:sp>
      <p:sp>
        <p:nvSpPr>
          <p:cNvPr id="52" name="Text 48"/>
          <p:cNvSpPr/>
          <p:nvPr/>
        </p:nvSpPr>
        <p:spPr>
          <a:xfrm>
            <a:off x="9802368" y="4050792"/>
            <a:ext cx="320040" cy="228600"/>
          </a:xfrm>
          <a:prstGeom prst="rect">
            <a:avLst/>
          </a:prstGeom>
          <a:noFill/>
          <a:ln/>
        </p:spPr>
        <p:txBody>
          <a:bodyPr wrap="square" lIns="0" tIns="0" rIns="0" bIns="0" rtlCol="0" anchor="ctr">
            <a:normAutofit/>
          </a:bodyPr>
          <a:lstStyle/>
          <a:p>
            <a:pPr marL="0" indent="0" algn="ctr">
              <a:buNone/>
            </a:pPr>
            <a:r>
              <a:rPr lang="en-US" sz="1100" b="1" dirty="0">
                <a:solidFill>
                  <a:srgbClr val="617B94"/>
                </a:solidFill>
                <a:latin typeface="Lato Heavy" pitchFamily="34" charset="0"/>
                <a:ea typeface="Lato Heavy" pitchFamily="34" charset="-122"/>
                <a:cs typeface="Lato Heavy" pitchFamily="34" charset="-120"/>
              </a:rPr>
              <a:t>W</a:t>
            </a:r>
            <a:endParaRPr lang="en-US" sz="1100" dirty="0"/>
          </a:p>
        </p:txBody>
      </p:sp>
      <p:sp>
        <p:nvSpPr>
          <p:cNvPr id="53" name="Text 49"/>
          <p:cNvSpPr/>
          <p:nvPr/>
        </p:nvSpPr>
        <p:spPr>
          <a:xfrm>
            <a:off x="10195560" y="4050792"/>
            <a:ext cx="320040" cy="228600"/>
          </a:xfrm>
          <a:prstGeom prst="rect">
            <a:avLst/>
          </a:prstGeom>
          <a:noFill/>
          <a:ln/>
        </p:spPr>
        <p:txBody>
          <a:bodyPr wrap="square" lIns="0" tIns="0" rIns="0" bIns="0" rtlCol="0" anchor="ctr">
            <a:normAutofit/>
          </a:bodyPr>
          <a:lstStyle/>
          <a:p>
            <a:pPr marL="0" indent="0" algn="ctr">
              <a:buNone/>
            </a:pPr>
            <a:r>
              <a:rPr lang="en-US" sz="1100" b="1" dirty="0">
                <a:solidFill>
                  <a:srgbClr val="617B94"/>
                </a:solidFill>
                <a:latin typeface="Lato Heavy" pitchFamily="34" charset="0"/>
                <a:ea typeface="Lato Heavy" pitchFamily="34" charset="-122"/>
                <a:cs typeface="Lato Heavy" pitchFamily="34" charset="-120"/>
              </a:rPr>
              <a:t>T</a:t>
            </a:r>
            <a:endParaRPr lang="en-US" sz="1100" dirty="0"/>
          </a:p>
        </p:txBody>
      </p:sp>
      <p:sp>
        <p:nvSpPr>
          <p:cNvPr id="54" name="Text 50"/>
          <p:cNvSpPr/>
          <p:nvPr/>
        </p:nvSpPr>
        <p:spPr>
          <a:xfrm>
            <a:off x="10588752" y="4050792"/>
            <a:ext cx="320040" cy="228600"/>
          </a:xfrm>
          <a:prstGeom prst="rect">
            <a:avLst/>
          </a:prstGeom>
          <a:noFill/>
          <a:ln/>
        </p:spPr>
        <p:txBody>
          <a:bodyPr wrap="square" lIns="0" tIns="0" rIns="0" bIns="0" rtlCol="0" anchor="ctr">
            <a:normAutofit/>
          </a:bodyPr>
          <a:lstStyle/>
          <a:p>
            <a:pPr marL="0" indent="0" algn="ctr">
              <a:buNone/>
            </a:pPr>
            <a:r>
              <a:rPr lang="en-US" sz="1100" b="1" dirty="0">
                <a:solidFill>
                  <a:srgbClr val="617B94"/>
                </a:solidFill>
                <a:latin typeface="Lato Heavy" pitchFamily="34" charset="0"/>
                <a:ea typeface="Lato Heavy" pitchFamily="34" charset="-122"/>
                <a:cs typeface="Lato Heavy" pitchFamily="34" charset="-120"/>
              </a:rPr>
              <a:t>F</a:t>
            </a:r>
            <a:endParaRPr lang="en-US" sz="1100" dirty="0"/>
          </a:p>
        </p:txBody>
      </p:sp>
      <p:sp>
        <p:nvSpPr>
          <p:cNvPr id="55" name="Text 51"/>
          <p:cNvSpPr/>
          <p:nvPr/>
        </p:nvSpPr>
        <p:spPr>
          <a:xfrm>
            <a:off x="10981944" y="4050792"/>
            <a:ext cx="320040" cy="228600"/>
          </a:xfrm>
          <a:prstGeom prst="rect">
            <a:avLst/>
          </a:prstGeom>
          <a:noFill/>
          <a:ln/>
        </p:spPr>
        <p:txBody>
          <a:bodyPr wrap="square" lIns="0" tIns="0" rIns="0" bIns="0" rtlCol="0" anchor="ctr">
            <a:normAutofit/>
          </a:bodyPr>
          <a:lstStyle/>
          <a:p>
            <a:pPr marL="0" indent="0" algn="ctr">
              <a:buNone/>
            </a:pPr>
            <a:r>
              <a:rPr lang="en-US" sz="1100" b="1" dirty="0">
                <a:solidFill>
                  <a:srgbClr val="617B94"/>
                </a:solidFill>
                <a:latin typeface="Lato Heavy" pitchFamily="34" charset="0"/>
                <a:ea typeface="Lato Heavy" pitchFamily="34" charset="-122"/>
                <a:cs typeface="Lato Heavy" pitchFamily="34" charset="-120"/>
              </a:rPr>
              <a:t>S</a:t>
            </a:r>
            <a:endParaRPr lang="en-US" sz="1100" dirty="0"/>
          </a:p>
        </p:txBody>
      </p:sp>
      <p:sp>
        <p:nvSpPr>
          <p:cNvPr id="56" name="Text 52"/>
          <p:cNvSpPr/>
          <p:nvPr/>
        </p:nvSpPr>
        <p:spPr>
          <a:xfrm>
            <a:off x="8595360" y="4361688"/>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1</a:t>
            </a:r>
            <a:endParaRPr lang="en-US" sz="1100" dirty="0"/>
          </a:p>
        </p:txBody>
      </p:sp>
      <p:sp>
        <p:nvSpPr>
          <p:cNvPr id="57" name="Text 53"/>
          <p:cNvSpPr/>
          <p:nvPr/>
        </p:nvSpPr>
        <p:spPr>
          <a:xfrm>
            <a:off x="8988552" y="4361688"/>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2</a:t>
            </a:r>
            <a:endParaRPr lang="en-US" sz="1100" dirty="0"/>
          </a:p>
        </p:txBody>
      </p:sp>
      <p:sp>
        <p:nvSpPr>
          <p:cNvPr id="58" name="Shape 54"/>
          <p:cNvSpPr/>
          <p:nvPr/>
        </p:nvSpPr>
        <p:spPr>
          <a:xfrm>
            <a:off x="9134856" y="4608576"/>
            <a:ext cx="64008" cy="64008"/>
          </a:xfrm>
          <a:prstGeom prst="ellipse">
            <a:avLst/>
          </a:prstGeom>
          <a:solidFill>
            <a:srgbClr val="FFBC43"/>
          </a:solidFill>
          <a:ln w="12700">
            <a:solidFill>
              <a:srgbClr val="FFBC43">
                <a:alpha val="0"/>
              </a:srgbClr>
            </a:solidFill>
            <a:prstDash val="solid"/>
          </a:ln>
        </p:spPr>
        <p:txBody>
          <a:bodyPr/>
          <a:lstStyle/>
          <a:p>
            <a:endParaRPr lang="en-US"/>
          </a:p>
        </p:txBody>
      </p:sp>
      <p:sp>
        <p:nvSpPr>
          <p:cNvPr id="59" name="Text 55"/>
          <p:cNvSpPr/>
          <p:nvPr/>
        </p:nvSpPr>
        <p:spPr>
          <a:xfrm>
            <a:off x="9381744" y="4361688"/>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3</a:t>
            </a:r>
            <a:endParaRPr lang="en-US" sz="1100" dirty="0"/>
          </a:p>
        </p:txBody>
      </p:sp>
      <p:sp>
        <p:nvSpPr>
          <p:cNvPr id="60" name="Text 56"/>
          <p:cNvSpPr/>
          <p:nvPr/>
        </p:nvSpPr>
        <p:spPr>
          <a:xfrm>
            <a:off x="9774936" y="4361688"/>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4</a:t>
            </a:r>
            <a:endParaRPr lang="en-US" sz="1100" dirty="0"/>
          </a:p>
        </p:txBody>
      </p:sp>
      <p:sp>
        <p:nvSpPr>
          <p:cNvPr id="61" name="Shape 57"/>
          <p:cNvSpPr/>
          <p:nvPr/>
        </p:nvSpPr>
        <p:spPr>
          <a:xfrm>
            <a:off x="9921240" y="4608576"/>
            <a:ext cx="64008" cy="64008"/>
          </a:xfrm>
          <a:prstGeom prst="ellipse">
            <a:avLst/>
          </a:prstGeom>
          <a:solidFill>
            <a:srgbClr val="FFBC43"/>
          </a:solidFill>
          <a:ln w="12700">
            <a:solidFill>
              <a:srgbClr val="FFBC43">
                <a:alpha val="0"/>
              </a:srgbClr>
            </a:solidFill>
            <a:prstDash val="solid"/>
          </a:ln>
        </p:spPr>
        <p:txBody>
          <a:bodyPr/>
          <a:lstStyle/>
          <a:p>
            <a:endParaRPr lang="en-US"/>
          </a:p>
        </p:txBody>
      </p:sp>
      <p:sp>
        <p:nvSpPr>
          <p:cNvPr id="62" name="Text 58"/>
          <p:cNvSpPr/>
          <p:nvPr/>
        </p:nvSpPr>
        <p:spPr>
          <a:xfrm>
            <a:off x="10168128" y="4361688"/>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5</a:t>
            </a:r>
            <a:endParaRPr lang="en-US" sz="1100" dirty="0"/>
          </a:p>
        </p:txBody>
      </p:sp>
      <p:sp>
        <p:nvSpPr>
          <p:cNvPr id="63" name="Text 59"/>
          <p:cNvSpPr/>
          <p:nvPr/>
        </p:nvSpPr>
        <p:spPr>
          <a:xfrm>
            <a:off x="10561320" y="4361688"/>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6</a:t>
            </a:r>
            <a:endParaRPr lang="en-US" sz="1100" dirty="0"/>
          </a:p>
        </p:txBody>
      </p:sp>
      <p:sp>
        <p:nvSpPr>
          <p:cNvPr id="64" name="Text 60"/>
          <p:cNvSpPr/>
          <p:nvPr/>
        </p:nvSpPr>
        <p:spPr>
          <a:xfrm>
            <a:off x="10954512" y="4361688"/>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7</a:t>
            </a:r>
            <a:endParaRPr lang="en-US" sz="1100" dirty="0"/>
          </a:p>
        </p:txBody>
      </p:sp>
      <p:sp>
        <p:nvSpPr>
          <p:cNvPr id="65" name="Text 61"/>
          <p:cNvSpPr/>
          <p:nvPr/>
        </p:nvSpPr>
        <p:spPr>
          <a:xfrm>
            <a:off x="8595360" y="4754880"/>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057BEE"/>
                </a:solidFill>
                <a:latin typeface="Lato" pitchFamily="34" charset="0"/>
                <a:ea typeface="Lato" pitchFamily="34" charset="-122"/>
                <a:cs typeface="Lato" pitchFamily="34" charset="-120"/>
              </a:rPr>
              <a:t>8</a:t>
            </a:r>
            <a:endParaRPr lang="en-US" sz="1100" dirty="0"/>
          </a:p>
        </p:txBody>
      </p:sp>
      <p:sp>
        <p:nvSpPr>
          <p:cNvPr id="66" name="Shape 62"/>
          <p:cNvSpPr/>
          <p:nvPr/>
        </p:nvSpPr>
        <p:spPr>
          <a:xfrm>
            <a:off x="8741664" y="5001768"/>
            <a:ext cx="64008" cy="64008"/>
          </a:xfrm>
          <a:prstGeom prst="ellipse">
            <a:avLst/>
          </a:prstGeom>
          <a:solidFill>
            <a:srgbClr val="FFBC43"/>
          </a:solidFill>
          <a:ln w="12700">
            <a:solidFill>
              <a:srgbClr val="FFBC43">
                <a:alpha val="0"/>
              </a:srgbClr>
            </a:solidFill>
            <a:prstDash val="solid"/>
          </a:ln>
        </p:spPr>
        <p:txBody>
          <a:bodyPr/>
          <a:lstStyle/>
          <a:p>
            <a:endParaRPr lang="en-US"/>
          </a:p>
        </p:txBody>
      </p:sp>
      <p:sp>
        <p:nvSpPr>
          <p:cNvPr id="67" name="Text 63"/>
          <p:cNvSpPr/>
          <p:nvPr/>
        </p:nvSpPr>
        <p:spPr>
          <a:xfrm>
            <a:off x="8988552" y="4754880"/>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9</a:t>
            </a:r>
            <a:endParaRPr lang="en-US" sz="1100" dirty="0"/>
          </a:p>
        </p:txBody>
      </p:sp>
      <p:sp>
        <p:nvSpPr>
          <p:cNvPr id="68" name="Text 64"/>
          <p:cNvSpPr/>
          <p:nvPr/>
        </p:nvSpPr>
        <p:spPr>
          <a:xfrm>
            <a:off x="9381744" y="4754880"/>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10</a:t>
            </a:r>
            <a:endParaRPr lang="en-US" sz="1100" dirty="0"/>
          </a:p>
        </p:txBody>
      </p:sp>
      <p:sp>
        <p:nvSpPr>
          <p:cNvPr id="69" name="Text 65"/>
          <p:cNvSpPr/>
          <p:nvPr/>
        </p:nvSpPr>
        <p:spPr>
          <a:xfrm>
            <a:off x="9774936" y="4754880"/>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11</a:t>
            </a:r>
            <a:endParaRPr lang="en-US" sz="1100" dirty="0"/>
          </a:p>
        </p:txBody>
      </p:sp>
      <p:sp>
        <p:nvSpPr>
          <p:cNvPr id="70" name="Text 66"/>
          <p:cNvSpPr/>
          <p:nvPr/>
        </p:nvSpPr>
        <p:spPr>
          <a:xfrm>
            <a:off x="10168128" y="4754880"/>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12</a:t>
            </a:r>
            <a:endParaRPr lang="en-US" sz="1100" dirty="0"/>
          </a:p>
        </p:txBody>
      </p:sp>
      <p:sp>
        <p:nvSpPr>
          <p:cNvPr id="71" name="Text 67"/>
          <p:cNvSpPr/>
          <p:nvPr/>
        </p:nvSpPr>
        <p:spPr>
          <a:xfrm>
            <a:off x="10561320" y="4754880"/>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13</a:t>
            </a:r>
            <a:endParaRPr lang="en-US" sz="1100" dirty="0"/>
          </a:p>
        </p:txBody>
      </p:sp>
      <p:sp>
        <p:nvSpPr>
          <p:cNvPr id="72" name="Text 68"/>
          <p:cNvSpPr/>
          <p:nvPr/>
        </p:nvSpPr>
        <p:spPr>
          <a:xfrm>
            <a:off x="10954512" y="4754880"/>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057BEE"/>
                </a:solidFill>
                <a:latin typeface="Lato" pitchFamily="34" charset="0"/>
                <a:ea typeface="Lato" pitchFamily="34" charset="-122"/>
                <a:cs typeface="Lato" pitchFamily="34" charset="-120"/>
              </a:rPr>
              <a:t>14</a:t>
            </a:r>
            <a:endParaRPr lang="en-US" sz="1100" dirty="0"/>
          </a:p>
        </p:txBody>
      </p:sp>
      <p:sp>
        <p:nvSpPr>
          <p:cNvPr id="73" name="Shape 69"/>
          <p:cNvSpPr/>
          <p:nvPr/>
        </p:nvSpPr>
        <p:spPr>
          <a:xfrm>
            <a:off x="11100816" y="5001768"/>
            <a:ext cx="64008" cy="64008"/>
          </a:xfrm>
          <a:prstGeom prst="ellipse">
            <a:avLst/>
          </a:prstGeom>
          <a:solidFill>
            <a:srgbClr val="FFBC43"/>
          </a:solidFill>
          <a:ln w="12700">
            <a:solidFill>
              <a:srgbClr val="FFBC43">
                <a:alpha val="0"/>
              </a:srgbClr>
            </a:solidFill>
            <a:prstDash val="solid"/>
          </a:ln>
        </p:spPr>
        <p:txBody>
          <a:bodyPr/>
          <a:lstStyle/>
          <a:p>
            <a:endParaRPr lang="en-US"/>
          </a:p>
        </p:txBody>
      </p:sp>
      <p:sp>
        <p:nvSpPr>
          <p:cNvPr id="74" name="Text 70"/>
          <p:cNvSpPr/>
          <p:nvPr/>
        </p:nvSpPr>
        <p:spPr>
          <a:xfrm>
            <a:off x="8595360" y="5148072"/>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15</a:t>
            </a:r>
            <a:endParaRPr lang="en-US" sz="1100" dirty="0"/>
          </a:p>
        </p:txBody>
      </p:sp>
      <p:sp>
        <p:nvSpPr>
          <p:cNvPr id="75" name="Text 71"/>
          <p:cNvSpPr/>
          <p:nvPr/>
        </p:nvSpPr>
        <p:spPr>
          <a:xfrm>
            <a:off x="8988552" y="5148072"/>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16</a:t>
            </a:r>
            <a:endParaRPr lang="en-US" sz="1100" dirty="0"/>
          </a:p>
        </p:txBody>
      </p:sp>
      <p:sp>
        <p:nvSpPr>
          <p:cNvPr id="76" name="Text 72"/>
          <p:cNvSpPr/>
          <p:nvPr/>
        </p:nvSpPr>
        <p:spPr>
          <a:xfrm>
            <a:off x="9381744" y="5148072"/>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17</a:t>
            </a:r>
            <a:endParaRPr lang="en-US" sz="1100" dirty="0"/>
          </a:p>
        </p:txBody>
      </p:sp>
      <p:sp>
        <p:nvSpPr>
          <p:cNvPr id="77" name="Text 73"/>
          <p:cNvSpPr/>
          <p:nvPr/>
        </p:nvSpPr>
        <p:spPr>
          <a:xfrm>
            <a:off x="9774936" y="5148072"/>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18</a:t>
            </a:r>
            <a:endParaRPr lang="en-US" sz="1100" dirty="0"/>
          </a:p>
        </p:txBody>
      </p:sp>
      <p:sp>
        <p:nvSpPr>
          <p:cNvPr id="78" name="Text 74"/>
          <p:cNvSpPr/>
          <p:nvPr/>
        </p:nvSpPr>
        <p:spPr>
          <a:xfrm>
            <a:off x="10168128" y="5148072"/>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19</a:t>
            </a:r>
            <a:endParaRPr lang="en-US" sz="1100" dirty="0"/>
          </a:p>
        </p:txBody>
      </p:sp>
      <p:sp>
        <p:nvSpPr>
          <p:cNvPr id="79" name="Text 75"/>
          <p:cNvSpPr/>
          <p:nvPr/>
        </p:nvSpPr>
        <p:spPr>
          <a:xfrm>
            <a:off x="10561320" y="5148072"/>
            <a:ext cx="356616" cy="237744"/>
          </a:xfrm>
          <a:prstGeom prst="rect">
            <a:avLst/>
          </a:prstGeom>
          <a:noFill/>
          <a:ln/>
        </p:spPr>
        <p:txBody>
          <a:bodyPr wrap="square" lIns="0" tIns="0" rIns="0" bIns="0" rtlCol="0" anchor="ctr">
            <a:normAutofit/>
          </a:bodyPr>
          <a:lstStyle/>
          <a:p>
            <a:pPr marL="0" indent="0" algn="ctr">
              <a:buNone/>
            </a:pPr>
            <a:r>
              <a:rPr lang="en-US" sz="1100" b="1" dirty="0">
                <a:solidFill>
                  <a:srgbClr val="057BEE"/>
                </a:solidFill>
                <a:latin typeface="Lato Heavy" pitchFamily="34" charset="0"/>
                <a:ea typeface="Lato Heavy" pitchFamily="34" charset="-122"/>
                <a:cs typeface="Lato Heavy" pitchFamily="34" charset="-120"/>
              </a:rPr>
              <a:t>20</a:t>
            </a:r>
            <a:endParaRPr lang="en-US" sz="1100" dirty="0"/>
          </a:p>
        </p:txBody>
      </p:sp>
      <p:sp>
        <p:nvSpPr>
          <p:cNvPr id="80" name="Shape 76"/>
          <p:cNvSpPr/>
          <p:nvPr/>
        </p:nvSpPr>
        <p:spPr>
          <a:xfrm>
            <a:off x="10707624" y="5394960"/>
            <a:ext cx="64008" cy="64008"/>
          </a:xfrm>
          <a:prstGeom prst="ellipse">
            <a:avLst/>
          </a:prstGeom>
          <a:solidFill>
            <a:srgbClr val="FFBC43"/>
          </a:solidFill>
          <a:ln w="12700">
            <a:solidFill>
              <a:srgbClr val="FFBC43">
                <a:alpha val="0"/>
              </a:srgbClr>
            </a:solidFill>
            <a:prstDash val="solid"/>
          </a:ln>
        </p:spPr>
        <p:txBody>
          <a:bodyPr/>
          <a:lstStyle/>
          <a:p>
            <a:endParaRPr lang="en-US"/>
          </a:p>
        </p:txBody>
      </p:sp>
      <p:sp>
        <p:nvSpPr>
          <p:cNvPr id="81" name="Text 77"/>
          <p:cNvSpPr/>
          <p:nvPr/>
        </p:nvSpPr>
        <p:spPr>
          <a:xfrm>
            <a:off x="10954512" y="5148072"/>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21</a:t>
            </a:r>
            <a:endParaRPr lang="en-US" sz="1100" dirty="0"/>
          </a:p>
        </p:txBody>
      </p:sp>
      <p:sp>
        <p:nvSpPr>
          <p:cNvPr id="82" name="Text 78"/>
          <p:cNvSpPr/>
          <p:nvPr/>
        </p:nvSpPr>
        <p:spPr>
          <a:xfrm>
            <a:off x="8595360" y="5541264"/>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22</a:t>
            </a:r>
            <a:endParaRPr lang="en-US" sz="1100" dirty="0"/>
          </a:p>
        </p:txBody>
      </p:sp>
      <p:sp>
        <p:nvSpPr>
          <p:cNvPr id="83" name="Text 79"/>
          <p:cNvSpPr/>
          <p:nvPr/>
        </p:nvSpPr>
        <p:spPr>
          <a:xfrm>
            <a:off x="8988552" y="5541264"/>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23</a:t>
            </a:r>
            <a:endParaRPr lang="en-US" sz="1100" dirty="0"/>
          </a:p>
        </p:txBody>
      </p:sp>
      <p:sp>
        <p:nvSpPr>
          <p:cNvPr id="84" name="Text 80"/>
          <p:cNvSpPr/>
          <p:nvPr/>
        </p:nvSpPr>
        <p:spPr>
          <a:xfrm>
            <a:off x="9381744" y="5541264"/>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24</a:t>
            </a:r>
            <a:endParaRPr lang="en-US" sz="1100" dirty="0"/>
          </a:p>
        </p:txBody>
      </p:sp>
      <p:sp>
        <p:nvSpPr>
          <p:cNvPr id="85" name="Shape 81"/>
          <p:cNvSpPr/>
          <p:nvPr/>
        </p:nvSpPr>
        <p:spPr>
          <a:xfrm>
            <a:off x="9528048" y="5788152"/>
            <a:ext cx="64008" cy="64008"/>
          </a:xfrm>
          <a:prstGeom prst="ellipse">
            <a:avLst/>
          </a:prstGeom>
          <a:solidFill>
            <a:srgbClr val="FFBC43"/>
          </a:solidFill>
          <a:ln w="12700">
            <a:solidFill>
              <a:srgbClr val="FFBC43">
                <a:alpha val="0"/>
              </a:srgbClr>
            </a:solidFill>
            <a:prstDash val="solid"/>
          </a:ln>
        </p:spPr>
        <p:txBody>
          <a:bodyPr/>
          <a:lstStyle/>
          <a:p>
            <a:endParaRPr lang="en-US"/>
          </a:p>
        </p:txBody>
      </p:sp>
      <p:sp>
        <p:nvSpPr>
          <p:cNvPr id="86" name="Text 82"/>
          <p:cNvSpPr/>
          <p:nvPr/>
        </p:nvSpPr>
        <p:spPr>
          <a:xfrm>
            <a:off x="9774936" y="5541264"/>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25</a:t>
            </a:r>
            <a:endParaRPr lang="en-US" sz="1100" dirty="0"/>
          </a:p>
        </p:txBody>
      </p:sp>
      <p:sp>
        <p:nvSpPr>
          <p:cNvPr id="87" name="Text 83"/>
          <p:cNvSpPr/>
          <p:nvPr/>
        </p:nvSpPr>
        <p:spPr>
          <a:xfrm>
            <a:off x="10168128" y="5541264"/>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26</a:t>
            </a:r>
            <a:endParaRPr lang="en-US" sz="1100" dirty="0"/>
          </a:p>
        </p:txBody>
      </p:sp>
      <p:sp>
        <p:nvSpPr>
          <p:cNvPr id="88" name="Text 84"/>
          <p:cNvSpPr/>
          <p:nvPr/>
        </p:nvSpPr>
        <p:spPr>
          <a:xfrm>
            <a:off x="10561320" y="5541264"/>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27</a:t>
            </a:r>
            <a:endParaRPr lang="en-US" sz="1100" dirty="0"/>
          </a:p>
        </p:txBody>
      </p:sp>
      <p:sp>
        <p:nvSpPr>
          <p:cNvPr id="89" name="Text 85"/>
          <p:cNvSpPr/>
          <p:nvPr/>
        </p:nvSpPr>
        <p:spPr>
          <a:xfrm>
            <a:off x="10954512" y="5541264"/>
            <a:ext cx="356616" cy="237744"/>
          </a:xfrm>
          <a:prstGeom prst="rect">
            <a:avLst/>
          </a:prstGeom>
          <a:noFill/>
          <a:ln/>
        </p:spPr>
        <p:txBody>
          <a:bodyPr wrap="square" lIns="0" tIns="0" rIns="0" bIns="0" rtlCol="0" anchor="ctr">
            <a:normAutofit/>
          </a:bodyPr>
          <a:lstStyle/>
          <a:p>
            <a:pPr marL="0" indent="0" algn="ctr">
              <a:buNone/>
            </a:pPr>
            <a:r>
              <a:rPr lang="en-US" sz="1100" dirty="0">
                <a:solidFill>
                  <a:srgbClr val="142F4B"/>
                </a:solidFill>
                <a:latin typeface="Lato" pitchFamily="34" charset="0"/>
                <a:ea typeface="Lato" pitchFamily="34" charset="-122"/>
                <a:cs typeface="Lato" pitchFamily="34" charset="-120"/>
              </a:rPr>
              <a:t>28</a:t>
            </a:r>
            <a:endParaRPr lang="en-US" sz="1100" dirty="0"/>
          </a:p>
        </p:txBody>
      </p:sp>
      <p:sp>
        <p:nvSpPr>
          <p:cNvPr id="90" name="Shape 86"/>
          <p:cNvSpPr/>
          <p:nvPr/>
        </p:nvSpPr>
        <p:spPr>
          <a:xfrm>
            <a:off x="8485632" y="5971032"/>
            <a:ext cx="2962656" cy="512064"/>
          </a:xfrm>
          <a:prstGeom prst="roundRect">
            <a:avLst>
              <a:gd name="adj" fmla="val 21429"/>
            </a:avLst>
          </a:prstGeom>
          <a:solidFill>
            <a:srgbClr val="FFFFFF"/>
          </a:solidFill>
          <a:ln w="12700">
            <a:solidFill>
              <a:srgbClr val="DDE7F0"/>
            </a:solidFill>
            <a:prstDash val="solid"/>
          </a:ln>
        </p:spPr>
        <p:txBody>
          <a:bodyPr/>
          <a:lstStyle/>
          <a:p>
            <a:endParaRPr lang="en-US"/>
          </a:p>
        </p:txBody>
      </p:sp>
      <p:sp>
        <p:nvSpPr>
          <p:cNvPr id="91" name="Text 87"/>
          <p:cNvSpPr/>
          <p:nvPr/>
        </p:nvSpPr>
        <p:spPr>
          <a:xfrm>
            <a:off x="8613648" y="6080760"/>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Upcoming</a:t>
            </a:r>
            <a:endParaRPr lang="en-US" sz="1200" dirty="0"/>
          </a:p>
        </p:txBody>
      </p:sp>
      <p:sp>
        <p:nvSpPr>
          <p:cNvPr id="92" name="Text 88"/>
          <p:cNvSpPr/>
          <p:nvPr/>
        </p:nvSpPr>
        <p:spPr>
          <a:xfrm>
            <a:off x="8613648" y="6272784"/>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Pickleball • Club meeting • Fitness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722376" y="886968"/>
            <a:ext cx="6583680" cy="246888"/>
          </a:xfrm>
          <a:prstGeom prst="rect">
            <a:avLst/>
          </a:prstGeom>
          <a:noFill/>
          <a:ln/>
        </p:spPr>
        <p:txBody>
          <a:bodyPr wrap="square" lIns="0" tIns="0" rIns="0" bIns="0" rtlCol="0" anchor="ctr">
            <a:normAutofit/>
          </a:bodyPr>
          <a:lstStyle/>
          <a:p>
            <a:pPr marL="0" indent="0">
              <a:buNone/>
            </a:pPr>
            <a:r>
              <a:rPr lang="en-US" sz="1200" b="1" kern="0" spc="70" dirty="0">
                <a:solidFill>
                  <a:srgbClr val="127A91"/>
                </a:solidFill>
                <a:latin typeface="Lato Heavy" pitchFamily="34" charset="0"/>
                <a:ea typeface="Lato Heavy" pitchFamily="34" charset="-122"/>
                <a:cs typeface="Lato Heavy" pitchFamily="34" charset="-120"/>
              </a:rPr>
              <a:t>BARNABY  /  PROS</a:t>
            </a:r>
            <a:endParaRPr lang="en-US" sz="1200" dirty="0"/>
          </a:p>
        </p:txBody>
      </p:sp>
      <p:sp>
        <p:nvSpPr>
          <p:cNvPr id="6" name="Text 3"/>
          <p:cNvSpPr/>
          <p:nvPr/>
        </p:nvSpPr>
        <p:spPr>
          <a:xfrm>
            <a:off x="713232" y="1179576"/>
            <a:ext cx="7315200" cy="630936"/>
          </a:xfrm>
          <a:prstGeom prst="rect">
            <a:avLst/>
          </a:prstGeom>
          <a:noFill/>
          <a:ln/>
        </p:spPr>
        <p:txBody>
          <a:bodyPr wrap="square" lIns="0" tIns="0" rIns="0" bIns="0" rtlCol="0" anchor="ctr">
            <a:normAutofit/>
          </a:bodyPr>
          <a:lstStyle/>
          <a:p>
            <a:pPr marL="0" indent="0">
              <a:buNone/>
            </a:pPr>
            <a:r>
              <a:rPr lang="en-US" sz="3400" b="1" dirty="0">
                <a:solidFill>
                  <a:srgbClr val="082B4E"/>
                </a:solidFill>
                <a:latin typeface="Lato Heavy" pitchFamily="34" charset="0"/>
                <a:ea typeface="Lato Heavy" pitchFamily="34" charset="-122"/>
                <a:cs typeface="Lato Heavy" pitchFamily="34" charset="-120"/>
              </a:rPr>
              <a:t>LOCAL PROS, RIGHT THERE</a:t>
            </a:r>
            <a:endParaRPr lang="en-US" sz="3400" dirty="0"/>
          </a:p>
        </p:txBody>
      </p:sp>
      <p:sp>
        <p:nvSpPr>
          <p:cNvPr id="7" name="Text 4"/>
          <p:cNvSpPr/>
          <p:nvPr/>
        </p:nvSpPr>
        <p:spPr>
          <a:xfrm>
            <a:off x="731520" y="1856232"/>
            <a:ext cx="6858000" cy="448056"/>
          </a:xfrm>
          <a:prstGeom prst="rect">
            <a:avLst/>
          </a:prstGeom>
          <a:noFill/>
          <a:ln/>
        </p:spPr>
        <p:txBody>
          <a:bodyPr wrap="square" lIns="0" tIns="0" rIns="0" bIns="0" rtlCol="0" anchor="ctr">
            <a:normAutofit fontScale="92500"/>
          </a:bodyPr>
          <a:lstStyle/>
          <a:p>
            <a:pPr marL="0" indent="0">
              <a:buNone/>
            </a:pPr>
            <a:r>
              <a:rPr lang="en-US" sz="1950" dirty="0">
                <a:solidFill>
                  <a:srgbClr val="617B94"/>
                </a:solidFill>
                <a:latin typeface="Lato" pitchFamily="34" charset="0"/>
                <a:ea typeface="Lato" pitchFamily="34" charset="-122"/>
                <a:cs typeface="Lato" pitchFamily="34" charset="-120"/>
              </a:rPr>
              <a:t>Services residents actually with shared revenue on subscriptions.</a:t>
            </a:r>
            <a:endParaRPr lang="en-US" sz="1950" dirty="0"/>
          </a:p>
        </p:txBody>
      </p:sp>
      <p:sp>
        <p:nvSpPr>
          <p:cNvPr id="8" name="Shape 5"/>
          <p:cNvSpPr/>
          <p:nvPr/>
        </p:nvSpPr>
        <p:spPr>
          <a:xfrm>
            <a:off x="731520" y="2770632"/>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9" name="Text 6"/>
          <p:cNvSpPr/>
          <p:nvPr/>
        </p:nvSpPr>
        <p:spPr>
          <a:xfrm>
            <a:off x="1024128" y="2651760"/>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Plumbing, HVAC, electrical and cleaning</a:t>
            </a:r>
            <a:endParaRPr lang="en-US" sz="2100" dirty="0"/>
          </a:p>
        </p:txBody>
      </p:sp>
      <p:sp>
        <p:nvSpPr>
          <p:cNvPr id="10" name="Shape 7"/>
          <p:cNvSpPr/>
          <p:nvPr/>
        </p:nvSpPr>
        <p:spPr>
          <a:xfrm>
            <a:off x="731520" y="3575304"/>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1" name="Text 8"/>
          <p:cNvSpPr/>
          <p:nvPr/>
        </p:nvSpPr>
        <p:spPr>
          <a:xfrm>
            <a:off x="1024128" y="3456432"/>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Landscaping, handyman and pool care</a:t>
            </a:r>
            <a:endParaRPr lang="en-US" sz="2100" dirty="0"/>
          </a:p>
        </p:txBody>
      </p:sp>
      <p:sp>
        <p:nvSpPr>
          <p:cNvPr id="12" name="Shape 9"/>
          <p:cNvSpPr/>
          <p:nvPr/>
        </p:nvSpPr>
        <p:spPr>
          <a:xfrm>
            <a:off x="731520" y="4379976"/>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3" name="Text 10"/>
          <p:cNvSpPr/>
          <p:nvPr/>
        </p:nvSpPr>
        <p:spPr>
          <a:xfrm>
            <a:off x="1024128" y="4261104"/>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Provider discovery and easy contact</a:t>
            </a:r>
            <a:endParaRPr lang="en-US" sz="2100" dirty="0"/>
          </a:p>
        </p:txBody>
      </p:sp>
      <p:sp>
        <p:nvSpPr>
          <p:cNvPr id="14" name="Shape 11"/>
          <p:cNvSpPr/>
          <p:nvPr/>
        </p:nvSpPr>
        <p:spPr>
          <a:xfrm>
            <a:off x="713232" y="5385816"/>
            <a:ext cx="6638544" cy="822960"/>
          </a:xfrm>
          <a:prstGeom prst="roundRect">
            <a:avLst>
              <a:gd name="adj" fmla="val 16667"/>
            </a:avLst>
          </a:prstGeom>
          <a:solidFill>
            <a:srgbClr val="EAF5FF"/>
          </a:solidFill>
          <a:ln w="12700">
            <a:solidFill>
              <a:srgbClr val="CDE3F6"/>
            </a:solidFill>
            <a:prstDash val="solid"/>
          </a:ln>
        </p:spPr>
        <p:txBody>
          <a:bodyPr/>
          <a:lstStyle/>
          <a:p>
            <a:endParaRPr lang="en-US"/>
          </a:p>
        </p:txBody>
      </p:sp>
      <p:sp>
        <p:nvSpPr>
          <p:cNvPr id="15" name="Shape 12"/>
          <p:cNvSpPr/>
          <p:nvPr/>
        </p:nvSpPr>
        <p:spPr>
          <a:xfrm>
            <a:off x="914400" y="5623560"/>
            <a:ext cx="256032" cy="256032"/>
          </a:xfrm>
          <a:prstGeom prst="ellipse">
            <a:avLst/>
          </a:prstGeom>
          <a:solidFill>
            <a:srgbClr val="057BEE"/>
          </a:solidFill>
          <a:ln w="12700">
            <a:solidFill>
              <a:srgbClr val="057BEE">
                <a:alpha val="0"/>
              </a:srgbClr>
            </a:solidFill>
            <a:prstDash val="solid"/>
          </a:ln>
        </p:spPr>
        <p:txBody>
          <a:bodyPr/>
          <a:lstStyle/>
          <a:p>
            <a:endParaRPr lang="en-US"/>
          </a:p>
        </p:txBody>
      </p:sp>
      <p:sp>
        <p:nvSpPr>
          <p:cNvPr id="16" name="Text 13"/>
          <p:cNvSpPr/>
          <p:nvPr/>
        </p:nvSpPr>
        <p:spPr>
          <a:xfrm>
            <a:off x="958291" y="5623560"/>
            <a:ext cx="1828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Lato Heavy" pitchFamily="34" charset="0"/>
                <a:ea typeface="Lato Heavy" pitchFamily="34" charset="-122"/>
                <a:cs typeface="Lato Heavy" pitchFamily="34" charset="-120"/>
              </a:rPr>
              <a:t>→</a:t>
            </a:r>
            <a:endParaRPr lang="en-US" sz="1400" dirty="0"/>
          </a:p>
        </p:txBody>
      </p:sp>
      <p:sp>
        <p:nvSpPr>
          <p:cNvPr id="17" name="Text 14"/>
          <p:cNvSpPr/>
          <p:nvPr/>
        </p:nvSpPr>
        <p:spPr>
          <a:xfrm>
            <a:off x="1307592" y="5486400"/>
            <a:ext cx="5824728" cy="612648"/>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A richer service directory creates value beyond HOA administration.</a:t>
            </a:r>
            <a:endParaRPr lang="en-US" sz="1850" dirty="0"/>
          </a:p>
        </p:txBody>
      </p:sp>
      <p:sp>
        <p:nvSpPr>
          <p:cNvPr id="18" name="Text 15"/>
          <p:cNvSpPr/>
          <p:nvPr/>
        </p:nvSpPr>
        <p:spPr>
          <a:xfrm>
            <a:off x="10652760" y="6464808"/>
            <a:ext cx="1051560" cy="182880"/>
          </a:xfrm>
          <a:prstGeom prst="rect">
            <a:avLst/>
          </a:prstGeom>
          <a:noFill/>
          <a:ln/>
        </p:spPr>
        <p:txBody>
          <a:bodyPr wrap="square" lIns="0" tIns="0" rIns="0" bIns="0" rtlCol="0" anchor="ctr">
            <a:normAutofit/>
          </a:bodyPr>
          <a:lstStyle/>
          <a:p>
            <a:pPr marL="0" indent="0" algn="r">
              <a:buNone/>
            </a:pPr>
            <a:r>
              <a:rPr lang="en-US" sz="1000" b="1" dirty="0">
                <a:solidFill>
                  <a:srgbClr val="617B94"/>
                </a:solidFill>
                <a:latin typeface="Lato Heavy" pitchFamily="34" charset="0"/>
                <a:ea typeface="Lato Heavy" pitchFamily="34" charset="-122"/>
                <a:cs typeface="Lato Heavy" pitchFamily="34" charset="-120"/>
              </a:rPr>
              <a:t>07  /  14</a:t>
            </a:r>
            <a:endParaRPr lang="en-US" sz="1000" dirty="0"/>
          </a:p>
        </p:txBody>
      </p:sp>
      <p:sp>
        <p:nvSpPr>
          <p:cNvPr id="19" name="Text 16"/>
          <p:cNvSpPr/>
          <p:nvPr/>
        </p:nvSpPr>
        <p:spPr>
          <a:xfrm>
            <a:off x="731520" y="6446520"/>
            <a:ext cx="9052560" cy="210312"/>
          </a:xfrm>
          <a:prstGeom prst="rect">
            <a:avLst/>
          </a:prstGeom>
          <a:noFill/>
          <a:ln/>
        </p:spPr>
        <p:txBody>
          <a:bodyPr wrap="square" lIns="0" tIns="0" rIns="0" bIns="0" rtlCol="0" anchor="ctr">
            <a:normAutofit/>
          </a:bodyPr>
          <a:lstStyle/>
          <a:p>
            <a:pPr marL="0" indent="0">
              <a:buNone/>
            </a:pPr>
            <a:r>
              <a:rPr lang="en-US" sz="940" dirty="0">
                <a:solidFill>
                  <a:srgbClr val="617B94"/>
                </a:solidFill>
                <a:latin typeface="Lato" pitchFamily="34" charset="0"/>
                <a:ea typeface="Lato" pitchFamily="34" charset="-122"/>
                <a:cs typeface="Lato" pitchFamily="34" charset="-120"/>
              </a:rPr>
              <a:t>ILLUSTRATIVE CONCEPT DEMO • ON TOP OF THE WORLD COMMUNITY HIGHLIGHTS • NOT OFFICIALLY AFFILIATED</a:t>
            </a:r>
            <a:endParaRPr lang="en-US" sz="940" dirty="0"/>
          </a:p>
        </p:txBody>
      </p:sp>
      <p:sp>
        <p:nvSpPr>
          <p:cNvPr id="20" name="Shape 17"/>
          <p:cNvSpPr/>
          <p:nvPr/>
        </p:nvSpPr>
        <p:spPr>
          <a:xfrm>
            <a:off x="8375904" y="886968"/>
            <a:ext cx="3328416" cy="5541264"/>
          </a:xfrm>
          <a:prstGeom prst="roundRect">
            <a:avLst>
              <a:gd name="adj" fmla="val 4121"/>
            </a:avLst>
          </a:prstGeom>
          <a:solidFill>
            <a:srgbClr val="D7E0EA"/>
          </a:solidFill>
          <a:ln w="12700">
            <a:solidFill>
              <a:srgbClr val="D7E0EA">
                <a:alpha val="0"/>
              </a:srgbClr>
            </a:solidFill>
            <a:prstDash val="solid"/>
          </a:ln>
        </p:spPr>
        <p:txBody>
          <a:bodyPr/>
          <a:lstStyle/>
          <a:p>
            <a:endParaRPr lang="en-US"/>
          </a:p>
        </p:txBody>
      </p:sp>
      <p:sp>
        <p:nvSpPr>
          <p:cNvPr id="21" name="Shape 18"/>
          <p:cNvSpPr/>
          <p:nvPr/>
        </p:nvSpPr>
        <p:spPr>
          <a:xfrm>
            <a:off x="8302752" y="795528"/>
            <a:ext cx="3328416" cy="5541264"/>
          </a:xfrm>
          <a:prstGeom prst="roundRect">
            <a:avLst>
              <a:gd name="adj" fmla="val 4121"/>
            </a:avLst>
          </a:prstGeom>
          <a:solidFill>
            <a:srgbClr val="071522"/>
          </a:solidFill>
          <a:ln w="12700">
            <a:solidFill>
              <a:srgbClr val="071522">
                <a:alpha val="0"/>
              </a:srgbClr>
            </a:solidFill>
            <a:prstDash val="solid"/>
          </a:ln>
        </p:spPr>
        <p:txBody>
          <a:bodyPr/>
          <a:lstStyle/>
          <a:p>
            <a:endParaRPr lang="en-US"/>
          </a:p>
        </p:txBody>
      </p:sp>
      <p:sp>
        <p:nvSpPr>
          <p:cNvPr id="22" name="Shape 19"/>
          <p:cNvSpPr/>
          <p:nvPr/>
        </p:nvSpPr>
        <p:spPr>
          <a:xfrm>
            <a:off x="8394192" y="886968"/>
            <a:ext cx="3145536" cy="5358384"/>
          </a:xfrm>
          <a:prstGeom prst="roundRect">
            <a:avLst>
              <a:gd name="adj" fmla="val 4360"/>
            </a:avLst>
          </a:prstGeom>
          <a:solidFill>
            <a:srgbClr val="FFFFFF"/>
          </a:solidFill>
          <a:ln w="12700">
            <a:solidFill>
              <a:srgbClr val="FFFFFF">
                <a:alpha val="0"/>
              </a:srgbClr>
            </a:solidFill>
            <a:prstDash val="solid"/>
          </a:ln>
        </p:spPr>
        <p:txBody>
          <a:bodyPr/>
          <a:lstStyle/>
          <a:p>
            <a:endParaRPr lang="en-US"/>
          </a:p>
        </p:txBody>
      </p:sp>
      <p:sp>
        <p:nvSpPr>
          <p:cNvPr id="23" name="Shape 20"/>
          <p:cNvSpPr/>
          <p:nvPr/>
        </p:nvSpPr>
        <p:spPr>
          <a:xfrm>
            <a:off x="9454896" y="850392"/>
            <a:ext cx="1014984" cy="173736"/>
          </a:xfrm>
          <a:prstGeom prst="roundRect">
            <a:avLst>
              <a:gd name="adj" fmla="val 78947"/>
            </a:avLst>
          </a:prstGeom>
          <a:solidFill>
            <a:srgbClr val="071522"/>
          </a:solidFill>
          <a:ln w="12700">
            <a:solidFill>
              <a:srgbClr val="071522">
                <a:alpha val="0"/>
              </a:srgbClr>
            </a:solidFill>
            <a:prstDash val="solid"/>
          </a:ln>
        </p:spPr>
        <p:txBody>
          <a:bodyPr/>
          <a:lstStyle/>
          <a:p>
            <a:endParaRPr lang="en-US"/>
          </a:p>
        </p:txBody>
      </p:sp>
      <p:sp>
        <p:nvSpPr>
          <p:cNvPr id="24" name="Text 21"/>
          <p:cNvSpPr/>
          <p:nvPr/>
        </p:nvSpPr>
        <p:spPr>
          <a:xfrm>
            <a:off x="8558784" y="978408"/>
            <a:ext cx="566928" cy="210312"/>
          </a:xfrm>
          <a:prstGeom prst="rect">
            <a:avLst/>
          </a:prstGeom>
          <a:noFill/>
          <a:ln/>
        </p:spPr>
        <p:txBody>
          <a:bodyPr wrap="square" lIns="0" tIns="0" rIns="0" bIns="0" rtlCol="0" anchor="ctr">
            <a:normAutofit/>
          </a:bodyPr>
          <a:lstStyle/>
          <a:p>
            <a:pPr marL="0" indent="0">
              <a:buNone/>
            </a:pPr>
            <a:r>
              <a:rPr lang="en-US" sz="1000" b="1" dirty="0">
                <a:solidFill>
                  <a:srgbClr val="2A4157"/>
                </a:solidFill>
                <a:latin typeface="Lato Heavy" pitchFamily="34" charset="0"/>
                <a:ea typeface="Lato Heavy" pitchFamily="34" charset="-122"/>
                <a:cs typeface="Lato Heavy" pitchFamily="34" charset="-120"/>
              </a:rPr>
              <a:t>9:41</a:t>
            </a:r>
            <a:endParaRPr lang="en-US" sz="1000" dirty="0"/>
          </a:p>
        </p:txBody>
      </p:sp>
      <p:sp>
        <p:nvSpPr>
          <p:cNvPr id="25" name="Text 22"/>
          <p:cNvSpPr/>
          <p:nvPr/>
        </p:nvSpPr>
        <p:spPr>
          <a:xfrm>
            <a:off x="10561320" y="978408"/>
            <a:ext cx="685800" cy="210312"/>
          </a:xfrm>
          <a:prstGeom prst="rect">
            <a:avLst/>
          </a:prstGeom>
          <a:noFill/>
          <a:ln/>
        </p:spPr>
        <p:txBody>
          <a:bodyPr wrap="square" lIns="0" tIns="0" rIns="0" bIns="0" rtlCol="0" anchor="ctr">
            <a:normAutofit/>
          </a:bodyPr>
          <a:lstStyle/>
          <a:p>
            <a:pPr marL="0" indent="0" algn="r">
              <a:buNone/>
            </a:pPr>
            <a:r>
              <a:rPr lang="en-US" sz="900" b="1" dirty="0">
                <a:solidFill>
                  <a:srgbClr val="2A4157"/>
                </a:solidFill>
                <a:latin typeface="Lato Heavy" pitchFamily="34" charset="0"/>
                <a:ea typeface="Lato Heavy" pitchFamily="34" charset="-122"/>
                <a:cs typeface="Lato Heavy" pitchFamily="34" charset="-120"/>
              </a:rPr>
              <a:t>▰  Wi-Fi</a:t>
            </a:r>
            <a:endParaRPr lang="en-US" sz="900" dirty="0"/>
          </a:p>
        </p:txBody>
      </p:sp>
      <p:sp>
        <p:nvSpPr>
          <p:cNvPr id="26" name="Text 23"/>
          <p:cNvSpPr/>
          <p:nvPr/>
        </p:nvSpPr>
        <p:spPr>
          <a:xfrm>
            <a:off x="8485632" y="1298448"/>
            <a:ext cx="2962656" cy="283464"/>
          </a:xfrm>
          <a:prstGeom prst="rect">
            <a:avLst/>
          </a:prstGeom>
          <a:noFill/>
          <a:ln/>
        </p:spPr>
        <p:txBody>
          <a:bodyPr wrap="square" lIns="0" tIns="0" rIns="0" bIns="0" rtlCol="0" anchor="ctr">
            <a:normAutofit/>
          </a:bodyPr>
          <a:lstStyle/>
          <a:p>
            <a:pPr marL="0" indent="0" algn="ctr">
              <a:buNone/>
            </a:pPr>
            <a:r>
              <a:rPr lang="en-US" sz="1370" b="1" dirty="0">
                <a:solidFill>
                  <a:srgbClr val="082B4E"/>
                </a:solidFill>
                <a:latin typeface="Lato Heavy" pitchFamily="34" charset="0"/>
                <a:ea typeface="Lato Heavy" pitchFamily="34" charset="-122"/>
                <a:cs typeface="Lato Heavy" pitchFamily="34" charset="-120"/>
              </a:rPr>
              <a:t>On Top of the World</a:t>
            </a:r>
            <a:endParaRPr lang="en-US" sz="1370" dirty="0"/>
          </a:p>
        </p:txBody>
      </p:sp>
      <p:pic>
        <p:nvPicPr>
          <p:cNvPr id="27" name="Image 1" descr="/mnt/data/barnaby_hd_work/otow_gradient.png"/>
          <p:cNvPicPr>
            <a:picLocks noChangeAspect="1"/>
          </p:cNvPicPr>
          <p:nvPr/>
        </p:nvPicPr>
        <p:blipFill>
          <a:blip r:embed="rId4"/>
          <a:stretch>
            <a:fillRect/>
          </a:stretch>
        </p:blipFill>
        <p:spPr>
          <a:xfrm>
            <a:off x="8403336" y="1691640"/>
            <a:ext cx="3127248" cy="804672"/>
          </a:xfrm>
          <a:prstGeom prst="rect">
            <a:avLst/>
          </a:prstGeom>
        </p:spPr>
      </p:pic>
      <p:sp>
        <p:nvSpPr>
          <p:cNvPr id="28" name="Text 24"/>
          <p:cNvSpPr/>
          <p:nvPr/>
        </p:nvSpPr>
        <p:spPr>
          <a:xfrm>
            <a:off x="8586216" y="1783080"/>
            <a:ext cx="274320" cy="27432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Lato Heavy" pitchFamily="34" charset="0"/>
                <a:ea typeface="Lato Heavy" pitchFamily="34" charset="-122"/>
                <a:cs typeface="Lato Heavy" pitchFamily="34" charset="-120"/>
              </a:rPr>
              <a:t>≡</a:t>
            </a:r>
            <a:endParaRPr lang="en-US" sz="1900" dirty="0"/>
          </a:p>
        </p:txBody>
      </p:sp>
      <p:sp>
        <p:nvSpPr>
          <p:cNvPr id="29" name="Text 25"/>
          <p:cNvSpPr/>
          <p:nvPr/>
        </p:nvSpPr>
        <p:spPr>
          <a:xfrm>
            <a:off x="9025128" y="1810512"/>
            <a:ext cx="1920240" cy="201168"/>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Lato Heavy" pitchFamily="34" charset="0"/>
                <a:ea typeface="Lato Heavy" pitchFamily="34" charset="-122"/>
                <a:cs typeface="Lato Heavy" pitchFamily="34" charset="-120"/>
              </a:rPr>
              <a:t>On Top of the World</a:t>
            </a:r>
            <a:endParaRPr lang="en-US" sz="1200" dirty="0"/>
          </a:p>
        </p:txBody>
      </p:sp>
      <p:sp>
        <p:nvSpPr>
          <p:cNvPr id="30" name="Text 26"/>
          <p:cNvSpPr/>
          <p:nvPr/>
        </p:nvSpPr>
        <p:spPr>
          <a:xfrm>
            <a:off x="8567928" y="2148840"/>
            <a:ext cx="2377440" cy="301752"/>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Lato Heavy" pitchFamily="34" charset="0"/>
                <a:ea typeface="Lato Heavy" pitchFamily="34" charset="-122"/>
                <a:cs typeface="Lato Heavy" pitchFamily="34" charset="-120"/>
              </a:rPr>
              <a:t>PROS</a:t>
            </a:r>
            <a:endParaRPr lang="en-US" sz="1800" dirty="0"/>
          </a:p>
        </p:txBody>
      </p:sp>
      <p:sp>
        <p:nvSpPr>
          <p:cNvPr id="31" name="Shape 27"/>
          <p:cNvSpPr/>
          <p:nvPr/>
        </p:nvSpPr>
        <p:spPr>
          <a:xfrm>
            <a:off x="8449056" y="5705856"/>
            <a:ext cx="3035808" cy="420624"/>
          </a:xfrm>
          <a:prstGeom prst="roundRect">
            <a:avLst>
              <a:gd name="adj" fmla="val 32609"/>
            </a:avLst>
          </a:prstGeom>
          <a:solidFill>
            <a:srgbClr val="F8FBFE"/>
          </a:solidFill>
          <a:ln w="12700">
            <a:solidFill>
              <a:srgbClr val="F8FBFE">
                <a:alpha val="0"/>
              </a:srgbClr>
            </a:solidFill>
            <a:prstDash val="solid"/>
          </a:ln>
        </p:spPr>
        <p:txBody>
          <a:bodyPr/>
          <a:lstStyle/>
          <a:p>
            <a:endParaRPr lang="en-US"/>
          </a:p>
        </p:txBody>
      </p:sp>
      <p:sp>
        <p:nvSpPr>
          <p:cNvPr id="32" name="Text 28"/>
          <p:cNvSpPr/>
          <p:nvPr/>
        </p:nvSpPr>
        <p:spPr>
          <a:xfrm>
            <a:off x="8677656"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3" name="Text 29"/>
          <p:cNvSpPr/>
          <p:nvPr/>
        </p:nvSpPr>
        <p:spPr>
          <a:xfrm>
            <a:off x="8595360"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Home</a:t>
            </a:r>
            <a:endParaRPr lang="en-US" sz="820" dirty="0"/>
          </a:p>
        </p:txBody>
      </p:sp>
      <p:sp>
        <p:nvSpPr>
          <p:cNvPr id="34" name="Text 30"/>
          <p:cNvSpPr/>
          <p:nvPr/>
        </p:nvSpPr>
        <p:spPr>
          <a:xfrm>
            <a:off x="9372600"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5" name="Text 31"/>
          <p:cNvSpPr/>
          <p:nvPr/>
        </p:nvSpPr>
        <p:spPr>
          <a:xfrm>
            <a:off x="9290304"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Outings</a:t>
            </a:r>
            <a:endParaRPr lang="en-US" sz="820" dirty="0"/>
          </a:p>
        </p:txBody>
      </p:sp>
      <p:sp>
        <p:nvSpPr>
          <p:cNvPr id="36" name="Text 32"/>
          <p:cNvSpPr/>
          <p:nvPr/>
        </p:nvSpPr>
        <p:spPr>
          <a:xfrm>
            <a:off x="10067544"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7" name="Text 33"/>
          <p:cNvSpPr/>
          <p:nvPr/>
        </p:nvSpPr>
        <p:spPr>
          <a:xfrm>
            <a:off x="9985248"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Messages</a:t>
            </a:r>
            <a:endParaRPr lang="en-US" sz="820" dirty="0"/>
          </a:p>
        </p:txBody>
      </p:sp>
      <p:sp>
        <p:nvSpPr>
          <p:cNvPr id="38" name="Text 34"/>
          <p:cNvSpPr/>
          <p:nvPr/>
        </p:nvSpPr>
        <p:spPr>
          <a:xfrm>
            <a:off x="10762488"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9" name="Text 35"/>
          <p:cNvSpPr/>
          <p:nvPr/>
        </p:nvSpPr>
        <p:spPr>
          <a:xfrm>
            <a:off x="10680192"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More</a:t>
            </a:r>
            <a:endParaRPr lang="en-US" sz="820" dirty="0"/>
          </a:p>
        </p:txBody>
      </p:sp>
      <p:sp>
        <p:nvSpPr>
          <p:cNvPr id="40" name="Text 36"/>
          <p:cNvSpPr/>
          <p:nvPr/>
        </p:nvSpPr>
        <p:spPr>
          <a:xfrm>
            <a:off x="8485632" y="2587752"/>
            <a:ext cx="2962656" cy="338328"/>
          </a:xfrm>
          <a:prstGeom prst="rect">
            <a:avLst/>
          </a:prstGeom>
          <a:noFill/>
          <a:ln/>
        </p:spPr>
        <p:txBody>
          <a:bodyPr wrap="square" lIns="0" tIns="0" rIns="0" bIns="0" rtlCol="0" anchor="ctr">
            <a:normAutofit/>
          </a:bodyPr>
          <a:lstStyle/>
          <a:p>
            <a:pPr marL="0" indent="0">
              <a:buNone/>
            </a:pPr>
            <a:r>
              <a:rPr lang="en-US" sz="1700" b="1" dirty="0">
                <a:solidFill>
                  <a:srgbClr val="082B4E"/>
                </a:solidFill>
                <a:latin typeface="Lato Heavy" pitchFamily="34" charset="0"/>
                <a:ea typeface="Lato Heavy" pitchFamily="34" charset="-122"/>
                <a:cs typeface="Lato Heavy" pitchFamily="34" charset="-120"/>
              </a:rPr>
              <a:t>Local Pros</a:t>
            </a:r>
            <a:endParaRPr lang="en-US" sz="1700" dirty="0"/>
          </a:p>
        </p:txBody>
      </p:sp>
      <p:sp>
        <p:nvSpPr>
          <p:cNvPr id="41" name="Text 37"/>
          <p:cNvSpPr/>
          <p:nvPr/>
        </p:nvSpPr>
        <p:spPr>
          <a:xfrm>
            <a:off x="8485632" y="2916936"/>
            <a:ext cx="2962656" cy="192024"/>
          </a:xfrm>
          <a:prstGeom prst="rect">
            <a:avLst/>
          </a:prstGeom>
          <a:noFill/>
          <a:ln/>
        </p:spPr>
        <p:txBody>
          <a:bodyPr wrap="square" lIns="0" tIns="0" rIns="0" bIns="0" rtlCol="0" anchor="ctr">
            <a:normAutofit/>
          </a:bodyPr>
          <a:lstStyle/>
          <a:p>
            <a:pPr marL="0" indent="0">
              <a:buNone/>
            </a:pPr>
            <a:r>
              <a:rPr lang="en-US" sz="1000" dirty="0">
                <a:solidFill>
                  <a:srgbClr val="617B94"/>
                </a:solidFill>
                <a:latin typeface="Lato" pitchFamily="34" charset="0"/>
                <a:ea typeface="Lato" pitchFamily="34" charset="-122"/>
                <a:cs typeface="Lato" pitchFamily="34" charset="-120"/>
              </a:rPr>
              <a:t>Everyday services residents need</a:t>
            </a:r>
            <a:endParaRPr lang="en-US" sz="1000" dirty="0"/>
          </a:p>
        </p:txBody>
      </p:sp>
      <p:sp>
        <p:nvSpPr>
          <p:cNvPr id="42" name="Shape 38"/>
          <p:cNvSpPr/>
          <p:nvPr/>
        </p:nvSpPr>
        <p:spPr>
          <a:xfrm>
            <a:off x="8485632" y="3236976"/>
            <a:ext cx="704088" cy="265176"/>
          </a:xfrm>
          <a:prstGeom prst="roundRect">
            <a:avLst>
              <a:gd name="adj" fmla="val 34483"/>
            </a:avLst>
          </a:prstGeom>
          <a:solidFill>
            <a:srgbClr val="057BEE"/>
          </a:solidFill>
          <a:ln w="12700">
            <a:solidFill>
              <a:srgbClr val="057BEE"/>
            </a:solidFill>
            <a:prstDash val="solid"/>
          </a:ln>
        </p:spPr>
        <p:txBody>
          <a:bodyPr/>
          <a:lstStyle/>
          <a:p>
            <a:endParaRPr lang="en-US"/>
          </a:p>
        </p:txBody>
      </p:sp>
      <p:sp>
        <p:nvSpPr>
          <p:cNvPr id="43" name="Text 39"/>
          <p:cNvSpPr/>
          <p:nvPr/>
        </p:nvSpPr>
        <p:spPr>
          <a:xfrm>
            <a:off x="8513064" y="3282696"/>
            <a:ext cx="649224" cy="146304"/>
          </a:xfrm>
          <a:prstGeom prst="rect">
            <a:avLst/>
          </a:prstGeom>
          <a:noFill/>
          <a:ln/>
        </p:spPr>
        <p:txBody>
          <a:bodyPr wrap="square" lIns="0" tIns="0" rIns="0" bIns="0" rtlCol="0" anchor="ctr">
            <a:normAutofit/>
          </a:bodyPr>
          <a:lstStyle/>
          <a:p>
            <a:pPr marL="0" indent="0" algn="ctr">
              <a:buNone/>
            </a:pPr>
            <a:r>
              <a:rPr lang="en-US" sz="880" b="1" dirty="0">
                <a:solidFill>
                  <a:srgbClr val="FFFFFF"/>
                </a:solidFill>
                <a:latin typeface="Lato Heavy" pitchFamily="34" charset="0"/>
                <a:ea typeface="Lato Heavy" pitchFamily="34" charset="-122"/>
                <a:cs typeface="Lato Heavy" pitchFamily="34" charset="-120"/>
              </a:rPr>
              <a:t>All</a:t>
            </a:r>
            <a:endParaRPr lang="en-US" sz="880" dirty="0"/>
          </a:p>
        </p:txBody>
      </p:sp>
      <p:sp>
        <p:nvSpPr>
          <p:cNvPr id="44" name="Shape 40"/>
          <p:cNvSpPr/>
          <p:nvPr/>
        </p:nvSpPr>
        <p:spPr>
          <a:xfrm>
            <a:off x="9226296" y="3236976"/>
            <a:ext cx="704088" cy="265176"/>
          </a:xfrm>
          <a:prstGeom prst="roundRect">
            <a:avLst>
              <a:gd name="adj" fmla="val 34483"/>
            </a:avLst>
          </a:prstGeom>
          <a:solidFill>
            <a:srgbClr val="EDF3F8"/>
          </a:solidFill>
          <a:ln w="12700">
            <a:solidFill>
              <a:srgbClr val="E2EAF2"/>
            </a:solidFill>
            <a:prstDash val="solid"/>
          </a:ln>
        </p:spPr>
        <p:txBody>
          <a:bodyPr/>
          <a:lstStyle/>
          <a:p>
            <a:endParaRPr lang="en-US"/>
          </a:p>
        </p:txBody>
      </p:sp>
      <p:sp>
        <p:nvSpPr>
          <p:cNvPr id="45" name="Text 41"/>
          <p:cNvSpPr/>
          <p:nvPr/>
        </p:nvSpPr>
        <p:spPr>
          <a:xfrm>
            <a:off x="9253728" y="3282696"/>
            <a:ext cx="649224" cy="146304"/>
          </a:xfrm>
          <a:prstGeom prst="rect">
            <a:avLst/>
          </a:prstGeom>
          <a:noFill/>
          <a:ln/>
        </p:spPr>
        <p:txBody>
          <a:bodyPr wrap="square" lIns="0" tIns="0" rIns="0" bIns="0" rtlCol="0" anchor="ctr">
            <a:normAutofit/>
          </a:bodyPr>
          <a:lstStyle/>
          <a:p>
            <a:pPr marL="0" indent="0" algn="ctr">
              <a:buNone/>
            </a:pPr>
            <a:r>
              <a:rPr lang="en-US" sz="880" b="1" dirty="0">
                <a:solidFill>
                  <a:srgbClr val="617B94"/>
                </a:solidFill>
                <a:latin typeface="Lato Heavy" pitchFamily="34" charset="0"/>
                <a:ea typeface="Lato Heavy" pitchFamily="34" charset="-122"/>
                <a:cs typeface="Lato Heavy" pitchFamily="34" charset="-120"/>
              </a:rPr>
              <a:t>Plumbing</a:t>
            </a:r>
            <a:endParaRPr lang="en-US" sz="880" dirty="0"/>
          </a:p>
        </p:txBody>
      </p:sp>
      <p:sp>
        <p:nvSpPr>
          <p:cNvPr id="46" name="Shape 42"/>
          <p:cNvSpPr/>
          <p:nvPr/>
        </p:nvSpPr>
        <p:spPr>
          <a:xfrm>
            <a:off x="9966960" y="3236976"/>
            <a:ext cx="704088" cy="265176"/>
          </a:xfrm>
          <a:prstGeom prst="roundRect">
            <a:avLst>
              <a:gd name="adj" fmla="val 34483"/>
            </a:avLst>
          </a:prstGeom>
          <a:solidFill>
            <a:srgbClr val="EDF3F8"/>
          </a:solidFill>
          <a:ln w="12700">
            <a:solidFill>
              <a:srgbClr val="E2EAF2"/>
            </a:solidFill>
            <a:prstDash val="solid"/>
          </a:ln>
        </p:spPr>
        <p:txBody>
          <a:bodyPr/>
          <a:lstStyle/>
          <a:p>
            <a:endParaRPr lang="en-US"/>
          </a:p>
        </p:txBody>
      </p:sp>
      <p:sp>
        <p:nvSpPr>
          <p:cNvPr id="47" name="Text 43"/>
          <p:cNvSpPr/>
          <p:nvPr/>
        </p:nvSpPr>
        <p:spPr>
          <a:xfrm>
            <a:off x="9994392" y="3282696"/>
            <a:ext cx="649224" cy="146304"/>
          </a:xfrm>
          <a:prstGeom prst="rect">
            <a:avLst/>
          </a:prstGeom>
          <a:noFill/>
          <a:ln/>
        </p:spPr>
        <p:txBody>
          <a:bodyPr wrap="square" lIns="0" tIns="0" rIns="0" bIns="0" rtlCol="0" anchor="ctr">
            <a:normAutofit/>
          </a:bodyPr>
          <a:lstStyle/>
          <a:p>
            <a:pPr marL="0" indent="0" algn="ctr">
              <a:buNone/>
            </a:pPr>
            <a:r>
              <a:rPr lang="en-US" sz="880" b="1" dirty="0">
                <a:solidFill>
                  <a:srgbClr val="617B94"/>
                </a:solidFill>
                <a:latin typeface="Lato Heavy" pitchFamily="34" charset="0"/>
                <a:ea typeface="Lato Heavy" pitchFamily="34" charset="-122"/>
                <a:cs typeface="Lato Heavy" pitchFamily="34" charset="-120"/>
              </a:rPr>
              <a:t>HVAC</a:t>
            </a:r>
            <a:endParaRPr lang="en-US" sz="880" dirty="0"/>
          </a:p>
        </p:txBody>
      </p:sp>
      <p:sp>
        <p:nvSpPr>
          <p:cNvPr id="48" name="Shape 44"/>
          <p:cNvSpPr/>
          <p:nvPr/>
        </p:nvSpPr>
        <p:spPr>
          <a:xfrm>
            <a:off x="10707624" y="3236976"/>
            <a:ext cx="704088" cy="265176"/>
          </a:xfrm>
          <a:prstGeom prst="roundRect">
            <a:avLst>
              <a:gd name="adj" fmla="val 34483"/>
            </a:avLst>
          </a:prstGeom>
          <a:solidFill>
            <a:srgbClr val="EDF3F8"/>
          </a:solidFill>
          <a:ln w="12700">
            <a:solidFill>
              <a:srgbClr val="E2EAF2"/>
            </a:solidFill>
            <a:prstDash val="solid"/>
          </a:ln>
        </p:spPr>
        <p:txBody>
          <a:bodyPr/>
          <a:lstStyle/>
          <a:p>
            <a:endParaRPr lang="en-US"/>
          </a:p>
        </p:txBody>
      </p:sp>
      <p:sp>
        <p:nvSpPr>
          <p:cNvPr id="49" name="Text 45"/>
          <p:cNvSpPr/>
          <p:nvPr/>
        </p:nvSpPr>
        <p:spPr>
          <a:xfrm>
            <a:off x="10735056" y="3282696"/>
            <a:ext cx="649224" cy="146304"/>
          </a:xfrm>
          <a:prstGeom prst="rect">
            <a:avLst/>
          </a:prstGeom>
          <a:noFill/>
          <a:ln/>
        </p:spPr>
        <p:txBody>
          <a:bodyPr wrap="square" lIns="0" tIns="0" rIns="0" bIns="0" rtlCol="0" anchor="ctr">
            <a:normAutofit/>
          </a:bodyPr>
          <a:lstStyle/>
          <a:p>
            <a:pPr marL="0" indent="0" algn="ctr">
              <a:buNone/>
            </a:pPr>
            <a:r>
              <a:rPr lang="en-US" sz="880" b="1" dirty="0">
                <a:solidFill>
                  <a:srgbClr val="617B94"/>
                </a:solidFill>
                <a:latin typeface="Lato Heavy" pitchFamily="34" charset="0"/>
                <a:ea typeface="Lato Heavy" pitchFamily="34" charset="-122"/>
                <a:cs typeface="Lato Heavy" pitchFamily="34" charset="-120"/>
              </a:rPr>
              <a:t>Electrical</a:t>
            </a:r>
            <a:endParaRPr lang="en-US" sz="880" dirty="0"/>
          </a:p>
        </p:txBody>
      </p:sp>
      <p:sp>
        <p:nvSpPr>
          <p:cNvPr id="50" name="Shape 46"/>
          <p:cNvSpPr/>
          <p:nvPr/>
        </p:nvSpPr>
        <p:spPr>
          <a:xfrm>
            <a:off x="8485632" y="3630168"/>
            <a:ext cx="2962656" cy="448056"/>
          </a:xfrm>
          <a:prstGeom prst="roundRect">
            <a:avLst>
              <a:gd name="adj" fmla="val 24490"/>
            </a:avLst>
          </a:prstGeom>
          <a:solidFill>
            <a:srgbClr val="FFFFFF"/>
          </a:solidFill>
          <a:ln w="12700">
            <a:solidFill>
              <a:srgbClr val="DDE7F0"/>
            </a:solidFill>
            <a:prstDash val="solid"/>
          </a:ln>
        </p:spPr>
        <p:txBody>
          <a:bodyPr/>
          <a:lstStyle/>
          <a:p>
            <a:endParaRPr lang="en-US"/>
          </a:p>
        </p:txBody>
      </p:sp>
      <p:sp>
        <p:nvSpPr>
          <p:cNvPr id="51" name="Text 47"/>
          <p:cNvSpPr/>
          <p:nvPr/>
        </p:nvSpPr>
        <p:spPr>
          <a:xfrm>
            <a:off x="8613648" y="3739896"/>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Plumbing</a:t>
            </a:r>
            <a:endParaRPr lang="en-US" sz="1200" dirty="0"/>
          </a:p>
        </p:txBody>
      </p:sp>
      <p:sp>
        <p:nvSpPr>
          <p:cNvPr id="52" name="Text 48"/>
          <p:cNvSpPr/>
          <p:nvPr/>
        </p:nvSpPr>
        <p:spPr>
          <a:xfrm>
            <a:off x="8613648" y="3931920"/>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Repairs and installation</a:t>
            </a:r>
            <a:endParaRPr lang="en-US" sz="950" dirty="0"/>
          </a:p>
        </p:txBody>
      </p:sp>
      <p:sp>
        <p:nvSpPr>
          <p:cNvPr id="53" name="Shape 49"/>
          <p:cNvSpPr/>
          <p:nvPr/>
        </p:nvSpPr>
        <p:spPr>
          <a:xfrm>
            <a:off x="10789920" y="3739896"/>
            <a:ext cx="548640" cy="256032"/>
          </a:xfrm>
          <a:prstGeom prst="roundRect">
            <a:avLst>
              <a:gd name="adj" fmla="val 53571"/>
            </a:avLst>
          </a:prstGeom>
          <a:solidFill>
            <a:srgbClr val="057BEE"/>
          </a:solidFill>
          <a:ln w="12700">
            <a:solidFill>
              <a:srgbClr val="057BEE">
                <a:alpha val="0"/>
              </a:srgbClr>
            </a:solidFill>
            <a:prstDash val="solid"/>
          </a:ln>
        </p:spPr>
        <p:txBody>
          <a:bodyPr/>
          <a:lstStyle/>
          <a:p>
            <a:endParaRPr lang="en-US"/>
          </a:p>
        </p:txBody>
      </p:sp>
      <p:sp>
        <p:nvSpPr>
          <p:cNvPr id="54" name="Text 50"/>
          <p:cNvSpPr/>
          <p:nvPr/>
        </p:nvSpPr>
        <p:spPr>
          <a:xfrm>
            <a:off x="10808208" y="3758184"/>
            <a:ext cx="493776" cy="18288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Lato Heavy" pitchFamily="34" charset="0"/>
                <a:ea typeface="Lato Heavy" pitchFamily="34" charset="-122"/>
                <a:cs typeface="Lato Heavy" pitchFamily="34" charset="-120"/>
              </a:rPr>
              <a:t>View</a:t>
            </a:r>
            <a:endParaRPr lang="en-US" sz="900" dirty="0"/>
          </a:p>
        </p:txBody>
      </p:sp>
      <p:sp>
        <p:nvSpPr>
          <p:cNvPr id="55" name="Shape 51"/>
          <p:cNvSpPr/>
          <p:nvPr/>
        </p:nvSpPr>
        <p:spPr>
          <a:xfrm>
            <a:off x="8485632" y="4133088"/>
            <a:ext cx="2962656" cy="448056"/>
          </a:xfrm>
          <a:prstGeom prst="roundRect">
            <a:avLst>
              <a:gd name="adj" fmla="val 24490"/>
            </a:avLst>
          </a:prstGeom>
          <a:solidFill>
            <a:srgbClr val="FFFFFF"/>
          </a:solidFill>
          <a:ln w="12700">
            <a:solidFill>
              <a:srgbClr val="DDE7F0"/>
            </a:solidFill>
            <a:prstDash val="solid"/>
          </a:ln>
        </p:spPr>
        <p:txBody>
          <a:bodyPr/>
          <a:lstStyle/>
          <a:p>
            <a:endParaRPr lang="en-US"/>
          </a:p>
        </p:txBody>
      </p:sp>
      <p:sp>
        <p:nvSpPr>
          <p:cNvPr id="56" name="Text 52"/>
          <p:cNvSpPr/>
          <p:nvPr/>
        </p:nvSpPr>
        <p:spPr>
          <a:xfrm>
            <a:off x="8613648" y="4242816"/>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Heating &amp; cooling</a:t>
            </a:r>
            <a:endParaRPr lang="en-US" sz="1200" dirty="0"/>
          </a:p>
        </p:txBody>
      </p:sp>
      <p:sp>
        <p:nvSpPr>
          <p:cNvPr id="57" name="Text 53"/>
          <p:cNvSpPr/>
          <p:nvPr/>
        </p:nvSpPr>
        <p:spPr>
          <a:xfrm>
            <a:off x="8613648" y="4434840"/>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HVAC service and maintenance</a:t>
            </a:r>
            <a:endParaRPr lang="en-US" sz="950" dirty="0"/>
          </a:p>
        </p:txBody>
      </p:sp>
      <p:sp>
        <p:nvSpPr>
          <p:cNvPr id="58" name="Shape 54"/>
          <p:cNvSpPr/>
          <p:nvPr/>
        </p:nvSpPr>
        <p:spPr>
          <a:xfrm>
            <a:off x="10789920" y="4242816"/>
            <a:ext cx="548640" cy="256032"/>
          </a:xfrm>
          <a:prstGeom prst="roundRect">
            <a:avLst>
              <a:gd name="adj" fmla="val 53571"/>
            </a:avLst>
          </a:prstGeom>
          <a:solidFill>
            <a:srgbClr val="057BEE"/>
          </a:solidFill>
          <a:ln w="12700">
            <a:solidFill>
              <a:srgbClr val="057BEE">
                <a:alpha val="0"/>
              </a:srgbClr>
            </a:solidFill>
            <a:prstDash val="solid"/>
          </a:ln>
        </p:spPr>
        <p:txBody>
          <a:bodyPr/>
          <a:lstStyle/>
          <a:p>
            <a:endParaRPr lang="en-US"/>
          </a:p>
        </p:txBody>
      </p:sp>
      <p:sp>
        <p:nvSpPr>
          <p:cNvPr id="59" name="Text 55"/>
          <p:cNvSpPr/>
          <p:nvPr/>
        </p:nvSpPr>
        <p:spPr>
          <a:xfrm>
            <a:off x="10808208" y="4261104"/>
            <a:ext cx="493776" cy="18288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Lato Heavy" pitchFamily="34" charset="0"/>
                <a:ea typeface="Lato Heavy" pitchFamily="34" charset="-122"/>
                <a:cs typeface="Lato Heavy" pitchFamily="34" charset="-120"/>
              </a:rPr>
              <a:t>View</a:t>
            </a:r>
            <a:endParaRPr lang="en-US" sz="900" dirty="0"/>
          </a:p>
        </p:txBody>
      </p:sp>
      <p:sp>
        <p:nvSpPr>
          <p:cNvPr id="60" name="Shape 56"/>
          <p:cNvSpPr/>
          <p:nvPr/>
        </p:nvSpPr>
        <p:spPr>
          <a:xfrm>
            <a:off x="8485632" y="4636008"/>
            <a:ext cx="2962656" cy="448056"/>
          </a:xfrm>
          <a:prstGeom prst="roundRect">
            <a:avLst>
              <a:gd name="adj" fmla="val 24490"/>
            </a:avLst>
          </a:prstGeom>
          <a:solidFill>
            <a:srgbClr val="FFFFFF"/>
          </a:solidFill>
          <a:ln w="12700">
            <a:solidFill>
              <a:srgbClr val="DDE7F0"/>
            </a:solidFill>
            <a:prstDash val="solid"/>
          </a:ln>
        </p:spPr>
        <p:txBody>
          <a:bodyPr/>
          <a:lstStyle/>
          <a:p>
            <a:endParaRPr lang="en-US"/>
          </a:p>
        </p:txBody>
      </p:sp>
      <p:sp>
        <p:nvSpPr>
          <p:cNvPr id="61" name="Text 57"/>
          <p:cNvSpPr/>
          <p:nvPr/>
        </p:nvSpPr>
        <p:spPr>
          <a:xfrm>
            <a:off x="8613648" y="4745736"/>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Electrical</a:t>
            </a:r>
            <a:endParaRPr lang="en-US" sz="1200" dirty="0"/>
          </a:p>
        </p:txBody>
      </p:sp>
      <p:sp>
        <p:nvSpPr>
          <p:cNvPr id="62" name="Text 58"/>
          <p:cNvSpPr/>
          <p:nvPr/>
        </p:nvSpPr>
        <p:spPr>
          <a:xfrm>
            <a:off x="8613648" y="4937760"/>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Lighting and outlets</a:t>
            </a:r>
            <a:endParaRPr lang="en-US" sz="950" dirty="0"/>
          </a:p>
        </p:txBody>
      </p:sp>
      <p:sp>
        <p:nvSpPr>
          <p:cNvPr id="63" name="Shape 59"/>
          <p:cNvSpPr/>
          <p:nvPr/>
        </p:nvSpPr>
        <p:spPr>
          <a:xfrm>
            <a:off x="10789920" y="4745736"/>
            <a:ext cx="548640" cy="256032"/>
          </a:xfrm>
          <a:prstGeom prst="roundRect">
            <a:avLst>
              <a:gd name="adj" fmla="val 53571"/>
            </a:avLst>
          </a:prstGeom>
          <a:solidFill>
            <a:srgbClr val="057BEE"/>
          </a:solidFill>
          <a:ln w="12700">
            <a:solidFill>
              <a:srgbClr val="057BEE">
                <a:alpha val="0"/>
              </a:srgbClr>
            </a:solidFill>
            <a:prstDash val="solid"/>
          </a:ln>
        </p:spPr>
        <p:txBody>
          <a:bodyPr/>
          <a:lstStyle/>
          <a:p>
            <a:endParaRPr lang="en-US"/>
          </a:p>
        </p:txBody>
      </p:sp>
      <p:sp>
        <p:nvSpPr>
          <p:cNvPr id="64" name="Text 60"/>
          <p:cNvSpPr/>
          <p:nvPr/>
        </p:nvSpPr>
        <p:spPr>
          <a:xfrm>
            <a:off x="10808208" y="4764024"/>
            <a:ext cx="493776" cy="18288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Lato Heavy" pitchFamily="34" charset="0"/>
                <a:ea typeface="Lato Heavy" pitchFamily="34" charset="-122"/>
                <a:cs typeface="Lato Heavy" pitchFamily="34" charset="-120"/>
              </a:rPr>
              <a:t>View</a:t>
            </a:r>
            <a:endParaRPr lang="en-US" sz="900" dirty="0"/>
          </a:p>
        </p:txBody>
      </p:sp>
      <p:sp>
        <p:nvSpPr>
          <p:cNvPr id="65" name="Shape 61"/>
          <p:cNvSpPr/>
          <p:nvPr/>
        </p:nvSpPr>
        <p:spPr>
          <a:xfrm>
            <a:off x="8485632" y="5138928"/>
            <a:ext cx="2962656" cy="448056"/>
          </a:xfrm>
          <a:prstGeom prst="roundRect">
            <a:avLst>
              <a:gd name="adj" fmla="val 24490"/>
            </a:avLst>
          </a:prstGeom>
          <a:solidFill>
            <a:srgbClr val="FFFFFF"/>
          </a:solidFill>
          <a:ln w="12700">
            <a:solidFill>
              <a:srgbClr val="DDE7F0"/>
            </a:solidFill>
            <a:prstDash val="solid"/>
          </a:ln>
        </p:spPr>
        <p:txBody>
          <a:bodyPr/>
          <a:lstStyle/>
          <a:p>
            <a:endParaRPr lang="en-US"/>
          </a:p>
        </p:txBody>
      </p:sp>
      <p:sp>
        <p:nvSpPr>
          <p:cNvPr id="66" name="Text 62"/>
          <p:cNvSpPr/>
          <p:nvPr/>
        </p:nvSpPr>
        <p:spPr>
          <a:xfrm>
            <a:off x="8613648" y="5248656"/>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Home cleaning</a:t>
            </a:r>
            <a:endParaRPr lang="en-US" sz="1200" dirty="0"/>
          </a:p>
        </p:txBody>
      </p:sp>
      <p:sp>
        <p:nvSpPr>
          <p:cNvPr id="67" name="Text 63"/>
          <p:cNvSpPr/>
          <p:nvPr/>
        </p:nvSpPr>
        <p:spPr>
          <a:xfrm>
            <a:off x="8613648" y="5440680"/>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Recurring and deep cleaning</a:t>
            </a:r>
            <a:endParaRPr lang="en-US" sz="950" dirty="0"/>
          </a:p>
        </p:txBody>
      </p:sp>
      <p:sp>
        <p:nvSpPr>
          <p:cNvPr id="68" name="Shape 64"/>
          <p:cNvSpPr/>
          <p:nvPr/>
        </p:nvSpPr>
        <p:spPr>
          <a:xfrm>
            <a:off x="10789920" y="5248656"/>
            <a:ext cx="548640" cy="256032"/>
          </a:xfrm>
          <a:prstGeom prst="roundRect">
            <a:avLst>
              <a:gd name="adj" fmla="val 53571"/>
            </a:avLst>
          </a:prstGeom>
          <a:solidFill>
            <a:srgbClr val="057BEE"/>
          </a:solidFill>
          <a:ln w="12700">
            <a:solidFill>
              <a:srgbClr val="057BEE">
                <a:alpha val="0"/>
              </a:srgbClr>
            </a:solidFill>
            <a:prstDash val="solid"/>
          </a:ln>
        </p:spPr>
        <p:txBody>
          <a:bodyPr/>
          <a:lstStyle/>
          <a:p>
            <a:endParaRPr lang="en-US"/>
          </a:p>
        </p:txBody>
      </p:sp>
      <p:sp>
        <p:nvSpPr>
          <p:cNvPr id="69" name="Text 65"/>
          <p:cNvSpPr/>
          <p:nvPr/>
        </p:nvSpPr>
        <p:spPr>
          <a:xfrm>
            <a:off x="10808208" y="5266944"/>
            <a:ext cx="493776" cy="18288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Lato Heavy" pitchFamily="34" charset="0"/>
                <a:ea typeface="Lato Heavy" pitchFamily="34" charset="-122"/>
                <a:cs typeface="Lato Heavy" pitchFamily="34" charset="-120"/>
              </a:rPr>
              <a:t>View</a:t>
            </a:r>
            <a:endParaRPr lang="en-US" sz="900" dirty="0"/>
          </a:p>
        </p:txBody>
      </p:sp>
      <p:sp>
        <p:nvSpPr>
          <p:cNvPr id="70" name="Shape 66"/>
          <p:cNvSpPr/>
          <p:nvPr/>
        </p:nvSpPr>
        <p:spPr>
          <a:xfrm>
            <a:off x="8485632" y="5641848"/>
            <a:ext cx="2962656" cy="448056"/>
          </a:xfrm>
          <a:prstGeom prst="roundRect">
            <a:avLst>
              <a:gd name="adj" fmla="val 24490"/>
            </a:avLst>
          </a:prstGeom>
          <a:solidFill>
            <a:srgbClr val="FFFFFF"/>
          </a:solidFill>
          <a:ln w="12700">
            <a:solidFill>
              <a:srgbClr val="DDE7F0"/>
            </a:solidFill>
            <a:prstDash val="solid"/>
          </a:ln>
        </p:spPr>
        <p:txBody>
          <a:bodyPr/>
          <a:lstStyle/>
          <a:p>
            <a:endParaRPr lang="en-US"/>
          </a:p>
        </p:txBody>
      </p:sp>
      <p:sp>
        <p:nvSpPr>
          <p:cNvPr id="71" name="Text 67"/>
          <p:cNvSpPr/>
          <p:nvPr/>
        </p:nvSpPr>
        <p:spPr>
          <a:xfrm>
            <a:off x="8613648" y="5751576"/>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Landscaping</a:t>
            </a:r>
            <a:endParaRPr lang="en-US" sz="1200" dirty="0"/>
          </a:p>
        </p:txBody>
      </p:sp>
      <p:sp>
        <p:nvSpPr>
          <p:cNvPr id="72" name="Text 68"/>
          <p:cNvSpPr/>
          <p:nvPr/>
        </p:nvSpPr>
        <p:spPr>
          <a:xfrm>
            <a:off x="8613648" y="5943600"/>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Lawns and outdoor care</a:t>
            </a:r>
            <a:endParaRPr lang="en-US" sz="950" dirty="0"/>
          </a:p>
        </p:txBody>
      </p:sp>
      <p:sp>
        <p:nvSpPr>
          <p:cNvPr id="73" name="Shape 69"/>
          <p:cNvSpPr/>
          <p:nvPr/>
        </p:nvSpPr>
        <p:spPr>
          <a:xfrm>
            <a:off x="10789920" y="5751576"/>
            <a:ext cx="548640" cy="256032"/>
          </a:xfrm>
          <a:prstGeom prst="roundRect">
            <a:avLst>
              <a:gd name="adj" fmla="val 53571"/>
            </a:avLst>
          </a:prstGeom>
          <a:solidFill>
            <a:srgbClr val="057BEE"/>
          </a:solidFill>
          <a:ln w="12700">
            <a:solidFill>
              <a:srgbClr val="057BEE">
                <a:alpha val="0"/>
              </a:srgbClr>
            </a:solidFill>
            <a:prstDash val="solid"/>
          </a:ln>
        </p:spPr>
        <p:txBody>
          <a:bodyPr/>
          <a:lstStyle/>
          <a:p>
            <a:endParaRPr lang="en-US"/>
          </a:p>
        </p:txBody>
      </p:sp>
      <p:sp>
        <p:nvSpPr>
          <p:cNvPr id="74" name="Text 70"/>
          <p:cNvSpPr/>
          <p:nvPr/>
        </p:nvSpPr>
        <p:spPr>
          <a:xfrm>
            <a:off x="10808208" y="5769864"/>
            <a:ext cx="493776" cy="18288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Lato Heavy" pitchFamily="34" charset="0"/>
                <a:ea typeface="Lato Heavy" pitchFamily="34" charset="-122"/>
                <a:cs typeface="Lato Heavy" pitchFamily="34" charset="-120"/>
              </a:rPr>
              <a:t>View</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722376" y="886968"/>
            <a:ext cx="6583680" cy="246888"/>
          </a:xfrm>
          <a:prstGeom prst="rect">
            <a:avLst/>
          </a:prstGeom>
          <a:noFill/>
          <a:ln/>
        </p:spPr>
        <p:txBody>
          <a:bodyPr wrap="square" lIns="0" tIns="0" rIns="0" bIns="0" rtlCol="0" anchor="ctr">
            <a:normAutofit/>
          </a:bodyPr>
          <a:lstStyle/>
          <a:p>
            <a:pPr marL="0" indent="0">
              <a:buNone/>
            </a:pPr>
            <a:r>
              <a:rPr lang="en-US" sz="1200" b="1" kern="0" spc="70" dirty="0">
                <a:solidFill>
                  <a:srgbClr val="127A91"/>
                </a:solidFill>
                <a:latin typeface="Lato Heavy" pitchFamily="34" charset="0"/>
                <a:ea typeface="Lato Heavy" pitchFamily="34" charset="-122"/>
                <a:cs typeface="Lato Heavy" pitchFamily="34" charset="-120"/>
              </a:rPr>
              <a:t>BARNABY  /  MESSAGES</a:t>
            </a:r>
            <a:endParaRPr lang="en-US" sz="1200" dirty="0"/>
          </a:p>
        </p:txBody>
      </p:sp>
      <p:sp>
        <p:nvSpPr>
          <p:cNvPr id="6" name="Text 3"/>
          <p:cNvSpPr/>
          <p:nvPr/>
        </p:nvSpPr>
        <p:spPr>
          <a:xfrm>
            <a:off x="713232" y="1179576"/>
            <a:ext cx="7315200" cy="630936"/>
          </a:xfrm>
          <a:prstGeom prst="rect">
            <a:avLst/>
          </a:prstGeom>
          <a:noFill/>
          <a:ln/>
        </p:spPr>
        <p:txBody>
          <a:bodyPr wrap="square" lIns="0" tIns="0" rIns="0" bIns="0" rtlCol="0" anchor="ctr">
            <a:normAutofit/>
          </a:bodyPr>
          <a:lstStyle/>
          <a:p>
            <a:pPr marL="0" indent="0">
              <a:buNone/>
            </a:pPr>
            <a:r>
              <a:rPr lang="en-US" sz="3400" b="1" dirty="0">
                <a:solidFill>
                  <a:srgbClr val="082B4E"/>
                </a:solidFill>
                <a:latin typeface="Lato Heavy" pitchFamily="34" charset="0"/>
                <a:ea typeface="Lato Heavy" pitchFamily="34" charset="-122"/>
                <a:cs typeface="Lato Heavy" pitchFamily="34" charset="-120"/>
              </a:rPr>
              <a:t>BETTER COMMUNICATION</a:t>
            </a:r>
            <a:endParaRPr lang="en-US" sz="3400" dirty="0"/>
          </a:p>
        </p:txBody>
      </p:sp>
      <p:sp>
        <p:nvSpPr>
          <p:cNvPr id="7" name="Text 4"/>
          <p:cNvSpPr/>
          <p:nvPr/>
        </p:nvSpPr>
        <p:spPr>
          <a:xfrm>
            <a:off x="731520" y="1856232"/>
            <a:ext cx="6858000" cy="448056"/>
          </a:xfrm>
          <a:prstGeom prst="rect">
            <a:avLst/>
          </a:prstGeom>
          <a:noFill/>
          <a:ln/>
        </p:spPr>
        <p:txBody>
          <a:bodyPr wrap="square" lIns="0" tIns="0" rIns="0" bIns="0" rtlCol="0" anchor="ctr">
            <a:normAutofit/>
          </a:bodyPr>
          <a:lstStyle/>
          <a:p>
            <a:pPr marL="0" indent="0">
              <a:buNone/>
            </a:pPr>
            <a:r>
              <a:rPr lang="en-US" sz="1950" dirty="0">
                <a:solidFill>
                  <a:srgbClr val="617B94"/>
                </a:solidFill>
                <a:latin typeface="Lato" pitchFamily="34" charset="0"/>
                <a:ea typeface="Lato" pitchFamily="34" charset="-122"/>
                <a:cs typeface="Lato" pitchFamily="34" charset="-120"/>
              </a:rPr>
              <a:t>Neighbors, clubs and providers stay connected.</a:t>
            </a:r>
            <a:endParaRPr lang="en-US" sz="1950" dirty="0"/>
          </a:p>
        </p:txBody>
      </p:sp>
      <p:sp>
        <p:nvSpPr>
          <p:cNvPr id="8" name="Shape 5"/>
          <p:cNvSpPr/>
          <p:nvPr/>
        </p:nvSpPr>
        <p:spPr>
          <a:xfrm>
            <a:off x="731520" y="2770632"/>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9" name="Text 6"/>
          <p:cNvSpPr/>
          <p:nvPr/>
        </p:nvSpPr>
        <p:spPr>
          <a:xfrm>
            <a:off x="1024128" y="2651760"/>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Individual and group conversations</a:t>
            </a:r>
            <a:endParaRPr lang="en-US" sz="2100" dirty="0"/>
          </a:p>
        </p:txBody>
      </p:sp>
      <p:sp>
        <p:nvSpPr>
          <p:cNvPr id="10" name="Shape 7"/>
          <p:cNvSpPr/>
          <p:nvPr/>
        </p:nvSpPr>
        <p:spPr>
          <a:xfrm>
            <a:off x="731520" y="3575304"/>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1" name="Text 8"/>
          <p:cNvSpPr/>
          <p:nvPr/>
        </p:nvSpPr>
        <p:spPr>
          <a:xfrm>
            <a:off x="1024128" y="3456432"/>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Community and provider updates</a:t>
            </a:r>
            <a:endParaRPr lang="en-US" sz="2100" dirty="0"/>
          </a:p>
        </p:txBody>
      </p:sp>
      <p:sp>
        <p:nvSpPr>
          <p:cNvPr id="12" name="Shape 9"/>
          <p:cNvSpPr/>
          <p:nvPr/>
        </p:nvSpPr>
        <p:spPr>
          <a:xfrm>
            <a:off x="731520" y="4379976"/>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3" name="Text 10"/>
          <p:cNvSpPr/>
          <p:nvPr/>
        </p:nvSpPr>
        <p:spPr>
          <a:xfrm>
            <a:off x="1024128" y="4261104"/>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One place to keep conversations moving</a:t>
            </a:r>
            <a:endParaRPr lang="en-US" sz="2100" dirty="0"/>
          </a:p>
        </p:txBody>
      </p:sp>
      <p:sp>
        <p:nvSpPr>
          <p:cNvPr id="14" name="Shape 11"/>
          <p:cNvSpPr/>
          <p:nvPr/>
        </p:nvSpPr>
        <p:spPr>
          <a:xfrm>
            <a:off x="713232" y="5385816"/>
            <a:ext cx="6638544" cy="822960"/>
          </a:xfrm>
          <a:prstGeom prst="roundRect">
            <a:avLst>
              <a:gd name="adj" fmla="val 16667"/>
            </a:avLst>
          </a:prstGeom>
          <a:solidFill>
            <a:srgbClr val="EAF5FF"/>
          </a:solidFill>
          <a:ln w="12700">
            <a:solidFill>
              <a:srgbClr val="CDE3F6"/>
            </a:solidFill>
            <a:prstDash val="solid"/>
          </a:ln>
        </p:spPr>
        <p:txBody>
          <a:bodyPr/>
          <a:lstStyle/>
          <a:p>
            <a:endParaRPr lang="en-US"/>
          </a:p>
        </p:txBody>
      </p:sp>
      <p:sp>
        <p:nvSpPr>
          <p:cNvPr id="15" name="Shape 12"/>
          <p:cNvSpPr/>
          <p:nvPr/>
        </p:nvSpPr>
        <p:spPr>
          <a:xfrm>
            <a:off x="914400" y="5623560"/>
            <a:ext cx="256032" cy="256032"/>
          </a:xfrm>
          <a:prstGeom prst="ellipse">
            <a:avLst/>
          </a:prstGeom>
          <a:solidFill>
            <a:srgbClr val="057BEE"/>
          </a:solidFill>
          <a:ln w="12700">
            <a:solidFill>
              <a:srgbClr val="057BEE">
                <a:alpha val="0"/>
              </a:srgbClr>
            </a:solidFill>
            <a:prstDash val="solid"/>
          </a:ln>
        </p:spPr>
        <p:txBody>
          <a:bodyPr/>
          <a:lstStyle/>
          <a:p>
            <a:endParaRPr lang="en-US"/>
          </a:p>
        </p:txBody>
      </p:sp>
      <p:sp>
        <p:nvSpPr>
          <p:cNvPr id="16" name="Text 13"/>
          <p:cNvSpPr/>
          <p:nvPr/>
        </p:nvSpPr>
        <p:spPr>
          <a:xfrm>
            <a:off x="958291" y="5623560"/>
            <a:ext cx="1828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Lato Heavy" pitchFamily="34" charset="0"/>
                <a:ea typeface="Lato Heavy" pitchFamily="34" charset="-122"/>
                <a:cs typeface="Lato Heavy" pitchFamily="34" charset="-120"/>
              </a:rPr>
              <a:t>→</a:t>
            </a:r>
            <a:endParaRPr lang="en-US" sz="1400" dirty="0"/>
          </a:p>
        </p:txBody>
      </p:sp>
      <p:sp>
        <p:nvSpPr>
          <p:cNvPr id="17" name="Text 14"/>
          <p:cNvSpPr/>
          <p:nvPr/>
        </p:nvSpPr>
        <p:spPr>
          <a:xfrm>
            <a:off x="1307592" y="5486400"/>
            <a:ext cx="5824728" cy="612648"/>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A more connected community—with fewer fragmented conversations.</a:t>
            </a:r>
            <a:endParaRPr lang="en-US" sz="1850" dirty="0"/>
          </a:p>
        </p:txBody>
      </p:sp>
      <p:sp>
        <p:nvSpPr>
          <p:cNvPr id="18" name="Text 15"/>
          <p:cNvSpPr/>
          <p:nvPr/>
        </p:nvSpPr>
        <p:spPr>
          <a:xfrm>
            <a:off x="10652760" y="6464808"/>
            <a:ext cx="1051560" cy="182880"/>
          </a:xfrm>
          <a:prstGeom prst="rect">
            <a:avLst/>
          </a:prstGeom>
          <a:noFill/>
          <a:ln/>
        </p:spPr>
        <p:txBody>
          <a:bodyPr wrap="square" lIns="0" tIns="0" rIns="0" bIns="0" rtlCol="0" anchor="ctr">
            <a:normAutofit/>
          </a:bodyPr>
          <a:lstStyle/>
          <a:p>
            <a:pPr marL="0" indent="0" algn="r">
              <a:buNone/>
            </a:pPr>
            <a:r>
              <a:rPr lang="en-US" sz="1000" b="1" dirty="0">
                <a:solidFill>
                  <a:srgbClr val="617B94"/>
                </a:solidFill>
                <a:latin typeface="Lato Heavy" pitchFamily="34" charset="0"/>
                <a:ea typeface="Lato Heavy" pitchFamily="34" charset="-122"/>
                <a:cs typeface="Lato Heavy" pitchFamily="34" charset="-120"/>
              </a:rPr>
              <a:t>08  /  14</a:t>
            </a:r>
            <a:endParaRPr lang="en-US" sz="1000" dirty="0"/>
          </a:p>
        </p:txBody>
      </p:sp>
      <p:sp>
        <p:nvSpPr>
          <p:cNvPr id="19" name="Text 16"/>
          <p:cNvSpPr/>
          <p:nvPr/>
        </p:nvSpPr>
        <p:spPr>
          <a:xfrm>
            <a:off x="731520" y="6446520"/>
            <a:ext cx="9052560" cy="210312"/>
          </a:xfrm>
          <a:prstGeom prst="rect">
            <a:avLst/>
          </a:prstGeom>
          <a:noFill/>
          <a:ln/>
        </p:spPr>
        <p:txBody>
          <a:bodyPr wrap="square" lIns="0" tIns="0" rIns="0" bIns="0" rtlCol="0" anchor="ctr">
            <a:normAutofit/>
          </a:bodyPr>
          <a:lstStyle/>
          <a:p>
            <a:pPr marL="0" indent="0">
              <a:buNone/>
            </a:pPr>
            <a:r>
              <a:rPr lang="en-US" sz="940" dirty="0">
                <a:solidFill>
                  <a:srgbClr val="617B94"/>
                </a:solidFill>
                <a:latin typeface="Lato" pitchFamily="34" charset="0"/>
                <a:ea typeface="Lato" pitchFamily="34" charset="-122"/>
                <a:cs typeface="Lato" pitchFamily="34" charset="-120"/>
              </a:rPr>
              <a:t>ILLUSTRATIVE CONCEPT DEMO • ON TOP OF THE WORLD COMMUNITY HIGHLIGHTS • NOT OFFICIALLY AFFILIATED</a:t>
            </a:r>
            <a:endParaRPr lang="en-US" sz="940" dirty="0"/>
          </a:p>
        </p:txBody>
      </p:sp>
      <p:sp>
        <p:nvSpPr>
          <p:cNvPr id="20" name="Shape 17"/>
          <p:cNvSpPr/>
          <p:nvPr/>
        </p:nvSpPr>
        <p:spPr>
          <a:xfrm>
            <a:off x="8375904" y="886968"/>
            <a:ext cx="3328416" cy="5541264"/>
          </a:xfrm>
          <a:prstGeom prst="roundRect">
            <a:avLst>
              <a:gd name="adj" fmla="val 4121"/>
            </a:avLst>
          </a:prstGeom>
          <a:solidFill>
            <a:srgbClr val="D7E0EA"/>
          </a:solidFill>
          <a:ln w="12700">
            <a:solidFill>
              <a:srgbClr val="D7E0EA">
                <a:alpha val="0"/>
              </a:srgbClr>
            </a:solidFill>
            <a:prstDash val="solid"/>
          </a:ln>
        </p:spPr>
        <p:txBody>
          <a:bodyPr/>
          <a:lstStyle/>
          <a:p>
            <a:endParaRPr lang="en-US"/>
          </a:p>
        </p:txBody>
      </p:sp>
      <p:sp>
        <p:nvSpPr>
          <p:cNvPr id="21" name="Shape 18"/>
          <p:cNvSpPr/>
          <p:nvPr/>
        </p:nvSpPr>
        <p:spPr>
          <a:xfrm>
            <a:off x="8302752" y="795528"/>
            <a:ext cx="3328416" cy="5541264"/>
          </a:xfrm>
          <a:prstGeom prst="roundRect">
            <a:avLst>
              <a:gd name="adj" fmla="val 4121"/>
            </a:avLst>
          </a:prstGeom>
          <a:solidFill>
            <a:srgbClr val="071522"/>
          </a:solidFill>
          <a:ln w="12700">
            <a:solidFill>
              <a:srgbClr val="071522">
                <a:alpha val="0"/>
              </a:srgbClr>
            </a:solidFill>
            <a:prstDash val="solid"/>
          </a:ln>
        </p:spPr>
        <p:txBody>
          <a:bodyPr/>
          <a:lstStyle/>
          <a:p>
            <a:endParaRPr lang="en-US"/>
          </a:p>
        </p:txBody>
      </p:sp>
      <p:sp>
        <p:nvSpPr>
          <p:cNvPr id="22" name="Shape 19"/>
          <p:cNvSpPr/>
          <p:nvPr/>
        </p:nvSpPr>
        <p:spPr>
          <a:xfrm>
            <a:off x="8394192" y="886968"/>
            <a:ext cx="3145536" cy="5358384"/>
          </a:xfrm>
          <a:prstGeom prst="roundRect">
            <a:avLst>
              <a:gd name="adj" fmla="val 4360"/>
            </a:avLst>
          </a:prstGeom>
          <a:solidFill>
            <a:srgbClr val="FFFFFF"/>
          </a:solidFill>
          <a:ln w="12700">
            <a:solidFill>
              <a:srgbClr val="FFFFFF">
                <a:alpha val="0"/>
              </a:srgbClr>
            </a:solidFill>
            <a:prstDash val="solid"/>
          </a:ln>
        </p:spPr>
        <p:txBody>
          <a:bodyPr/>
          <a:lstStyle/>
          <a:p>
            <a:endParaRPr lang="en-US"/>
          </a:p>
        </p:txBody>
      </p:sp>
      <p:sp>
        <p:nvSpPr>
          <p:cNvPr id="23" name="Shape 20"/>
          <p:cNvSpPr/>
          <p:nvPr/>
        </p:nvSpPr>
        <p:spPr>
          <a:xfrm>
            <a:off x="9454896" y="850392"/>
            <a:ext cx="1014984" cy="173736"/>
          </a:xfrm>
          <a:prstGeom prst="roundRect">
            <a:avLst>
              <a:gd name="adj" fmla="val 78947"/>
            </a:avLst>
          </a:prstGeom>
          <a:solidFill>
            <a:srgbClr val="071522"/>
          </a:solidFill>
          <a:ln w="12700">
            <a:solidFill>
              <a:srgbClr val="071522">
                <a:alpha val="0"/>
              </a:srgbClr>
            </a:solidFill>
            <a:prstDash val="solid"/>
          </a:ln>
        </p:spPr>
        <p:txBody>
          <a:bodyPr/>
          <a:lstStyle/>
          <a:p>
            <a:endParaRPr lang="en-US"/>
          </a:p>
        </p:txBody>
      </p:sp>
      <p:sp>
        <p:nvSpPr>
          <p:cNvPr id="24" name="Text 21"/>
          <p:cNvSpPr/>
          <p:nvPr/>
        </p:nvSpPr>
        <p:spPr>
          <a:xfrm>
            <a:off x="8558784" y="978408"/>
            <a:ext cx="566928" cy="210312"/>
          </a:xfrm>
          <a:prstGeom prst="rect">
            <a:avLst/>
          </a:prstGeom>
          <a:noFill/>
          <a:ln/>
        </p:spPr>
        <p:txBody>
          <a:bodyPr wrap="square" lIns="0" tIns="0" rIns="0" bIns="0" rtlCol="0" anchor="ctr">
            <a:normAutofit/>
          </a:bodyPr>
          <a:lstStyle/>
          <a:p>
            <a:pPr marL="0" indent="0">
              <a:buNone/>
            </a:pPr>
            <a:r>
              <a:rPr lang="en-US" sz="1000" b="1" dirty="0">
                <a:solidFill>
                  <a:srgbClr val="2A4157"/>
                </a:solidFill>
                <a:latin typeface="Lato Heavy" pitchFamily="34" charset="0"/>
                <a:ea typeface="Lato Heavy" pitchFamily="34" charset="-122"/>
                <a:cs typeface="Lato Heavy" pitchFamily="34" charset="-120"/>
              </a:rPr>
              <a:t>9:41</a:t>
            </a:r>
            <a:endParaRPr lang="en-US" sz="1000" dirty="0"/>
          </a:p>
        </p:txBody>
      </p:sp>
      <p:sp>
        <p:nvSpPr>
          <p:cNvPr id="25" name="Text 22"/>
          <p:cNvSpPr/>
          <p:nvPr/>
        </p:nvSpPr>
        <p:spPr>
          <a:xfrm>
            <a:off x="10561320" y="978408"/>
            <a:ext cx="685800" cy="210312"/>
          </a:xfrm>
          <a:prstGeom prst="rect">
            <a:avLst/>
          </a:prstGeom>
          <a:noFill/>
          <a:ln/>
        </p:spPr>
        <p:txBody>
          <a:bodyPr wrap="square" lIns="0" tIns="0" rIns="0" bIns="0" rtlCol="0" anchor="ctr">
            <a:normAutofit/>
          </a:bodyPr>
          <a:lstStyle/>
          <a:p>
            <a:pPr marL="0" indent="0" algn="r">
              <a:buNone/>
            </a:pPr>
            <a:r>
              <a:rPr lang="en-US" sz="900" b="1" dirty="0">
                <a:solidFill>
                  <a:srgbClr val="2A4157"/>
                </a:solidFill>
                <a:latin typeface="Lato Heavy" pitchFamily="34" charset="0"/>
                <a:ea typeface="Lato Heavy" pitchFamily="34" charset="-122"/>
                <a:cs typeface="Lato Heavy" pitchFamily="34" charset="-120"/>
              </a:rPr>
              <a:t>▰  Wi-Fi</a:t>
            </a:r>
            <a:endParaRPr lang="en-US" sz="900" dirty="0"/>
          </a:p>
        </p:txBody>
      </p:sp>
      <p:sp>
        <p:nvSpPr>
          <p:cNvPr id="26" name="Text 23"/>
          <p:cNvSpPr/>
          <p:nvPr/>
        </p:nvSpPr>
        <p:spPr>
          <a:xfrm>
            <a:off x="8485632" y="1298448"/>
            <a:ext cx="2962656" cy="283464"/>
          </a:xfrm>
          <a:prstGeom prst="rect">
            <a:avLst/>
          </a:prstGeom>
          <a:noFill/>
          <a:ln/>
        </p:spPr>
        <p:txBody>
          <a:bodyPr wrap="square" lIns="0" tIns="0" rIns="0" bIns="0" rtlCol="0" anchor="ctr">
            <a:normAutofit/>
          </a:bodyPr>
          <a:lstStyle/>
          <a:p>
            <a:pPr marL="0" indent="0" algn="ctr">
              <a:buNone/>
            </a:pPr>
            <a:r>
              <a:rPr lang="en-US" sz="1370" b="1" dirty="0">
                <a:solidFill>
                  <a:srgbClr val="082B4E"/>
                </a:solidFill>
                <a:latin typeface="Lato Heavy" pitchFamily="34" charset="0"/>
                <a:ea typeface="Lato Heavy" pitchFamily="34" charset="-122"/>
                <a:cs typeface="Lato Heavy" pitchFamily="34" charset="-120"/>
              </a:rPr>
              <a:t>On Top of the World</a:t>
            </a:r>
            <a:endParaRPr lang="en-US" sz="1370" dirty="0"/>
          </a:p>
        </p:txBody>
      </p:sp>
      <p:pic>
        <p:nvPicPr>
          <p:cNvPr id="27" name="Image 1" descr="/mnt/data/barnaby_hd_work/otow_gradient.png"/>
          <p:cNvPicPr>
            <a:picLocks noChangeAspect="1"/>
          </p:cNvPicPr>
          <p:nvPr/>
        </p:nvPicPr>
        <p:blipFill>
          <a:blip r:embed="rId4"/>
          <a:stretch>
            <a:fillRect/>
          </a:stretch>
        </p:blipFill>
        <p:spPr>
          <a:xfrm>
            <a:off x="8403336" y="1691640"/>
            <a:ext cx="3127248" cy="804672"/>
          </a:xfrm>
          <a:prstGeom prst="rect">
            <a:avLst/>
          </a:prstGeom>
        </p:spPr>
      </p:pic>
      <p:sp>
        <p:nvSpPr>
          <p:cNvPr id="28" name="Text 24"/>
          <p:cNvSpPr/>
          <p:nvPr/>
        </p:nvSpPr>
        <p:spPr>
          <a:xfrm>
            <a:off x="8586216" y="1783080"/>
            <a:ext cx="274320" cy="27432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Lato Heavy" pitchFamily="34" charset="0"/>
                <a:ea typeface="Lato Heavy" pitchFamily="34" charset="-122"/>
                <a:cs typeface="Lato Heavy" pitchFamily="34" charset="-120"/>
              </a:rPr>
              <a:t>≡</a:t>
            </a:r>
            <a:endParaRPr lang="en-US" sz="1900" dirty="0"/>
          </a:p>
        </p:txBody>
      </p:sp>
      <p:sp>
        <p:nvSpPr>
          <p:cNvPr id="29" name="Text 25"/>
          <p:cNvSpPr/>
          <p:nvPr/>
        </p:nvSpPr>
        <p:spPr>
          <a:xfrm>
            <a:off x="9025128" y="1810512"/>
            <a:ext cx="1920240" cy="201168"/>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Lato Heavy" pitchFamily="34" charset="0"/>
                <a:ea typeface="Lato Heavy" pitchFamily="34" charset="-122"/>
                <a:cs typeface="Lato Heavy" pitchFamily="34" charset="-120"/>
              </a:rPr>
              <a:t>On Top of the World</a:t>
            </a:r>
            <a:endParaRPr lang="en-US" sz="1200" dirty="0"/>
          </a:p>
        </p:txBody>
      </p:sp>
      <p:sp>
        <p:nvSpPr>
          <p:cNvPr id="30" name="Text 26"/>
          <p:cNvSpPr/>
          <p:nvPr/>
        </p:nvSpPr>
        <p:spPr>
          <a:xfrm>
            <a:off x="8567928" y="2148840"/>
            <a:ext cx="2377440" cy="301752"/>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Lato Heavy" pitchFamily="34" charset="0"/>
                <a:ea typeface="Lato Heavy" pitchFamily="34" charset="-122"/>
                <a:cs typeface="Lato Heavy" pitchFamily="34" charset="-120"/>
              </a:rPr>
              <a:t>MESSAGES</a:t>
            </a:r>
            <a:endParaRPr lang="en-US" sz="1800" dirty="0"/>
          </a:p>
        </p:txBody>
      </p:sp>
      <p:sp>
        <p:nvSpPr>
          <p:cNvPr id="31" name="Shape 27"/>
          <p:cNvSpPr/>
          <p:nvPr/>
        </p:nvSpPr>
        <p:spPr>
          <a:xfrm>
            <a:off x="8449056" y="5705856"/>
            <a:ext cx="3035808" cy="420624"/>
          </a:xfrm>
          <a:prstGeom prst="roundRect">
            <a:avLst>
              <a:gd name="adj" fmla="val 32609"/>
            </a:avLst>
          </a:prstGeom>
          <a:solidFill>
            <a:srgbClr val="F8FBFE"/>
          </a:solidFill>
          <a:ln w="12700">
            <a:solidFill>
              <a:srgbClr val="F8FBFE">
                <a:alpha val="0"/>
              </a:srgbClr>
            </a:solidFill>
            <a:prstDash val="solid"/>
          </a:ln>
        </p:spPr>
        <p:txBody>
          <a:bodyPr/>
          <a:lstStyle/>
          <a:p>
            <a:endParaRPr lang="en-US"/>
          </a:p>
        </p:txBody>
      </p:sp>
      <p:sp>
        <p:nvSpPr>
          <p:cNvPr id="32" name="Text 28"/>
          <p:cNvSpPr/>
          <p:nvPr/>
        </p:nvSpPr>
        <p:spPr>
          <a:xfrm>
            <a:off x="8677656"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3" name="Text 29"/>
          <p:cNvSpPr/>
          <p:nvPr/>
        </p:nvSpPr>
        <p:spPr>
          <a:xfrm>
            <a:off x="8595360"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Home</a:t>
            </a:r>
            <a:endParaRPr lang="en-US" sz="820" dirty="0"/>
          </a:p>
        </p:txBody>
      </p:sp>
      <p:sp>
        <p:nvSpPr>
          <p:cNvPr id="34" name="Text 30"/>
          <p:cNvSpPr/>
          <p:nvPr/>
        </p:nvSpPr>
        <p:spPr>
          <a:xfrm>
            <a:off x="9372600"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5" name="Text 31"/>
          <p:cNvSpPr/>
          <p:nvPr/>
        </p:nvSpPr>
        <p:spPr>
          <a:xfrm>
            <a:off x="9290304"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Outings</a:t>
            </a:r>
            <a:endParaRPr lang="en-US" sz="820" dirty="0"/>
          </a:p>
        </p:txBody>
      </p:sp>
      <p:sp>
        <p:nvSpPr>
          <p:cNvPr id="36" name="Text 32"/>
          <p:cNvSpPr/>
          <p:nvPr/>
        </p:nvSpPr>
        <p:spPr>
          <a:xfrm>
            <a:off x="10067544"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057BEE"/>
                </a:solidFill>
                <a:latin typeface="Lato Heavy" pitchFamily="34" charset="0"/>
                <a:ea typeface="Lato Heavy" pitchFamily="34" charset="-122"/>
                <a:cs typeface="Lato Heavy" pitchFamily="34" charset="-120"/>
              </a:rPr>
              <a:t>◌</a:t>
            </a:r>
            <a:endParaRPr lang="en-US" sz="1500" dirty="0"/>
          </a:p>
        </p:txBody>
      </p:sp>
      <p:sp>
        <p:nvSpPr>
          <p:cNvPr id="37" name="Text 33"/>
          <p:cNvSpPr/>
          <p:nvPr/>
        </p:nvSpPr>
        <p:spPr>
          <a:xfrm>
            <a:off x="9985248"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057BEE"/>
                </a:solidFill>
                <a:latin typeface="Lato Heavy" pitchFamily="34" charset="0"/>
                <a:ea typeface="Lato Heavy" pitchFamily="34" charset="-122"/>
                <a:cs typeface="Lato Heavy" pitchFamily="34" charset="-120"/>
              </a:rPr>
              <a:t>Messages</a:t>
            </a:r>
            <a:endParaRPr lang="en-US" sz="820" dirty="0"/>
          </a:p>
        </p:txBody>
      </p:sp>
      <p:sp>
        <p:nvSpPr>
          <p:cNvPr id="38" name="Text 34"/>
          <p:cNvSpPr/>
          <p:nvPr/>
        </p:nvSpPr>
        <p:spPr>
          <a:xfrm>
            <a:off x="10762488"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9" name="Text 35"/>
          <p:cNvSpPr/>
          <p:nvPr/>
        </p:nvSpPr>
        <p:spPr>
          <a:xfrm>
            <a:off x="10680192"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More</a:t>
            </a:r>
            <a:endParaRPr lang="en-US" sz="820" dirty="0"/>
          </a:p>
        </p:txBody>
      </p:sp>
      <p:sp>
        <p:nvSpPr>
          <p:cNvPr id="40" name="Text 36"/>
          <p:cNvSpPr/>
          <p:nvPr/>
        </p:nvSpPr>
        <p:spPr>
          <a:xfrm>
            <a:off x="8485632" y="2587752"/>
            <a:ext cx="2962656" cy="338328"/>
          </a:xfrm>
          <a:prstGeom prst="rect">
            <a:avLst/>
          </a:prstGeom>
          <a:noFill/>
          <a:ln/>
        </p:spPr>
        <p:txBody>
          <a:bodyPr wrap="square" lIns="0" tIns="0" rIns="0" bIns="0" rtlCol="0" anchor="ctr">
            <a:normAutofit/>
          </a:bodyPr>
          <a:lstStyle/>
          <a:p>
            <a:pPr marL="0" indent="0">
              <a:buNone/>
            </a:pPr>
            <a:r>
              <a:rPr lang="en-US" sz="1700" b="1" dirty="0">
                <a:solidFill>
                  <a:srgbClr val="082B4E"/>
                </a:solidFill>
                <a:latin typeface="Lato Heavy" pitchFamily="34" charset="0"/>
                <a:ea typeface="Lato Heavy" pitchFamily="34" charset="-122"/>
                <a:cs typeface="Lato Heavy" pitchFamily="34" charset="-120"/>
              </a:rPr>
              <a:t>Messages</a:t>
            </a:r>
            <a:endParaRPr lang="en-US" sz="1700" dirty="0"/>
          </a:p>
        </p:txBody>
      </p:sp>
      <p:sp>
        <p:nvSpPr>
          <p:cNvPr id="41" name="Shape 37"/>
          <p:cNvSpPr/>
          <p:nvPr/>
        </p:nvSpPr>
        <p:spPr>
          <a:xfrm>
            <a:off x="10671048" y="2606040"/>
            <a:ext cx="731520" cy="265176"/>
          </a:xfrm>
          <a:prstGeom prst="roundRect">
            <a:avLst>
              <a:gd name="adj" fmla="val 34483"/>
            </a:avLst>
          </a:prstGeom>
          <a:solidFill>
            <a:srgbClr val="057BEE"/>
          </a:solidFill>
          <a:ln w="12700">
            <a:solidFill>
              <a:srgbClr val="057BEE"/>
            </a:solidFill>
            <a:prstDash val="solid"/>
          </a:ln>
        </p:spPr>
        <p:txBody>
          <a:bodyPr/>
          <a:lstStyle/>
          <a:p>
            <a:endParaRPr lang="en-US"/>
          </a:p>
        </p:txBody>
      </p:sp>
      <p:sp>
        <p:nvSpPr>
          <p:cNvPr id="42" name="Text 38"/>
          <p:cNvSpPr/>
          <p:nvPr/>
        </p:nvSpPr>
        <p:spPr>
          <a:xfrm>
            <a:off x="10698480" y="2651760"/>
            <a:ext cx="676656" cy="146304"/>
          </a:xfrm>
          <a:prstGeom prst="rect">
            <a:avLst/>
          </a:prstGeom>
          <a:noFill/>
          <a:ln/>
        </p:spPr>
        <p:txBody>
          <a:bodyPr wrap="square" lIns="0" tIns="0" rIns="0" bIns="0" rtlCol="0" anchor="ctr">
            <a:normAutofit/>
          </a:bodyPr>
          <a:lstStyle/>
          <a:p>
            <a:pPr marL="0" indent="0" algn="ctr">
              <a:buNone/>
            </a:pPr>
            <a:r>
              <a:rPr lang="en-US" sz="880" b="1" dirty="0">
                <a:solidFill>
                  <a:srgbClr val="FFFFFF"/>
                </a:solidFill>
                <a:latin typeface="Lato Heavy" pitchFamily="34" charset="0"/>
                <a:ea typeface="Lato Heavy" pitchFamily="34" charset="-122"/>
                <a:cs typeface="Lato Heavy" pitchFamily="34" charset="-120"/>
              </a:rPr>
              <a:t>+ New</a:t>
            </a:r>
            <a:endParaRPr lang="en-US" sz="880" dirty="0"/>
          </a:p>
        </p:txBody>
      </p:sp>
      <p:sp>
        <p:nvSpPr>
          <p:cNvPr id="43" name="Shape 39"/>
          <p:cNvSpPr/>
          <p:nvPr/>
        </p:nvSpPr>
        <p:spPr>
          <a:xfrm>
            <a:off x="8485632" y="3090672"/>
            <a:ext cx="2962656" cy="603504"/>
          </a:xfrm>
          <a:prstGeom prst="roundRect">
            <a:avLst>
              <a:gd name="adj" fmla="val 18182"/>
            </a:avLst>
          </a:prstGeom>
          <a:solidFill>
            <a:srgbClr val="FFFFFF"/>
          </a:solidFill>
          <a:ln w="12700">
            <a:solidFill>
              <a:srgbClr val="DDE7F0"/>
            </a:solidFill>
            <a:prstDash val="solid"/>
          </a:ln>
        </p:spPr>
        <p:txBody>
          <a:bodyPr/>
          <a:lstStyle/>
          <a:p>
            <a:endParaRPr lang="en-US"/>
          </a:p>
        </p:txBody>
      </p:sp>
      <p:sp>
        <p:nvSpPr>
          <p:cNvPr id="44" name="Text 40"/>
          <p:cNvSpPr/>
          <p:nvPr/>
        </p:nvSpPr>
        <p:spPr>
          <a:xfrm>
            <a:off x="8613648" y="3200400"/>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Community team</a:t>
            </a:r>
            <a:endParaRPr lang="en-US" sz="1200" dirty="0"/>
          </a:p>
        </p:txBody>
      </p:sp>
      <p:sp>
        <p:nvSpPr>
          <p:cNvPr id="45" name="Text 41"/>
          <p:cNvSpPr/>
          <p:nvPr/>
        </p:nvSpPr>
        <p:spPr>
          <a:xfrm>
            <a:off x="8613648" y="3392424"/>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Important neighborhood updates</a:t>
            </a:r>
            <a:endParaRPr lang="en-US" sz="950" dirty="0"/>
          </a:p>
        </p:txBody>
      </p:sp>
      <p:sp>
        <p:nvSpPr>
          <p:cNvPr id="46" name="Shape 42"/>
          <p:cNvSpPr/>
          <p:nvPr/>
        </p:nvSpPr>
        <p:spPr>
          <a:xfrm>
            <a:off x="8485632" y="3794760"/>
            <a:ext cx="2962656" cy="603504"/>
          </a:xfrm>
          <a:prstGeom prst="roundRect">
            <a:avLst>
              <a:gd name="adj" fmla="val 18182"/>
            </a:avLst>
          </a:prstGeom>
          <a:solidFill>
            <a:srgbClr val="FFFFFF"/>
          </a:solidFill>
          <a:ln w="12700">
            <a:solidFill>
              <a:srgbClr val="DDE7F0"/>
            </a:solidFill>
            <a:prstDash val="solid"/>
          </a:ln>
        </p:spPr>
        <p:txBody>
          <a:bodyPr/>
          <a:lstStyle/>
          <a:p>
            <a:endParaRPr lang="en-US"/>
          </a:p>
        </p:txBody>
      </p:sp>
      <p:sp>
        <p:nvSpPr>
          <p:cNvPr id="47" name="Text 43"/>
          <p:cNvSpPr/>
          <p:nvPr/>
        </p:nvSpPr>
        <p:spPr>
          <a:xfrm>
            <a:off x="8613648" y="3904488"/>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Residents group</a:t>
            </a:r>
            <a:endParaRPr lang="en-US" sz="1200" dirty="0"/>
          </a:p>
        </p:txBody>
      </p:sp>
      <p:sp>
        <p:nvSpPr>
          <p:cNvPr id="48" name="Text 44"/>
          <p:cNvSpPr/>
          <p:nvPr/>
        </p:nvSpPr>
        <p:spPr>
          <a:xfrm>
            <a:off x="8613648" y="4096512"/>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Looking forward to Saturday!</a:t>
            </a:r>
            <a:endParaRPr lang="en-US" sz="950" dirty="0"/>
          </a:p>
        </p:txBody>
      </p:sp>
      <p:sp>
        <p:nvSpPr>
          <p:cNvPr id="49" name="Shape 45"/>
          <p:cNvSpPr/>
          <p:nvPr/>
        </p:nvSpPr>
        <p:spPr>
          <a:xfrm>
            <a:off x="8485632" y="4498848"/>
            <a:ext cx="2962656" cy="603504"/>
          </a:xfrm>
          <a:prstGeom prst="roundRect">
            <a:avLst>
              <a:gd name="adj" fmla="val 18182"/>
            </a:avLst>
          </a:prstGeom>
          <a:solidFill>
            <a:srgbClr val="FFFFFF"/>
          </a:solidFill>
          <a:ln w="12700">
            <a:solidFill>
              <a:srgbClr val="DDE7F0"/>
            </a:solidFill>
            <a:prstDash val="solid"/>
          </a:ln>
        </p:spPr>
        <p:txBody>
          <a:bodyPr/>
          <a:lstStyle/>
          <a:p>
            <a:endParaRPr lang="en-US"/>
          </a:p>
        </p:txBody>
      </p:sp>
      <p:sp>
        <p:nvSpPr>
          <p:cNvPr id="50" name="Text 46"/>
          <p:cNvSpPr/>
          <p:nvPr/>
        </p:nvSpPr>
        <p:spPr>
          <a:xfrm>
            <a:off x="8613648" y="4608576"/>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Service provider</a:t>
            </a:r>
            <a:endParaRPr lang="en-US" sz="1200" dirty="0"/>
          </a:p>
        </p:txBody>
      </p:sp>
      <p:sp>
        <p:nvSpPr>
          <p:cNvPr id="51" name="Text 47"/>
          <p:cNvSpPr/>
          <p:nvPr/>
        </p:nvSpPr>
        <p:spPr>
          <a:xfrm>
            <a:off x="8613648" y="4800600"/>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Thanks for your inquiry</a:t>
            </a:r>
            <a:endParaRPr lang="en-US" sz="950" dirty="0"/>
          </a:p>
        </p:txBody>
      </p:sp>
      <p:sp>
        <p:nvSpPr>
          <p:cNvPr id="52" name="Shape 48"/>
          <p:cNvSpPr/>
          <p:nvPr/>
        </p:nvSpPr>
        <p:spPr>
          <a:xfrm>
            <a:off x="8485632" y="5202936"/>
            <a:ext cx="2962656" cy="603504"/>
          </a:xfrm>
          <a:prstGeom prst="roundRect">
            <a:avLst>
              <a:gd name="adj" fmla="val 18182"/>
            </a:avLst>
          </a:prstGeom>
          <a:solidFill>
            <a:srgbClr val="FFFFFF"/>
          </a:solidFill>
          <a:ln w="12700">
            <a:solidFill>
              <a:srgbClr val="DDE7F0"/>
            </a:solidFill>
            <a:prstDash val="solid"/>
          </a:ln>
        </p:spPr>
        <p:txBody>
          <a:bodyPr/>
          <a:lstStyle/>
          <a:p>
            <a:endParaRPr lang="en-US"/>
          </a:p>
        </p:txBody>
      </p:sp>
      <p:sp>
        <p:nvSpPr>
          <p:cNvPr id="53" name="Text 49"/>
          <p:cNvSpPr/>
          <p:nvPr/>
        </p:nvSpPr>
        <p:spPr>
          <a:xfrm>
            <a:off x="8613648" y="5312664"/>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Pickleball club</a:t>
            </a:r>
            <a:endParaRPr lang="en-US" sz="1200" dirty="0"/>
          </a:p>
        </p:txBody>
      </p:sp>
      <p:sp>
        <p:nvSpPr>
          <p:cNvPr id="54" name="Text 50"/>
          <p:cNvSpPr/>
          <p:nvPr/>
        </p:nvSpPr>
        <p:spPr>
          <a:xfrm>
            <a:off x="8613648" y="5504688"/>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Your next match is coming up</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722376" y="886968"/>
            <a:ext cx="6583680" cy="246888"/>
          </a:xfrm>
          <a:prstGeom prst="rect">
            <a:avLst/>
          </a:prstGeom>
          <a:noFill/>
          <a:ln/>
        </p:spPr>
        <p:txBody>
          <a:bodyPr wrap="square" lIns="0" tIns="0" rIns="0" bIns="0" rtlCol="0" anchor="ctr">
            <a:normAutofit/>
          </a:bodyPr>
          <a:lstStyle/>
          <a:p>
            <a:pPr marL="0" indent="0">
              <a:buNone/>
            </a:pPr>
            <a:r>
              <a:rPr lang="en-US" sz="1200" b="1" kern="0" spc="70" dirty="0">
                <a:solidFill>
                  <a:srgbClr val="127A91"/>
                </a:solidFill>
                <a:latin typeface="Lato Heavy" pitchFamily="34" charset="0"/>
                <a:ea typeface="Lato Heavy" pitchFamily="34" charset="-122"/>
                <a:cs typeface="Lato Heavy" pitchFamily="34" charset="-120"/>
              </a:rPr>
              <a:t>BARNABY  /  INFO</a:t>
            </a:r>
            <a:endParaRPr lang="en-US" sz="1200" dirty="0"/>
          </a:p>
        </p:txBody>
      </p:sp>
      <p:sp>
        <p:nvSpPr>
          <p:cNvPr id="6" name="Text 3"/>
          <p:cNvSpPr/>
          <p:nvPr/>
        </p:nvSpPr>
        <p:spPr>
          <a:xfrm>
            <a:off x="713232" y="1179576"/>
            <a:ext cx="7315200" cy="630936"/>
          </a:xfrm>
          <a:prstGeom prst="rect">
            <a:avLst/>
          </a:prstGeom>
          <a:noFill/>
          <a:ln/>
        </p:spPr>
        <p:txBody>
          <a:bodyPr wrap="square" lIns="0" tIns="0" rIns="0" bIns="0" rtlCol="0" anchor="ctr">
            <a:normAutofit/>
          </a:bodyPr>
          <a:lstStyle/>
          <a:p>
            <a:pPr marL="0" indent="0">
              <a:buNone/>
            </a:pPr>
            <a:r>
              <a:rPr lang="en-US" sz="3400" b="1" dirty="0">
                <a:solidFill>
                  <a:srgbClr val="082B4E"/>
                </a:solidFill>
                <a:latin typeface="Lato Heavy" pitchFamily="34" charset="0"/>
                <a:ea typeface="Lato Heavy" pitchFamily="34" charset="-122"/>
                <a:cs typeface="Lato Heavy" pitchFamily="34" charset="-120"/>
              </a:rPr>
              <a:t>COMMUNITY INFORMATION</a:t>
            </a:r>
            <a:endParaRPr lang="en-US" sz="3400" dirty="0"/>
          </a:p>
        </p:txBody>
      </p:sp>
      <p:sp>
        <p:nvSpPr>
          <p:cNvPr id="7" name="Text 4"/>
          <p:cNvSpPr/>
          <p:nvPr/>
        </p:nvSpPr>
        <p:spPr>
          <a:xfrm>
            <a:off x="731520" y="1856232"/>
            <a:ext cx="6858000" cy="448056"/>
          </a:xfrm>
          <a:prstGeom prst="rect">
            <a:avLst/>
          </a:prstGeom>
          <a:noFill/>
          <a:ln/>
        </p:spPr>
        <p:txBody>
          <a:bodyPr wrap="square" lIns="0" tIns="0" rIns="0" bIns="0" rtlCol="0" anchor="ctr">
            <a:normAutofit/>
          </a:bodyPr>
          <a:lstStyle/>
          <a:p>
            <a:pPr marL="0" indent="0">
              <a:buNone/>
            </a:pPr>
            <a:r>
              <a:rPr lang="en-US" sz="1950" dirty="0">
                <a:solidFill>
                  <a:srgbClr val="617B94"/>
                </a:solidFill>
                <a:latin typeface="Lato" pitchFamily="34" charset="0"/>
                <a:ea typeface="Lato" pitchFamily="34" charset="-122"/>
                <a:cs typeface="Lato" pitchFamily="34" charset="-120"/>
              </a:rPr>
              <a:t>Knowledge that is easy to discover.</a:t>
            </a:r>
            <a:endParaRPr lang="en-US" sz="1950" dirty="0"/>
          </a:p>
        </p:txBody>
      </p:sp>
      <p:sp>
        <p:nvSpPr>
          <p:cNvPr id="8" name="Shape 5"/>
          <p:cNvSpPr/>
          <p:nvPr/>
        </p:nvSpPr>
        <p:spPr>
          <a:xfrm>
            <a:off x="731520" y="2770632"/>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9" name="Text 6"/>
          <p:cNvSpPr/>
          <p:nvPr/>
        </p:nvSpPr>
        <p:spPr>
          <a:xfrm>
            <a:off x="1024128" y="2651760"/>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Amenities and recreation</a:t>
            </a:r>
            <a:endParaRPr lang="en-US" sz="2100" dirty="0"/>
          </a:p>
        </p:txBody>
      </p:sp>
      <p:sp>
        <p:nvSpPr>
          <p:cNvPr id="10" name="Shape 7"/>
          <p:cNvSpPr/>
          <p:nvPr/>
        </p:nvSpPr>
        <p:spPr>
          <a:xfrm>
            <a:off x="731520" y="3575304"/>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1" name="Text 8"/>
          <p:cNvSpPr/>
          <p:nvPr/>
        </p:nvSpPr>
        <p:spPr>
          <a:xfrm>
            <a:off x="1024128" y="3456432"/>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Helpful notices and resident resources</a:t>
            </a:r>
            <a:endParaRPr lang="en-US" sz="2100" dirty="0"/>
          </a:p>
        </p:txBody>
      </p:sp>
      <p:sp>
        <p:nvSpPr>
          <p:cNvPr id="12" name="Shape 9"/>
          <p:cNvSpPr/>
          <p:nvPr/>
        </p:nvSpPr>
        <p:spPr>
          <a:xfrm>
            <a:off x="731520" y="4379976"/>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3" name="Text 10"/>
          <p:cNvSpPr/>
          <p:nvPr/>
        </p:nvSpPr>
        <p:spPr>
          <a:xfrm>
            <a:off x="1024128" y="4261104"/>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Support for staff and residents</a:t>
            </a:r>
            <a:endParaRPr lang="en-US" sz="2100" dirty="0"/>
          </a:p>
        </p:txBody>
      </p:sp>
      <p:sp>
        <p:nvSpPr>
          <p:cNvPr id="14" name="Shape 11"/>
          <p:cNvSpPr/>
          <p:nvPr/>
        </p:nvSpPr>
        <p:spPr>
          <a:xfrm>
            <a:off x="713232" y="5385816"/>
            <a:ext cx="6638544" cy="822960"/>
          </a:xfrm>
          <a:prstGeom prst="roundRect">
            <a:avLst>
              <a:gd name="adj" fmla="val 16667"/>
            </a:avLst>
          </a:prstGeom>
          <a:solidFill>
            <a:srgbClr val="EAF5FF"/>
          </a:solidFill>
          <a:ln w="12700">
            <a:solidFill>
              <a:srgbClr val="CDE3F6"/>
            </a:solidFill>
            <a:prstDash val="solid"/>
          </a:ln>
        </p:spPr>
        <p:txBody>
          <a:bodyPr/>
          <a:lstStyle/>
          <a:p>
            <a:endParaRPr lang="en-US"/>
          </a:p>
        </p:txBody>
      </p:sp>
      <p:sp>
        <p:nvSpPr>
          <p:cNvPr id="15" name="Shape 12"/>
          <p:cNvSpPr/>
          <p:nvPr/>
        </p:nvSpPr>
        <p:spPr>
          <a:xfrm>
            <a:off x="914400" y="5623560"/>
            <a:ext cx="256032" cy="256032"/>
          </a:xfrm>
          <a:prstGeom prst="ellipse">
            <a:avLst/>
          </a:prstGeom>
          <a:solidFill>
            <a:srgbClr val="057BEE"/>
          </a:solidFill>
          <a:ln w="12700">
            <a:solidFill>
              <a:srgbClr val="057BEE">
                <a:alpha val="0"/>
              </a:srgbClr>
            </a:solidFill>
            <a:prstDash val="solid"/>
          </a:ln>
        </p:spPr>
        <p:txBody>
          <a:bodyPr/>
          <a:lstStyle/>
          <a:p>
            <a:endParaRPr lang="en-US"/>
          </a:p>
        </p:txBody>
      </p:sp>
      <p:sp>
        <p:nvSpPr>
          <p:cNvPr id="16" name="Text 13"/>
          <p:cNvSpPr/>
          <p:nvPr/>
        </p:nvSpPr>
        <p:spPr>
          <a:xfrm>
            <a:off x="958291" y="5623560"/>
            <a:ext cx="1828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Lato Heavy" pitchFamily="34" charset="0"/>
                <a:ea typeface="Lato Heavy" pitchFamily="34" charset="-122"/>
                <a:cs typeface="Lato Heavy" pitchFamily="34" charset="-120"/>
              </a:rPr>
              <a:t>→</a:t>
            </a:r>
            <a:endParaRPr lang="en-US" sz="1400" dirty="0"/>
          </a:p>
        </p:txBody>
      </p:sp>
      <p:sp>
        <p:nvSpPr>
          <p:cNvPr id="17" name="Text 14"/>
          <p:cNvSpPr/>
          <p:nvPr/>
        </p:nvSpPr>
        <p:spPr>
          <a:xfrm>
            <a:off x="1307592" y="5486400"/>
            <a:ext cx="5824728" cy="612648"/>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Barnaby puts useful community knowledge at residents’ fingertips.</a:t>
            </a:r>
            <a:endParaRPr lang="en-US" sz="1850" dirty="0"/>
          </a:p>
        </p:txBody>
      </p:sp>
      <p:sp>
        <p:nvSpPr>
          <p:cNvPr id="18" name="Text 15"/>
          <p:cNvSpPr/>
          <p:nvPr/>
        </p:nvSpPr>
        <p:spPr>
          <a:xfrm>
            <a:off x="10652760" y="6464808"/>
            <a:ext cx="1051560" cy="182880"/>
          </a:xfrm>
          <a:prstGeom prst="rect">
            <a:avLst/>
          </a:prstGeom>
          <a:noFill/>
          <a:ln/>
        </p:spPr>
        <p:txBody>
          <a:bodyPr wrap="square" lIns="0" tIns="0" rIns="0" bIns="0" rtlCol="0" anchor="ctr">
            <a:normAutofit/>
          </a:bodyPr>
          <a:lstStyle/>
          <a:p>
            <a:pPr marL="0" indent="0" algn="r">
              <a:buNone/>
            </a:pPr>
            <a:r>
              <a:rPr lang="en-US" sz="1000" b="1" dirty="0">
                <a:solidFill>
                  <a:srgbClr val="617B94"/>
                </a:solidFill>
                <a:latin typeface="Lato Heavy" pitchFamily="34" charset="0"/>
                <a:ea typeface="Lato Heavy" pitchFamily="34" charset="-122"/>
                <a:cs typeface="Lato Heavy" pitchFamily="34" charset="-120"/>
              </a:rPr>
              <a:t>09  /  14</a:t>
            </a:r>
            <a:endParaRPr lang="en-US" sz="1000" dirty="0"/>
          </a:p>
        </p:txBody>
      </p:sp>
      <p:sp>
        <p:nvSpPr>
          <p:cNvPr id="19" name="Text 16"/>
          <p:cNvSpPr/>
          <p:nvPr/>
        </p:nvSpPr>
        <p:spPr>
          <a:xfrm>
            <a:off x="731520" y="6446520"/>
            <a:ext cx="9052560" cy="210312"/>
          </a:xfrm>
          <a:prstGeom prst="rect">
            <a:avLst/>
          </a:prstGeom>
          <a:noFill/>
          <a:ln/>
        </p:spPr>
        <p:txBody>
          <a:bodyPr wrap="square" lIns="0" tIns="0" rIns="0" bIns="0" rtlCol="0" anchor="ctr">
            <a:normAutofit/>
          </a:bodyPr>
          <a:lstStyle/>
          <a:p>
            <a:pPr marL="0" indent="0">
              <a:buNone/>
            </a:pPr>
            <a:r>
              <a:rPr lang="en-US" sz="940" dirty="0">
                <a:solidFill>
                  <a:srgbClr val="617B94"/>
                </a:solidFill>
                <a:latin typeface="Lato" pitchFamily="34" charset="0"/>
                <a:ea typeface="Lato" pitchFamily="34" charset="-122"/>
                <a:cs typeface="Lato" pitchFamily="34" charset="-120"/>
              </a:rPr>
              <a:t>ILLUSTRATIVE CONCEPT DEMO • ON TOP OF THE WORLD COMMUNITY HIGHLIGHTS • NOT OFFICIALLY AFFILIATED</a:t>
            </a:r>
            <a:endParaRPr lang="en-US" sz="940" dirty="0"/>
          </a:p>
        </p:txBody>
      </p:sp>
      <p:sp>
        <p:nvSpPr>
          <p:cNvPr id="20" name="Shape 17"/>
          <p:cNvSpPr/>
          <p:nvPr/>
        </p:nvSpPr>
        <p:spPr>
          <a:xfrm>
            <a:off x="8375904" y="886968"/>
            <a:ext cx="3328416" cy="5541264"/>
          </a:xfrm>
          <a:prstGeom prst="roundRect">
            <a:avLst>
              <a:gd name="adj" fmla="val 4121"/>
            </a:avLst>
          </a:prstGeom>
          <a:solidFill>
            <a:srgbClr val="D7E0EA"/>
          </a:solidFill>
          <a:ln w="12700">
            <a:solidFill>
              <a:srgbClr val="D7E0EA">
                <a:alpha val="0"/>
              </a:srgbClr>
            </a:solidFill>
            <a:prstDash val="solid"/>
          </a:ln>
        </p:spPr>
        <p:txBody>
          <a:bodyPr/>
          <a:lstStyle/>
          <a:p>
            <a:endParaRPr lang="en-US"/>
          </a:p>
        </p:txBody>
      </p:sp>
      <p:sp>
        <p:nvSpPr>
          <p:cNvPr id="21" name="Shape 18"/>
          <p:cNvSpPr/>
          <p:nvPr/>
        </p:nvSpPr>
        <p:spPr>
          <a:xfrm>
            <a:off x="8302752" y="795528"/>
            <a:ext cx="3328416" cy="5541264"/>
          </a:xfrm>
          <a:prstGeom prst="roundRect">
            <a:avLst>
              <a:gd name="adj" fmla="val 4121"/>
            </a:avLst>
          </a:prstGeom>
          <a:solidFill>
            <a:srgbClr val="071522"/>
          </a:solidFill>
          <a:ln w="12700">
            <a:solidFill>
              <a:srgbClr val="071522">
                <a:alpha val="0"/>
              </a:srgbClr>
            </a:solidFill>
            <a:prstDash val="solid"/>
          </a:ln>
        </p:spPr>
        <p:txBody>
          <a:bodyPr/>
          <a:lstStyle/>
          <a:p>
            <a:endParaRPr lang="en-US"/>
          </a:p>
        </p:txBody>
      </p:sp>
      <p:sp>
        <p:nvSpPr>
          <p:cNvPr id="22" name="Shape 19"/>
          <p:cNvSpPr/>
          <p:nvPr/>
        </p:nvSpPr>
        <p:spPr>
          <a:xfrm>
            <a:off x="8394192" y="886968"/>
            <a:ext cx="3145536" cy="5358384"/>
          </a:xfrm>
          <a:prstGeom prst="roundRect">
            <a:avLst>
              <a:gd name="adj" fmla="val 4360"/>
            </a:avLst>
          </a:prstGeom>
          <a:solidFill>
            <a:srgbClr val="FFFFFF"/>
          </a:solidFill>
          <a:ln w="12700">
            <a:solidFill>
              <a:srgbClr val="FFFFFF">
                <a:alpha val="0"/>
              </a:srgbClr>
            </a:solidFill>
            <a:prstDash val="solid"/>
          </a:ln>
        </p:spPr>
        <p:txBody>
          <a:bodyPr/>
          <a:lstStyle/>
          <a:p>
            <a:endParaRPr lang="en-US"/>
          </a:p>
        </p:txBody>
      </p:sp>
      <p:sp>
        <p:nvSpPr>
          <p:cNvPr id="23" name="Shape 20"/>
          <p:cNvSpPr/>
          <p:nvPr/>
        </p:nvSpPr>
        <p:spPr>
          <a:xfrm>
            <a:off x="9454896" y="850392"/>
            <a:ext cx="1014984" cy="173736"/>
          </a:xfrm>
          <a:prstGeom prst="roundRect">
            <a:avLst>
              <a:gd name="adj" fmla="val 78947"/>
            </a:avLst>
          </a:prstGeom>
          <a:solidFill>
            <a:srgbClr val="071522"/>
          </a:solidFill>
          <a:ln w="12700">
            <a:solidFill>
              <a:srgbClr val="071522">
                <a:alpha val="0"/>
              </a:srgbClr>
            </a:solidFill>
            <a:prstDash val="solid"/>
          </a:ln>
        </p:spPr>
        <p:txBody>
          <a:bodyPr/>
          <a:lstStyle/>
          <a:p>
            <a:endParaRPr lang="en-US"/>
          </a:p>
        </p:txBody>
      </p:sp>
      <p:sp>
        <p:nvSpPr>
          <p:cNvPr id="24" name="Text 21"/>
          <p:cNvSpPr/>
          <p:nvPr/>
        </p:nvSpPr>
        <p:spPr>
          <a:xfrm>
            <a:off x="8558784" y="978408"/>
            <a:ext cx="566928" cy="210312"/>
          </a:xfrm>
          <a:prstGeom prst="rect">
            <a:avLst/>
          </a:prstGeom>
          <a:noFill/>
          <a:ln/>
        </p:spPr>
        <p:txBody>
          <a:bodyPr wrap="square" lIns="0" tIns="0" rIns="0" bIns="0" rtlCol="0" anchor="ctr">
            <a:normAutofit/>
          </a:bodyPr>
          <a:lstStyle/>
          <a:p>
            <a:pPr marL="0" indent="0">
              <a:buNone/>
            </a:pPr>
            <a:r>
              <a:rPr lang="en-US" sz="1000" b="1" dirty="0">
                <a:solidFill>
                  <a:srgbClr val="2A4157"/>
                </a:solidFill>
                <a:latin typeface="Lato Heavy" pitchFamily="34" charset="0"/>
                <a:ea typeface="Lato Heavy" pitchFamily="34" charset="-122"/>
                <a:cs typeface="Lato Heavy" pitchFamily="34" charset="-120"/>
              </a:rPr>
              <a:t>9:41</a:t>
            </a:r>
            <a:endParaRPr lang="en-US" sz="1000" dirty="0"/>
          </a:p>
        </p:txBody>
      </p:sp>
      <p:sp>
        <p:nvSpPr>
          <p:cNvPr id="25" name="Text 22"/>
          <p:cNvSpPr/>
          <p:nvPr/>
        </p:nvSpPr>
        <p:spPr>
          <a:xfrm>
            <a:off x="10561320" y="978408"/>
            <a:ext cx="685800" cy="210312"/>
          </a:xfrm>
          <a:prstGeom prst="rect">
            <a:avLst/>
          </a:prstGeom>
          <a:noFill/>
          <a:ln/>
        </p:spPr>
        <p:txBody>
          <a:bodyPr wrap="square" lIns="0" tIns="0" rIns="0" bIns="0" rtlCol="0" anchor="ctr">
            <a:normAutofit/>
          </a:bodyPr>
          <a:lstStyle/>
          <a:p>
            <a:pPr marL="0" indent="0" algn="r">
              <a:buNone/>
            </a:pPr>
            <a:r>
              <a:rPr lang="en-US" sz="900" b="1" dirty="0">
                <a:solidFill>
                  <a:srgbClr val="2A4157"/>
                </a:solidFill>
                <a:latin typeface="Lato Heavy" pitchFamily="34" charset="0"/>
                <a:ea typeface="Lato Heavy" pitchFamily="34" charset="-122"/>
                <a:cs typeface="Lato Heavy" pitchFamily="34" charset="-120"/>
              </a:rPr>
              <a:t>▰  Wi-Fi</a:t>
            </a:r>
            <a:endParaRPr lang="en-US" sz="900" dirty="0"/>
          </a:p>
        </p:txBody>
      </p:sp>
      <p:sp>
        <p:nvSpPr>
          <p:cNvPr id="26" name="Text 23"/>
          <p:cNvSpPr/>
          <p:nvPr/>
        </p:nvSpPr>
        <p:spPr>
          <a:xfrm>
            <a:off x="8485632" y="1298448"/>
            <a:ext cx="2962656" cy="283464"/>
          </a:xfrm>
          <a:prstGeom prst="rect">
            <a:avLst/>
          </a:prstGeom>
          <a:noFill/>
          <a:ln/>
        </p:spPr>
        <p:txBody>
          <a:bodyPr wrap="square" lIns="0" tIns="0" rIns="0" bIns="0" rtlCol="0" anchor="ctr">
            <a:normAutofit/>
          </a:bodyPr>
          <a:lstStyle/>
          <a:p>
            <a:pPr marL="0" indent="0" algn="ctr">
              <a:buNone/>
            </a:pPr>
            <a:r>
              <a:rPr lang="en-US" sz="1370" b="1" dirty="0">
                <a:solidFill>
                  <a:srgbClr val="082B4E"/>
                </a:solidFill>
                <a:latin typeface="Lato Heavy" pitchFamily="34" charset="0"/>
                <a:ea typeface="Lato Heavy" pitchFamily="34" charset="-122"/>
                <a:cs typeface="Lato Heavy" pitchFamily="34" charset="-120"/>
              </a:rPr>
              <a:t>On Top of the World</a:t>
            </a:r>
            <a:endParaRPr lang="en-US" sz="1370" dirty="0"/>
          </a:p>
        </p:txBody>
      </p:sp>
      <p:pic>
        <p:nvPicPr>
          <p:cNvPr id="27" name="Image 1" descr="/mnt/data/barnaby_hd_work/otow_gradient.png"/>
          <p:cNvPicPr>
            <a:picLocks noChangeAspect="1"/>
          </p:cNvPicPr>
          <p:nvPr/>
        </p:nvPicPr>
        <p:blipFill>
          <a:blip r:embed="rId4"/>
          <a:stretch>
            <a:fillRect/>
          </a:stretch>
        </p:blipFill>
        <p:spPr>
          <a:xfrm>
            <a:off x="8403336" y="1691640"/>
            <a:ext cx="3127248" cy="804672"/>
          </a:xfrm>
          <a:prstGeom prst="rect">
            <a:avLst/>
          </a:prstGeom>
        </p:spPr>
      </p:pic>
      <p:sp>
        <p:nvSpPr>
          <p:cNvPr id="28" name="Text 24"/>
          <p:cNvSpPr/>
          <p:nvPr/>
        </p:nvSpPr>
        <p:spPr>
          <a:xfrm>
            <a:off x="8586216" y="1783080"/>
            <a:ext cx="274320" cy="27432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Lato Heavy" pitchFamily="34" charset="0"/>
                <a:ea typeface="Lato Heavy" pitchFamily="34" charset="-122"/>
                <a:cs typeface="Lato Heavy" pitchFamily="34" charset="-120"/>
              </a:rPr>
              <a:t>≡</a:t>
            </a:r>
            <a:endParaRPr lang="en-US" sz="1900" dirty="0"/>
          </a:p>
        </p:txBody>
      </p:sp>
      <p:sp>
        <p:nvSpPr>
          <p:cNvPr id="29" name="Text 25"/>
          <p:cNvSpPr/>
          <p:nvPr/>
        </p:nvSpPr>
        <p:spPr>
          <a:xfrm>
            <a:off x="9025128" y="1810512"/>
            <a:ext cx="1920240" cy="201168"/>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Lato Heavy" pitchFamily="34" charset="0"/>
                <a:ea typeface="Lato Heavy" pitchFamily="34" charset="-122"/>
                <a:cs typeface="Lato Heavy" pitchFamily="34" charset="-120"/>
              </a:rPr>
              <a:t>On Top of the World</a:t>
            </a:r>
            <a:endParaRPr lang="en-US" sz="1200" dirty="0"/>
          </a:p>
        </p:txBody>
      </p:sp>
      <p:sp>
        <p:nvSpPr>
          <p:cNvPr id="30" name="Text 26"/>
          <p:cNvSpPr/>
          <p:nvPr/>
        </p:nvSpPr>
        <p:spPr>
          <a:xfrm>
            <a:off x="8567928" y="2148840"/>
            <a:ext cx="2377440" cy="301752"/>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Lato Heavy" pitchFamily="34" charset="0"/>
                <a:ea typeface="Lato Heavy" pitchFamily="34" charset="-122"/>
                <a:cs typeface="Lato Heavy" pitchFamily="34" charset="-120"/>
              </a:rPr>
              <a:t>INFO</a:t>
            </a:r>
            <a:endParaRPr lang="en-US" sz="1800" dirty="0"/>
          </a:p>
        </p:txBody>
      </p:sp>
      <p:sp>
        <p:nvSpPr>
          <p:cNvPr id="31" name="Shape 27"/>
          <p:cNvSpPr/>
          <p:nvPr/>
        </p:nvSpPr>
        <p:spPr>
          <a:xfrm>
            <a:off x="8449056" y="5705856"/>
            <a:ext cx="3035808" cy="420624"/>
          </a:xfrm>
          <a:prstGeom prst="roundRect">
            <a:avLst>
              <a:gd name="adj" fmla="val 32609"/>
            </a:avLst>
          </a:prstGeom>
          <a:solidFill>
            <a:srgbClr val="F8FBFE"/>
          </a:solidFill>
          <a:ln w="12700">
            <a:solidFill>
              <a:srgbClr val="F8FBFE">
                <a:alpha val="0"/>
              </a:srgbClr>
            </a:solidFill>
            <a:prstDash val="solid"/>
          </a:ln>
        </p:spPr>
        <p:txBody>
          <a:bodyPr/>
          <a:lstStyle/>
          <a:p>
            <a:endParaRPr lang="en-US"/>
          </a:p>
        </p:txBody>
      </p:sp>
      <p:sp>
        <p:nvSpPr>
          <p:cNvPr id="32" name="Text 28"/>
          <p:cNvSpPr/>
          <p:nvPr/>
        </p:nvSpPr>
        <p:spPr>
          <a:xfrm>
            <a:off x="8677656"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3" name="Text 29"/>
          <p:cNvSpPr/>
          <p:nvPr/>
        </p:nvSpPr>
        <p:spPr>
          <a:xfrm>
            <a:off x="8595360"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Home</a:t>
            </a:r>
            <a:endParaRPr lang="en-US" sz="820" dirty="0"/>
          </a:p>
        </p:txBody>
      </p:sp>
      <p:sp>
        <p:nvSpPr>
          <p:cNvPr id="34" name="Text 30"/>
          <p:cNvSpPr/>
          <p:nvPr/>
        </p:nvSpPr>
        <p:spPr>
          <a:xfrm>
            <a:off x="9372600"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5" name="Text 31"/>
          <p:cNvSpPr/>
          <p:nvPr/>
        </p:nvSpPr>
        <p:spPr>
          <a:xfrm>
            <a:off x="9290304"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Outings</a:t>
            </a:r>
            <a:endParaRPr lang="en-US" sz="820" dirty="0"/>
          </a:p>
        </p:txBody>
      </p:sp>
      <p:sp>
        <p:nvSpPr>
          <p:cNvPr id="36" name="Text 32"/>
          <p:cNvSpPr/>
          <p:nvPr/>
        </p:nvSpPr>
        <p:spPr>
          <a:xfrm>
            <a:off x="10067544"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7" name="Text 33"/>
          <p:cNvSpPr/>
          <p:nvPr/>
        </p:nvSpPr>
        <p:spPr>
          <a:xfrm>
            <a:off x="9985248"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Messages</a:t>
            </a:r>
            <a:endParaRPr lang="en-US" sz="820" dirty="0"/>
          </a:p>
        </p:txBody>
      </p:sp>
      <p:sp>
        <p:nvSpPr>
          <p:cNvPr id="38" name="Text 34"/>
          <p:cNvSpPr/>
          <p:nvPr/>
        </p:nvSpPr>
        <p:spPr>
          <a:xfrm>
            <a:off x="10762488"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9" name="Text 35"/>
          <p:cNvSpPr/>
          <p:nvPr/>
        </p:nvSpPr>
        <p:spPr>
          <a:xfrm>
            <a:off x="10680192"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More</a:t>
            </a:r>
            <a:endParaRPr lang="en-US" sz="820" dirty="0"/>
          </a:p>
        </p:txBody>
      </p:sp>
      <p:sp>
        <p:nvSpPr>
          <p:cNvPr id="40" name="Text 36"/>
          <p:cNvSpPr/>
          <p:nvPr/>
        </p:nvSpPr>
        <p:spPr>
          <a:xfrm>
            <a:off x="8485632" y="2587752"/>
            <a:ext cx="2962656" cy="338328"/>
          </a:xfrm>
          <a:prstGeom prst="rect">
            <a:avLst/>
          </a:prstGeom>
          <a:noFill/>
          <a:ln/>
        </p:spPr>
        <p:txBody>
          <a:bodyPr wrap="square" lIns="0" tIns="0" rIns="0" bIns="0" rtlCol="0" anchor="ctr">
            <a:normAutofit/>
          </a:bodyPr>
          <a:lstStyle/>
          <a:p>
            <a:pPr marL="0" indent="0">
              <a:buNone/>
            </a:pPr>
            <a:r>
              <a:rPr lang="en-US" sz="1700" b="1" dirty="0">
                <a:solidFill>
                  <a:srgbClr val="082B4E"/>
                </a:solidFill>
                <a:latin typeface="Lato Heavy" pitchFamily="34" charset="0"/>
                <a:ea typeface="Lato Heavy" pitchFamily="34" charset="-122"/>
                <a:cs typeface="Lato Heavy" pitchFamily="34" charset="-120"/>
              </a:rPr>
              <a:t>Explore your community</a:t>
            </a:r>
            <a:endParaRPr lang="en-US" sz="1700" dirty="0"/>
          </a:p>
        </p:txBody>
      </p:sp>
      <p:sp>
        <p:nvSpPr>
          <p:cNvPr id="41" name="Shape 37"/>
          <p:cNvSpPr/>
          <p:nvPr/>
        </p:nvSpPr>
        <p:spPr>
          <a:xfrm>
            <a:off x="8485632" y="3044952"/>
            <a:ext cx="2962656" cy="621792"/>
          </a:xfrm>
          <a:prstGeom prst="roundRect">
            <a:avLst>
              <a:gd name="adj" fmla="val 17647"/>
            </a:avLst>
          </a:prstGeom>
          <a:solidFill>
            <a:srgbClr val="FFFFFF"/>
          </a:solidFill>
          <a:ln w="12700">
            <a:solidFill>
              <a:srgbClr val="DDE7F0"/>
            </a:solidFill>
            <a:prstDash val="solid"/>
          </a:ln>
        </p:spPr>
        <p:txBody>
          <a:bodyPr/>
          <a:lstStyle/>
          <a:p>
            <a:endParaRPr lang="en-US"/>
          </a:p>
        </p:txBody>
      </p:sp>
      <p:sp>
        <p:nvSpPr>
          <p:cNvPr id="42" name="Text 38"/>
          <p:cNvSpPr/>
          <p:nvPr/>
        </p:nvSpPr>
        <p:spPr>
          <a:xfrm>
            <a:off x="8613648" y="3154680"/>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Amenities and recreation</a:t>
            </a:r>
            <a:endParaRPr lang="en-US" sz="1200" dirty="0"/>
          </a:p>
        </p:txBody>
      </p:sp>
      <p:sp>
        <p:nvSpPr>
          <p:cNvPr id="43" name="Text 39"/>
          <p:cNvSpPr/>
          <p:nvPr/>
        </p:nvSpPr>
        <p:spPr>
          <a:xfrm>
            <a:off x="8613648" y="3346704"/>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Golf, fitness and pickleball</a:t>
            </a:r>
            <a:endParaRPr lang="en-US" sz="950" dirty="0"/>
          </a:p>
        </p:txBody>
      </p:sp>
      <p:sp>
        <p:nvSpPr>
          <p:cNvPr id="44" name="Shape 40"/>
          <p:cNvSpPr/>
          <p:nvPr/>
        </p:nvSpPr>
        <p:spPr>
          <a:xfrm>
            <a:off x="10789920" y="3154680"/>
            <a:ext cx="548640" cy="256032"/>
          </a:xfrm>
          <a:prstGeom prst="roundRect">
            <a:avLst>
              <a:gd name="adj" fmla="val 53571"/>
            </a:avLst>
          </a:prstGeom>
          <a:solidFill>
            <a:srgbClr val="057BEE"/>
          </a:solidFill>
          <a:ln w="12700">
            <a:solidFill>
              <a:srgbClr val="057BEE">
                <a:alpha val="0"/>
              </a:srgbClr>
            </a:solidFill>
            <a:prstDash val="solid"/>
          </a:ln>
        </p:spPr>
        <p:txBody>
          <a:bodyPr/>
          <a:lstStyle/>
          <a:p>
            <a:endParaRPr lang="en-US"/>
          </a:p>
        </p:txBody>
      </p:sp>
      <p:sp>
        <p:nvSpPr>
          <p:cNvPr id="45" name="Text 41"/>
          <p:cNvSpPr/>
          <p:nvPr/>
        </p:nvSpPr>
        <p:spPr>
          <a:xfrm>
            <a:off x="10808208" y="3172968"/>
            <a:ext cx="493776" cy="18288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Lato Heavy" pitchFamily="34" charset="0"/>
                <a:ea typeface="Lato Heavy" pitchFamily="34" charset="-122"/>
                <a:cs typeface="Lato Heavy" pitchFamily="34" charset="-120"/>
              </a:rPr>
              <a:t>View</a:t>
            </a:r>
            <a:endParaRPr lang="en-US" sz="900" dirty="0"/>
          </a:p>
        </p:txBody>
      </p:sp>
      <p:sp>
        <p:nvSpPr>
          <p:cNvPr id="46" name="Shape 42"/>
          <p:cNvSpPr/>
          <p:nvPr/>
        </p:nvSpPr>
        <p:spPr>
          <a:xfrm>
            <a:off x="8485632" y="3758184"/>
            <a:ext cx="2962656" cy="621792"/>
          </a:xfrm>
          <a:prstGeom prst="roundRect">
            <a:avLst>
              <a:gd name="adj" fmla="val 17647"/>
            </a:avLst>
          </a:prstGeom>
          <a:solidFill>
            <a:srgbClr val="FFFFFF"/>
          </a:solidFill>
          <a:ln w="12700">
            <a:solidFill>
              <a:srgbClr val="DDE7F0"/>
            </a:solidFill>
            <a:prstDash val="solid"/>
          </a:ln>
        </p:spPr>
        <p:txBody>
          <a:bodyPr/>
          <a:lstStyle/>
          <a:p>
            <a:endParaRPr lang="en-US"/>
          </a:p>
        </p:txBody>
      </p:sp>
      <p:sp>
        <p:nvSpPr>
          <p:cNvPr id="47" name="Text 43"/>
          <p:cNvSpPr/>
          <p:nvPr/>
        </p:nvSpPr>
        <p:spPr>
          <a:xfrm>
            <a:off x="8613648" y="3867912"/>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Community announcements</a:t>
            </a:r>
            <a:endParaRPr lang="en-US" sz="1200" dirty="0"/>
          </a:p>
        </p:txBody>
      </p:sp>
      <p:sp>
        <p:nvSpPr>
          <p:cNvPr id="48" name="Text 44"/>
          <p:cNvSpPr/>
          <p:nvPr/>
        </p:nvSpPr>
        <p:spPr>
          <a:xfrm>
            <a:off x="8613648" y="4059936"/>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Important updates and notices</a:t>
            </a:r>
            <a:endParaRPr lang="en-US" sz="950" dirty="0"/>
          </a:p>
        </p:txBody>
      </p:sp>
      <p:sp>
        <p:nvSpPr>
          <p:cNvPr id="49" name="Shape 45"/>
          <p:cNvSpPr/>
          <p:nvPr/>
        </p:nvSpPr>
        <p:spPr>
          <a:xfrm>
            <a:off x="10789920" y="3867912"/>
            <a:ext cx="548640" cy="256032"/>
          </a:xfrm>
          <a:prstGeom prst="roundRect">
            <a:avLst>
              <a:gd name="adj" fmla="val 53571"/>
            </a:avLst>
          </a:prstGeom>
          <a:solidFill>
            <a:srgbClr val="057BEE"/>
          </a:solidFill>
          <a:ln w="12700">
            <a:solidFill>
              <a:srgbClr val="057BEE">
                <a:alpha val="0"/>
              </a:srgbClr>
            </a:solidFill>
            <a:prstDash val="solid"/>
          </a:ln>
        </p:spPr>
        <p:txBody>
          <a:bodyPr/>
          <a:lstStyle/>
          <a:p>
            <a:endParaRPr lang="en-US"/>
          </a:p>
        </p:txBody>
      </p:sp>
      <p:sp>
        <p:nvSpPr>
          <p:cNvPr id="50" name="Text 46"/>
          <p:cNvSpPr/>
          <p:nvPr/>
        </p:nvSpPr>
        <p:spPr>
          <a:xfrm>
            <a:off x="10808208" y="3886200"/>
            <a:ext cx="493776" cy="18288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Lato Heavy" pitchFamily="34" charset="0"/>
                <a:ea typeface="Lato Heavy" pitchFamily="34" charset="-122"/>
                <a:cs typeface="Lato Heavy" pitchFamily="34" charset="-120"/>
              </a:rPr>
              <a:t>View</a:t>
            </a:r>
            <a:endParaRPr lang="en-US" sz="900" dirty="0"/>
          </a:p>
        </p:txBody>
      </p:sp>
      <p:sp>
        <p:nvSpPr>
          <p:cNvPr id="51" name="Shape 47"/>
          <p:cNvSpPr/>
          <p:nvPr/>
        </p:nvSpPr>
        <p:spPr>
          <a:xfrm>
            <a:off x="8485632" y="4471416"/>
            <a:ext cx="2962656" cy="621792"/>
          </a:xfrm>
          <a:prstGeom prst="roundRect">
            <a:avLst>
              <a:gd name="adj" fmla="val 17647"/>
            </a:avLst>
          </a:prstGeom>
          <a:solidFill>
            <a:srgbClr val="FFFFFF"/>
          </a:solidFill>
          <a:ln w="12700">
            <a:solidFill>
              <a:srgbClr val="DDE7F0"/>
            </a:solidFill>
            <a:prstDash val="solid"/>
          </a:ln>
        </p:spPr>
        <p:txBody>
          <a:bodyPr/>
          <a:lstStyle/>
          <a:p>
            <a:endParaRPr lang="en-US"/>
          </a:p>
        </p:txBody>
      </p:sp>
      <p:sp>
        <p:nvSpPr>
          <p:cNvPr id="52" name="Text 48"/>
          <p:cNvSpPr/>
          <p:nvPr/>
        </p:nvSpPr>
        <p:spPr>
          <a:xfrm>
            <a:off x="8613648" y="4581144"/>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Events and lifelong learning</a:t>
            </a:r>
            <a:endParaRPr lang="en-US" sz="1200" dirty="0"/>
          </a:p>
        </p:txBody>
      </p:sp>
      <p:sp>
        <p:nvSpPr>
          <p:cNvPr id="53" name="Text 49"/>
          <p:cNvSpPr/>
          <p:nvPr/>
        </p:nvSpPr>
        <p:spPr>
          <a:xfrm>
            <a:off x="8613648" y="4773168"/>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Classes, arts and social clubs</a:t>
            </a:r>
            <a:endParaRPr lang="en-US" sz="950" dirty="0"/>
          </a:p>
        </p:txBody>
      </p:sp>
      <p:sp>
        <p:nvSpPr>
          <p:cNvPr id="54" name="Shape 50"/>
          <p:cNvSpPr/>
          <p:nvPr/>
        </p:nvSpPr>
        <p:spPr>
          <a:xfrm>
            <a:off x="10789920" y="4581144"/>
            <a:ext cx="548640" cy="256032"/>
          </a:xfrm>
          <a:prstGeom prst="roundRect">
            <a:avLst>
              <a:gd name="adj" fmla="val 53571"/>
            </a:avLst>
          </a:prstGeom>
          <a:solidFill>
            <a:srgbClr val="057BEE"/>
          </a:solidFill>
          <a:ln w="12700">
            <a:solidFill>
              <a:srgbClr val="057BEE">
                <a:alpha val="0"/>
              </a:srgbClr>
            </a:solidFill>
            <a:prstDash val="solid"/>
          </a:ln>
        </p:spPr>
        <p:txBody>
          <a:bodyPr/>
          <a:lstStyle/>
          <a:p>
            <a:endParaRPr lang="en-US"/>
          </a:p>
        </p:txBody>
      </p:sp>
      <p:sp>
        <p:nvSpPr>
          <p:cNvPr id="55" name="Text 51"/>
          <p:cNvSpPr/>
          <p:nvPr/>
        </p:nvSpPr>
        <p:spPr>
          <a:xfrm>
            <a:off x="10808208" y="4599432"/>
            <a:ext cx="493776" cy="18288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Lato Heavy" pitchFamily="34" charset="0"/>
                <a:ea typeface="Lato Heavy" pitchFamily="34" charset="-122"/>
                <a:cs typeface="Lato Heavy" pitchFamily="34" charset="-120"/>
              </a:rPr>
              <a:t>View</a:t>
            </a:r>
            <a:endParaRPr lang="en-US" sz="900" dirty="0"/>
          </a:p>
        </p:txBody>
      </p:sp>
      <p:sp>
        <p:nvSpPr>
          <p:cNvPr id="56" name="Shape 52"/>
          <p:cNvSpPr/>
          <p:nvPr/>
        </p:nvSpPr>
        <p:spPr>
          <a:xfrm>
            <a:off x="8485632" y="5184648"/>
            <a:ext cx="2962656" cy="621792"/>
          </a:xfrm>
          <a:prstGeom prst="roundRect">
            <a:avLst>
              <a:gd name="adj" fmla="val 17647"/>
            </a:avLst>
          </a:prstGeom>
          <a:solidFill>
            <a:srgbClr val="FFFFFF"/>
          </a:solidFill>
          <a:ln w="12700">
            <a:solidFill>
              <a:srgbClr val="DDE7F0"/>
            </a:solidFill>
            <a:prstDash val="solid"/>
          </a:ln>
        </p:spPr>
        <p:txBody>
          <a:bodyPr/>
          <a:lstStyle/>
          <a:p>
            <a:endParaRPr lang="en-US"/>
          </a:p>
        </p:txBody>
      </p:sp>
      <p:sp>
        <p:nvSpPr>
          <p:cNvPr id="57" name="Text 53"/>
          <p:cNvSpPr/>
          <p:nvPr/>
        </p:nvSpPr>
        <p:spPr>
          <a:xfrm>
            <a:off x="8613648" y="5294376"/>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Helpful documents</a:t>
            </a:r>
            <a:endParaRPr lang="en-US" sz="1200" dirty="0"/>
          </a:p>
        </p:txBody>
      </p:sp>
      <p:sp>
        <p:nvSpPr>
          <p:cNvPr id="58" name="Text 54"/>
          <p:cNvSpPr/>
          <p:nvPr/>
        </p:nvSpPr>
        <p:spPr>
          <a:xfrm>
            <a:off x="8613648" y="5486400"/>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Resources in one place</a:t>
            </a:r>
            <a:endParaRPr lang="en-US" sz="950" dirty="0"/>
          </a:p>
        </p:txBody>
      </p:sp>
      <p:sp>
        <p:nvSpPr>
          <p:cNvPr id="59" name="Shape 55"/>
          <p:cNvSpPr/>
          <p:nvPr/>
        </p:nvSpPr>
        <p:spPr>
          <a:xfrm>
            <a:off x="10789920" y="5294376"/>
            <a:ext cx="548640" cy="256032"/>
          </a:xfrm>
          <a:prstGeom prst="roundRect">
            <a:avLst>
              <a:gd name="adj" fmla="val 53571"/>
            </a:avLst>
          </a:prstGeom>
          <a:solidFill>
            <a:srgbClr val="057BEE"/>
          </a:solidFill>
          <a:ln w="12700">
            <a:solidFill>
              <a:srgbClr val="057BEE">
                <a:alpha val="0"/>
              </a:srgbClr>
            </a:solidFill>
            <a:prstDash val="solid"/>
          </a:ln>
        </p:spPr>
        <p:txBody>
          <a:bodyPr/>
          <a:lstStyle/>
          <a:p>
            <a:endParaRPr lang="en-US"/>
          </a:p>
        </p:txBody>
      </p:sp>
      <p:sp>
        <p:nvSpPr>
          <p:cNvPr id="60" name="Text 56"/>
          <p:cNvSpPr/>
          <p:nvPr/>
        </p:nvSpPr>
        <p:spPr>
          <a:xfrm>
            <a:off x="10808208" y="5312664"/>
            <a:ext cx="493776" cy="182880"/>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Lato Heavy" pitchFamily="34" charset="0"/>
                <a:ea typeface="Lato Heavy" pitchFamily="34" charset="-122"/>
                <a:cs typeface="Lato Heavy" pitchFamily="34" charset="-120"/>
              </a:rPr>
              <a:t>View</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722376" y="886968"/>
            <a:ext cx="6583680" cy="246888"/>
          </a:xfrm>
          <a:prstGeom prst="rect">
            <a:avLst/>
          </a:prstGeom>
          <a:noFill/>
          <a:ln/>
        </p:spPr>
        <p:txBody>
          <a:bodyPr wrap="square" lIns="0" tIns="0" rIns="0" bIns="0" rtlCol="0" anchor="ctr">
            <a:normAutofit/>
          </a:bodyPr>
          <a:lstStyle/>
          <a:p>
            <a:pPr marL="0" indent="0">
              <a:buNone/>
            </a:pPr>
            <a:r>
              <a:rPr lang="en-US" sz="1200" b="1" kern="0" spc="70" dirty="0">
                <a:solidFill>
                  <a:srgbClr val="127A91"/>
                </a:solidFill>
                <a:latin typeface="Lato Heavy" pitchFamily="34" charset="0"/>
                <a:ea typeface="Lato Heavy" pitchFamily="34" charset="-122"/>
                <a:cs typeface="Lato Heavy" pitchFamily="34" charset="-120"/>
              </a:rPr>
              <a:t>BARNABY  /  SHOP</a:t>
            </a:r>
            <a:endParaRPr lang="en-US" sz="1200" dirty="0"/>
          </a:p>
        </p:txBody>
      </p:sp>
      <p:sp>
        <p:nvSpPr>
          <p:cNvPr id="6" name="Text 3"/>
          <p:cNvSpPr/>
          <p:nvPr/>
        </p:nvSpPr>
        <p:spPr>
          <a:xfrm>
            <a:off x="713232" y="1179576"/>
            <a:ext cx="7315200" cy="630936"/>
          </a:xfrm>
          <a:prstGeom prst="rect">
            <a:avLst/>
          </a:prstGeom>
          <a:noFill/>
          <a:ln/>
        </p:spPr>
        <p:txBody>
          <a:bodyPr wrap="square" lIns="0" tIns="0" rIns="0" bIns="0" rtlCol="0" anchor="ctr">
            <a:normAutofit/>
          </a:bodyPr>
          <a:lstStyle/>
          <a:p>
            <a:pPr marL="0" indent="0">
              <a:buNone/>
            </a:pPr>
            <a:r>
              <a:rPr lang="en-US" sz="3400" b="1" dirty="0">
                <a:solidFill>
                  <a:srgbClr val="082B4E"/>
                </a:solidFill>
                <a:latin typeface="Lato Heavy" pitchFamily="34" charset="0"/>
                <a:ea typeface="Lato Heavy" pitchFamily="34" charset="-122"/>
                <a:cs typeface="Lato Heavy" pitchFamily="34" charset="-120"/>
              </a:rPr>
              <a:t>COMMUNITY MERCHANDISE</a:t>
            </a:r>
            <a:endParaRPr lang="en-US" sz="3400" dirty="0"/>
          </a:p>
        </p:txBody>
      </p:sp>
      <p:sp>
        <p:nvSpPr>
          <p:cNvPr id="7" name="Text 4"/>
          <p:cNvSpPr/>
          <p:nvPr/>
        </p:nvSpPr>
        <p:spPr>
          <a:xfrm>
            <a:off x="731520" y="1856232"/>
            <a:ext cx="6858000" cy="448056"/>
          </a:xfrm>
          <a:prstGeom prst="rect">
            <a:avLst/>
          </a:prstGeom>
          <a:noFill/>
          <a:ln/>
        </p:spPr>
        <p:txBody>
          <a:bodyPr wrap="square" lIns="0" tIns="0" rIns="0" bIns="0" rtlCol="0" anchor="ctr">
            <a:normAutofit/>
          </a:bodyPr>
          <a:lstStyle/>
          <a:p>
            <a:pPr marL="0" indent="0">
              <a:buNone/>
            </a:pPr>
            <a:r>
              <a:rPr lang="en-US" sz="1950" dirty="0">
                <a:solidFill>
                  <a:srgbClr val="617B94"/>
                </a:solidFill>
                <a:latin typeface="Lato" pitchFamily="34" charset="0"/>
                <a:ea typeface="Lato" pitchFamily="34" charset="-122"/>
                <a:cs typeface="Lato" pitchFamily="34" charset="-120"/>
              </a:rPr>
              <a:t>A storefront for optional community products.</a:t>
            </a:r>
            <a:endParaRPr lang="en-US" sz="1950" dirty="0"/>
          </a:p>
        </p:txBody>
      </p:sp>
      <p:sp>
        <p:nvSpPr>
          <p:cNvPr id="8" name="Shape 5"/>
          <p:cNvSpPr/>
          <p:nvPr/>
        </p:nvSpPr>
        <p:spPr>
          <a:xfrm>
            <a:off x="713232" y="5385816"/>
            <a:ext cx="6638544" cy="822960"/>
          </a:xfrm>
          <a:prstGeom prst="roundRect">
            <a:avLst>
              <a:gd name="adj" fmla="val 16667"/>
            </a:avLst>
          </a:prstGeom>
          <a:solidFill>
            <a:srgbClr val="EAF5FF"/>
          </a:solidFill>
          <a:ln w="12700">
            <a:solidFill>
              <a:srgbClr val="CDE3F6"/>
            </a:solidFill>
            <a:prstDash val="solid"/>
          </a:ln>
        </p:spPr>
        <p:txBody>
          <a:bodyPr/>
          <a:lstStyle/>
          <a:p>
            <a:endParaRPr lang="en-US"/>
          </a:p>
        </p:txBody>
      </p:sp>
      <p:sp>
        <p:nvSpPr>
          <p:cNvPr id="9" name="Shape 6"/>
          <p:cNvSpPr/>
          <p:nvPr/>
        </p:nvSpPr>
        <p:spPr>
          <a:xfrm>
            <a:off x="914400" y="5623560"/>
            <a:ext cx="256032" cy="256032"/>
          </a:xfrm>
          <a:prstGeom prst="ellipse">
            <a:avLst/>
          </a:prstGeom>
          <a:solidFill>
            <a:srgbClr val="057BEE"/>
          </a:solidFill>
          <a:ln w="12700">
            <a:solidFill>
              <a:srgbClr val="057BEE">
                <a:alpha val="0"/>
              </a:srgbClr>
            </a:solidFill>
            <a:prstDash val="solid"/>
          </a:ln>
        </p:spPr>
        <p:txBody>
          <a:bodyPr/>
          <a:lstStyle/>
          <a:p>
            <a:endParaRPr lang="en-US"/>
          </a:p>
        </p:txBody>
      </p:sp>
      <p:sp>
        <p:nvSpPr>
          <p:cNvPr id="10" name="Text 7"/>
          <p:cNvSpPr/>
          <p:nvPr/>
        </p:nvSpPr>
        <p:spPr>
          <a:xfrm>
            <a:off x="958291" y="5623560"/>
            <a:ext cx="1828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Lato Heavy" pitchFamily="34" charset="0"/>
                <a:ea typeface="Lato Heavy" pitchFamily="34" charset="-122"/>
                <a:cs typeface="Lato Heavy" pitchFamily="34" charset="-120"/>
              </a:rPr>
              <a:t>→</a:t>
            </a:r>
            <a:endParaRPr lang="en-US" sz="1400" dirty="0"/>
          </a:p>
        </p:txBody>
      </p:sp>
      <p:sp>
        <p:nvSpPr>
          <p:cNvPr id="11" name="Text 8"/>
          <p:cNvSpPr/>
          <p:nvPr/>
        </p:nvSpPr>
        <p:spPr>
          <a:xfrm>
            <a:off x="1307592" y="5486400"/>
            <a:ext cx="5824728" cy="612648"/>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Optional merchandise and sponsorships can create added community value.</a:t>
            </a:r>
            <a:endParaRPr lang="en-US" sz="1850" dirty="0"/>
          </a:p>
        </p:txBody>
      </p:sp>
      <p:sp>
        <p:nvSpPr>
          <p:cNvPr id="12" name="Text 9"/>
          <p:cNvSpPr/>
          <p:nvPr/>
        </p:nvSpPr>
        <p:spPr>
          <a:xfrm>
            <a:off x="10652760" y="6464808"/>
            <a:ext cx="1051560" cy="182880"/>
          </a:xfrm>
          <a:prstGeom prst="rect">
            <a:avLst/>
          </a:prstGeom>
          <a:noFill/>
          <a:ln/>
        </p:spPr>
        <p:txBody>
          <a:bodyPr wrap="square" lIns="0" tIns="0" rIns="0" bIns="0" rtlCol="0" anchor="ctr">
            <a:normAutofit/>
          </a:bodyPr>
          <a:lstStyle/>
          <a:p>
            <a:pPr marL="0" indent="0" algn="r">
              <a:buNone/>
            </a:pPr>
            <a:r>
              <a:rPr lang="en-US" sz="1000" b="1" dirty="0">
                <a:solidFill>
                  <a:srgbClr val="617B94"/>
                </a:solidFill>
                <a:latin typeface="Lato Heavy" pitchFamily="34" charset="0"/>
                <a:ea typeface="Lato Heavy" pitchFamily="34" charset="-122"/>
                <a:cs typeface="Lato Heavy" pitchFamily="34" charset="-120"/>
              </a:rPr>
              <a:t>10  /  14</a:t>
            </a:r>
            <a:endParaRPr lang="en-US" sz="1000" dirty="0"/>
          </a:p>
        </p:txBody>
      </p:sp>
      <p:sp>
        <p:nvSpPr>
          <p:cNvPr id="13" name="Text 10"/>
          <p:cNvSpPr/>
          <p:nvPr/>
        </p:nvSpPr>
        <p:spPr>
          <a:xfrm>
            <a:off x="731520" y="6446520"/>
            <a:ext cx="9052560" cy="210312"/>
          </a:xfrm>
          <a:prstGeom prst="rect">
            <a:avLst/>
          </a:prstGeom>
          <a:noFill/>
          <a:ln/>
        </p:spPr>
        <p:txBody>
          <a:bodyPr wrap="square" lIns="0" tIns="0" rIns="0" bIns="0" rtlCol="0" anchor="ctr">
            <a:normAutofit/>
          </a:bodyPr>
          <a:lstStyle/>
          <a:p>
            <a:pPr marL="0" indent="0">
              <a:buNone/>
            </a:pPr>
            <a:r>
              <a:rPr lang="en-US" sz="940" dirty="0">
                <a:solidFill>
                  <a:srgbClr val="617B94"/>
                </a:solidFill>
                <a:latin typeface="Lato" pitchFamily="34" charset="0"/>
                <a:ea typeface="Lato" pitchFamily="34" charset="-122"/>
                <a:cs typeface="Lato" pitchFamily="34" charset="-120"/>
              </a:rPr>
              <a:t>ILLUSTRATIVE CONCEPT DEMO • ON TOP OF THE WORLD COMMUNITY HIGHLIGHTS • NOT OFFICIALLY AFFILIATED</a:t>
            </a:r>
            <a:endParaRPr lang="en-US" sz="940" dirty="0"/>
          </a:p>
        </p:txBody>
      </p:sp>
      <p:sp>
        <p:nvSpPr>
          <p:cNvPr id="14" name="Shape 11"/>
          <p:cNvSpPr/>
          <p:nvPr/>
        </p:nvSpPr>
        <p:spPr>
          <a:xfrm>
            <a:off x="731520" y="2468880"/>
            <a:ext cx="6601968" cy="2670048"/>
          </a:xfrm>
          <a:prstGeom prst="roundRect">
            <a:avLst>
              <a:gd name="adj" fmla="val 5137"/>
            </a:avLst>
          </a:prstGeom>
          <a:solidFill>
            <a:srgbClr val="FFFFFF"/>
          </a:solidFill>
          <a:ln w="12700">
            <a:solidFill>
              <a:srgbClr val="D7E4EF"/>
            </a:solidFill>
            <a:prstDash val="solid"/>
          </a:ln>
        </p:spPr>
        <p:txBody>
          <a:bodyPr/>
          <a:lstStyle/>
          <a:p>
            <a:endParaRPr lang="en-US"/>
          </a:p>
        </p:txBody>
      </p:sp>
      <p:sp>
        <p:nvSpPr>
          <p:cNvPr id="15" name="Text 12"/>
          <p:cNvSpPr/>
          <p:nvPr/>
        </p:nvSpPr>
        <p:spPr>
          <a:xfrm>
            <a:off x="932688" y="2633472"/>
            <a:ext cx="5422392" cy="256032"/>
          </a:xfrm>
          <a:prstGeom prst="rect">
            <a:avLst/>
          </a:prstGeom>
          <a:noFill/>
          <a:ln/>
        </p:spPr>
        <p:txBody>
          <a:bodyPr wrap="square" lIns="0" tIns="0" rIns="0" bIns="0" rtlCol="0" anchor="ctr">
            <a:normAutofit fontScale="92500" lnSpcReduction="20000"/>
          </a:bodyPr>
          <a:lstStyle/>
          <a:p>
            <a:pPr marL="0" indent="0">
              <a:buNone/>
            </a:pPr>
            <a:r>
              <a:rPr lang="en-US" sz="2000" b="1" dirty="0">
                <a:solidFill>
                  <a:srgbClr val="082B4E"/>
                </a:solidFill>
                <a:latin typeface="Lato Heavy" pitchFamily="34" charset="0"/>
                <a:ea typeface="Lato Heavy" pitchFamily="34" charset="-122"/>
                <a:cs typeface="Lato Heavy" pitchFamily="34" charset="-120"/>
              </a:rPr>
              <a:t>Illustrative community apparel collection</a:t>
            </a:r>
            <a:endParaRPr lang="en-US" sz="2000" dirty="0"/>
          </a:p>
        </p:txBody>
      </p:sp>
      <p:sp>
        <p:nvSpPr>
          <p:cNvPr id="17" name="Shape 14"/>
          <p:cNvSpPr/>
          <p:nvPr/>
        </p:nvSpPr>
        <p:spPr>
          <a:xfrm>
            <a:off x="950976" y="3163824"/>
            <a:ext cx="1700784" cy="1225296"/>
          </a:xfrm>
          <a:prstGeom prst="roundRect">
            <a:avLst>
              <a:gd name="adj" fmla="val 7463"/>
            </a:avLst>
          </a:prstGeom>
          <a:solidFill>
            <a:srgbClr val="F8FBFE"/>
          </a:solidFill>
          <a:ln w="12700">
            <a:solidFill>
              <a:srgbClr val="D8E5F1"/>
            </a:solidFill>
            <a:prstDash val="solid"/>
          </a:ln>
        </p:spPr>
        <p:txBody>
          <a:bodyPr/>
          <a:lstStyle/>
          <a:p>
            <a:endParaRPr lang="en-US"/>
          </a:p>
        </p:txBody>
      </p:sp>
      <p:pic>
        <p:nvPicPr>
          <p:cNvPr id="18" name="Image 1" descr="/mnt/data/light_blue_polo_with_embroidered_logo.png"/>
          <p:cNvPicPr>
            <a:picLocks noChangeAspect="1"/>
          </p:cNvPicPr>
          <p:nvPr/>
        </p:nvPicPr>
        <p:blipFill>
          <a:blip r:embed="rId4"/>
          <a:stretch>
            <a:fillRect/>
          </a:stretch>
        </p:blipFill>
        <p:spPr>
          <a:xfrm>
            <a:off x="1507747" y="3310128"/>
            <a:ext cx="715258" cy="630936"/>
          </a:xfrm>
          <a:prstGeom prst="rect">
            <a:avLst/>
          </a:prstGeom>
        </p:spPr>
      </p:pic>
      <p:sp>
        <p:nvSpPr>
          <p:cNvPr id="19" name="Text 15"/>
          <p:cNvSpPr/>
          <p:nvPr/>
        </p:nvSpPr>
        <p:spPr>
          <a:xfrm>
            <a:off x="1014984" y="4096512"/>
            <a:ext cx="1572768" cy="137160"/>
          </a:xfrm>
          <a:prstGeom prst="rect">
            <a:avLst/>
          </a:prstGeom>
          <a:noFill/>
          <a:ln/>
        </p:spPr>
        <p:txBody>
          <a:bodyPr wrap="square" lIns="0" tIns="0" rIns="0" bIns="0" rtlCol="0" anchor="ctr">
            <a:normAutofit/>
          </a:bodyPr>
          <a:lstStyle/>
          <a:p>
            <a:pPr marL="0" indent="0" algn="ctr">
              <a:buNone/>
            </a:pPr>
            <a:r>
              <a:rPr lang="en-US" sz="1050" b="1" dirty="0">
                <a:solidFill>
                  <a:srgbClr val="082B4E"/>
                </a:solidFill>
                <a:latin typeface="Lato Heavy" pitchFamily="34" charset="0"/>
                <a:ea typeface="Lato Heavy" pitchFamily="34" charset="-122"/>
                <a:cs typeface="Lato Heavy" pitchFamily="34" charset="-120"/>
              </a:rPr>
              <a:t>Performance polo</a:t>
            </a:r>
            <a:endParaRPr lang="en-US" sz="1050" dirty="0"/>
          </a:p>
        </p:txBody>
      </p:sp>
      <p:sp>
        <p:nvSpPr>
          <p:cNvPr id="20" name="Shape 16"/>
          <p:cNvSpPr/>
          <p:nvPr/>
        </p:nvSpPr>
        <p:spPr>
          <a:xfrm>
            <a:off x="2834640" y="3163824"/>
            <a:ext cx="1700784" cy="1225296"/>
          </a:xfrm>
          <a:prstGeom prst="roundRect">
            <a:avLst>
              <a:gd name="adj" fmla="val 7463"/>
            </a:avLst>
          </a:prstGeom>
          <a:solidFill>
            <a:srgbClr val="F8FBFE"/>
          </a:solidFill>
          <a:ln w="12700">
            <a:solidFill>
              <a:srgbClr val="D8E5F1"/>
            </a:solidFill>
            <a:prstDash val="solid"/>
          </a:ln>
        </p:spPr>
        <p:txBody>
          <a:bodyPr/>
          <a:lstStyle/>
          <a:p>
            <a:endParaRPr lang="en-US"/>
          </a:p>
        </p:txBody>
      </p:sp>
      <p:pic>
        <p:nvPicPr>
          <p:cNvPr id="21" name="Image 2" descr="/mnt/data/navy_hoodie_with_sunrise_embroidery.png"/>
          <p:cNvPicPr>
            <a:picLocks noChangeAspect="1"/>
          </p:cNvPicPr>
          <p:nvPr/>
        </p:nvPicPr>
        <p:blipFill>
          <a:blip r:embed="rId5"/>
          <a:stretch>
            <a:fillRect/>
          </a:stretch>
        </p:blipFill>
        <p:spPr>
          <a:xfrm>
            <a:off x="3206096" y="3259836"/>
            <a:ext cx="884719" cy="804672"/>
          </a:xfrm>
          <a:prstGeom prst="rect">
            <a:avLst/>
          </a:prstGeom>
        </p:spPr>
      </p:pic>
      <p:sp>
        <p:nvSpPr>
          <p:cNvPr id="22" name="Text 17"/>
          <p:cNvSpPr/>
          <p:nvPr/>
        </p:nvSpPr>
        <p:spPr>
          <a:xfrm>
            <a:off x="2898648" y="4096512"/>
            <a:ext cx="1572768" cy="137160"/>
          </a:xfrm>
          <a:prstGeom prst="rect">
            <a:avLst/>
          </a:prstGeom>
          <a:noFill/>
          <a:ln/>
        </p:spPr>
        <p:txBody>
          <a:bodyPr wrap="square" lIns="0" tIns="0" rIns="0" bIns="0" rtlCol="0" anchor="ctr">
            <a:normAutofit/>
          </a:bodyPr>
          <a:lstStyle/>
          <a:p>
            <a:pPr marL="0" indent="0" algn="ctr">
              <a:buNone/>
            </a:pPr>
            <a:r>
              <a:rPr lang="en-US" sz="1050" b="1" dirty="0">
                <a:solidFill>
                  <a:srgbClr val="082B4E"/>
                </a:solidFill>
                <a:latin typeface="Lato Heavy" pitchFamily="34" charset="0"/>
                <a:ea typeface="Lato Heavy" pitchFamily="34" charset="-122"/>
                <a:cs typeface="Lato Heavy" pitchFamily="34" charset="-120"/>
              </a:rPr>
              <a:t>Signature hoodie</a:t>
            </a:r>
            <a:endParaRPr lang="en-US" sz="1050" dirty="0"/>
          </a:p>
        </p:txBody>
      </p:sp>
      <p:sp>
        <p:nvSpPr>
          <p:cNvPr id="23" name="Shape 18"/>
          <p:cNvSpPr/>
          <p:nvPr/>
        </p:nvSpPr>
        <p:spPr>
          <a:xfrm>
            <a:off x="4718304" y="3163824"/>
            <a:ext cx="1700784" cy="1225296"/>
          </a:xfrm>
          <a:prstGeom prst="roundRect">
            <a:avLst>
              <a:gd name="adj" fmla="val 7463"/>
            </a:avLst>
          </a:prstGeom>
          <a:solidFill>
            <a:srgbClr val="F8FBFE"/>
          </a:solidFill>
          <a:ln w="12700">
            <a:solidFill>
              <a:srgbClr val="D8E5F1"/>
            </a:solidFill>
            <a:prstDash val="solid"/>
          </a:ln>
        </p:spPr>
        <p:txBody>
          <a:bodyPr/>
          <a:lstStyle/>
          <a:p>
            <a:endParaRPr lang="en-US"/>
          </a:p>
        </p:txBody>
      </p:sp>
      <p:pic>
        <p:nvPicPr>
          <p:cNvPr id="24" name="Image 3" descr="/mnt/data/ivory_quarter_zip_pullover_with_sun_logo.png"/>
          <p:cNvPicPr>
            <a:picLocks noChangeAspect="1"/>
          </p:cNvPicPr>
          <p:nvPr/>
        </p:nvPicPr>
        <p:blipFill>
          <a:blip r:embed="rId6"/>
          <a:stretch>
            <a:fillRect/>
          </a:stretch>
        </p:blipFill>
        <p:spPr>
          <a:xfrm>
            <a:off x="5055582" y="3227832"/>
            <a:ext cx="934787" cy="804672"/>
          </a:xfrm>
          <a:prstGeom prst="rect">
            <a:avLst/>
          </a:prstGeom>
        </p:spPr>
      </p:pic>
      <p:sp>
        <p:nvSpPr>
          <p:cNvPr id="25" name="Text 19"/>
          <p:cNvSpPr/>
          <p:nvPr/>
        </p:nvSpPr>
        <p:spPr>
          <a:xfrm>
            <a:off x="4782312" y="4096512"/>
            <a:ext cx="1572768" cy="137160"/>
          </a:xfrm>
          <a:prstGeom prst="rect">
            <a:avLst/>
          </a:prstGeom>
          <a:noFill/>
          <a:ln/>
        </p:spPr>
        <p:txBody>
          <a:bodyPr wrap="square" lIns="0" tIns="0" rIns="0" bIns="0" rtlCol="0" anchor="ctr">
            <a:normAutofit/>
          </a:bodyPr>
          <a:lstStyle/>
          <a:p>
            <a:pPr marL="0" indent="0" algn="ctr">
              <a:buNone/>
            </a:pPr>
            <a:r>
              <a:rPr lang="en-US" sz="1050" b="1" dirty="0">
                <a:solidFill>
                  <a:srgbClr val="082B4E"/>
                </a:solidFill>
                <a:latin typeface="Lato Heavy" pitchFamily="34" charset="0"/>
                <a:ea typeface="Lato Heavy" pitchFamily="34" charset="-122"/>
                <a:cs typeface="Lato Heavy" pitchFamily="34" charset="-120"/>
              </a:rPr>
              <a:t>Quarter-zip pullover</a:t>
            </a:r>
            <a:endParaRPr lang="en-US" sz="1050" dirty="0"/>
          </a:p>
        </p:txBody>
      </p:sp>
      <p:sp>
        <p:nvSpPr>
          <p:cNvPr id="26" name="Shape 20"/>
          <p:cNvSpPr/>
          <p:nvPr/>
        </p:nvSpPr>
        <p:spPr>
          <a:xfrm>
            <a:off x="6492240" y="3163824"/>
            <a:ext cx="786384" cy="1225296"/>
          </a:xfrm>
          <a:prstGeom prst="roundRect">
            <a:avLst>
              <a:gd name="adj" fmla="val 11628"/>
            </a:avLst>
          </a:prstGeom>
          <a:solidFill>
            <a:srgbClr val="F8FBFE"/>
          </a:solidFill>
          <a:ln w="12700">
            <a:solidFill>
              <a:srgbClr val="D8E5F1"/>
            </a:solidFill>
            <a:prstDash val="solid"/>
          </a:ln>
        </p:spPr>
        <p:txBody>
          <a:bodyPr/>
          <a:lstStyle/>
          <a:p>
            <a:endParaRPr lang="en-US"/>
          </a:p>
        </p:txBody>
      </p:sp>
      <p:pic>
        <p:nvPicPr>
          <p:cNvPr id="27" name="Image 4" descr="/mnt/data/light_blue_on_top_of_the_world_cap.png"/>
          <p:cNvPicPr>
            <a:picLocks noChangeAspect="1"/>
          </p:cNvPicPr>
          <p:nvPr/>
        </p:nvPicPr>
        <p:blipFill>
          <a:blip r:embed="rId7"/>
          <a:stretch>
            <a:fillRect/>
          </a:stretch>
        </p:blipFill>
        <p:spPr>
          <a:xfrm>
            <a:off x="6611562" y="3310128"/>
            <a:ext cx="520758" cy="512064"/>
          </a:xfrm>
          <a:prstGeom prst="rect">
            <a:avLst/>
          </a:prstGeom>
        </p:spPr>
      </p:pic>
      <p:sp>
        <p:nvSpPr>
          <p:cNvPr id="28" name="Text 21"/>
          <p:cNvSpPr/>
          <p:nvPr/>
        </p:nvSpPr>
        <p:spPr>
          <a:xfrm>
            <a:off x="6547104" y="3858768"/>
            <a:ext cx="676656" cy="109728"/>
          </a:xfrm>
          <a:prstGeom prst="rect">
            <a:avLst/>
          </a:prstGeom>
          <a:noFill/>
          <a:ln/>
        </p:spPr>
        <p:txBody>
          <a:bodyPr wrap="square" lIns="0" tIns="0" rIns="0" bIns="0" rtlCol="0" anchor="ctr">
            <a:normAutofit/>
          </a:bodyPr>
          <a:lstStyle/>
          <a:p>
            <a:pPr marL="0" indent="0" algn="ctr">
              <a:buNone/>
            </a:pPr>
            <a:r>
              <a:rPr lang="en-US" sz="880" b="1" dirty="0">
                <a:solidFill>
                  <a:srgbClr val="082B4E"/>
                </a:solidFill>
                <a:latin typeface="Lato Heavy" pitchFamily="34" charset="0"/>
                <a:ea typeface="Lato Heavy" pitchFamily="34" charset="-122"/>
                <a:cs typeface="Lato Heavy" pitchFamily="34" charset="-120"/>
              </a:rPr>
              <a:t>Cap</a:t>
            </a:r>
            <a:endParaRPr lang="en-US" sz="880" dirty="0"/>
          </a:p>
        </p:txBody>
      </p:sp>
      <p:sp>
        <p:nvSpPr>
          <p:cNvPr id="29" name="Text 22"/>
          <p:cNvSpPr/>
          <p:nvPr/>
        </p:nvSpPr>
        <p:spPr>
          <a:xfrm>
            <a:off x="932688" y="4590288"/>
            <a:ext cx="5669280" cy="237744"/>
          </a:xfrm>
          <a:prstGeom prst="rect">
            <a:avLst/>
          </a:prstGeom>
          <a:noFill/>
          <a:ln/>
        </p:spPr>
        <p:txBody>
          <a:bodyPr wrap="square" lIns="0" tIns="0" rIns="0" bIns="0" rtlCol="0" anchor="ctr">
            <a:normAutofit/>
          </a:bodyPr>
          <a:lstStyle/>
          <a:p>
            <a:pPr marL="0" indent="0">
              <a:buNone/>
            </a:pPr>
            <a:r>
              <a:rPr lang="en-US" sz="1300" dirty="0">
                <a:solidFill>
                  <a:srgbClr val="142F4B"/>
                </a:solidFill>
                <a:latin typeface="Lato" pitchFamily="34" charset="0"/>
                <a:ea typeface="Lato" pitchFamily="34" charset="-122"/>
                <a:cs typeface="Lato" pitchFamily="34" charset="-120"/>
              </a:rPr>
              <a:t>• Community-branded merchandise  • Convenient product discovery  • An additional engagement opportunity</a:t>
            </a:r>
            <a:endParaRPr lang="en-US" sz="1300" dirty="0"/>
          </a:p>
        </p:txBody>
      </p:sp>
      <p:sp>
        <p:nvSpPr>
          <p:cNvPr id="30" name="Shape 23"/>
          <p:cNvSpPr/>
          <p:nvPr/>
        </p:nvSpPr>
        <p:spPr>
          <a:xfrm>
            <a:off x="8375904" y="886968"/>
            <a:ext cx="3328416" cy="5541264"/>
          </a:xfrm>
          <a:prstGeom prst="roundRect">
            <a:avLst>
              <a:gd name="adj" fmla="val 4121"/>
            </a:avLst>
          </a:prstGeom>
          <a:solidFill>
            <a:srgbClr val="D7E0EA"/>
          </a:solidFill>
          <a:ln w="12700">
            <a:solidFill>
              <a:srgbClr val="D7E0EA">
                <a:alpha val="0"/>
              </a:srgbClr>
            </a:solidFill>
            <a:prstDash val="solid"/>
          </a:ln>
        </p:spPr>
        <p:txBody>
          <a:bodyPr/>
          <a:lstStyle/>
          <a:p>
            <a:endParaRPr lang="en-US"/>
          </a:p>
        </p:txBody>
      </p:sp>
      <p:sp>
        <p:nvSpPr>
          <p:cNvPr id="31" name="Shape 24"/>
          <p:cNvSpPr/>
          <p:nvPr/>
        </p:nvSpPr>
        <p:spPr>
          <a:xfrm>
            <a:off x="8302752" y="795528"/>
            <a:ext cx="3328416" cy="5541264"/>
          </a:xfrm>
          <a:prstGeom prst="roundRect">
            <a:avLst>
              <a:gd name="adj" fmla="val 4121"/>
            </a:avLst>
          </a:prstGeom>
          <a:solidFill>
            <a:srgbClr val="071522"/>
          </a:solidFill>
          <a:ln w="12700">
            <a:solidFill>
              <a:srgbClr val="071522">
                <a:alpha val="0"/>
              </a:srgbClr>
            </a:solidFill>
            <a:prstDash val="solid"/>
          </a:ln>
        </p:spPr>
        <p:txBody>
          <a:bodyPr/>
          <a:lstStyle/>
          <a:p>
            <a:endParaRPr lang="en-US"/>
          </a:p>
        </p:txBody>
      </p:sp>
      <p:sp>
        <p:nvSpPr>
          <p:cNvPr id="32" name="Shape 25"/>
          <p:cNvSpPr/>
          <p:nvPr/>
        </p:nvSpPr>
        <p:spPr>
          <a:xfrm>
            <a:off x="8394192" y="886968"/>
            <a:ext cx="3145536" cy="5358384"/>
          </a:xfrm>
          <a:prstGeom prst="roundRect">
            <a:avLst>
              <a:gd name="adj" fmla="val 4360"/>
            </a:avLst>
          </a:prstGeom>
          <a:solidFill>
            <a:srgbClr val="FFFFFF"/>
          </a:solidFill>
          <a:ln w="12700">
            <a:solidFill>
              <a:srgbClr val="FFFFFF">
                <a:alpha val="0"/>
              </a:srgbClr>
            </a:solidFill>
            <a:prstDash val="solid"/>
          </a:ln>
        </p:spPr>
        <p:txBody>
          <a:bodyPr/>
          <a:lstStyle/>
          <a:p>
            <a:endParaRPr lang="en-US"/>
          </a:p>
        </p:txBody>
      </p:sp>
      <p:sp>
        <p:nvSpPr>
          <p:cNvPr id="33" name="Shape 26"/>
          <p:cNvSpPr/>
          <p:nvPr/>
        </p:nvSpPr>
        <p:spPr>
          <a:xfrm>
            <a:off x="9454896" y="850392"/>
            <a:ext cx="1014984" cy="173736"/>
          </a:xfrm>
          <a:prstGeom prst="roundRect">
            <a:avLst>
              <a:gd name="adj" fmla="val 78947"/>
            </a:avLst>
          </a:prstGeom>
          <a:solidFill>
            <a:srgbClr val="071522"/>
          </a:solidFill>
          <a:ln w="12700">
            <a:solidFill>
              <a:srgbClr val="071522">
                <a:alpha val="0"/>
              </a:srgbClr>
            </a:solidFill>
            <a:prstDash val="solid"/>
          </a:ln>
        </p:spPr>
        <p:txBody>
          <a:bodyPr/>
          <a:lstStyle/>
          <a:p>
            <a:endParaRPr lang="en-US"/>
          </a:p>
        </p:txBody>
      </p:sp>
      <p:sp>
        <p:nvSpPr>
          <p:cNvPr id="34" name="Text 27"/>
          <p:cNvSpPr/>
          <p:nvPr/>
        </p:nvSpPr>
        <p:spPr>
          <a:xfrm>
            <a:off x="8558784" y="978408"/>
            <a:ext cx="566928" cy="210312"/>
          </a:xfrm>
          <a:prstGeom prst="rect">
            <a:avLst/>
          </a:prstGeom>
          <a:noFill/>
          <a:ln/>
        </p:spPr>
        <p:txBody>
          <a:bodyPr wrap="square" lIns="0" tIns="0" rIns="0" bIns="0" rtlCol="0" anchor="ctr">
            <a:normAutofit/>
          </a:bodyPr>
          <a:lstStyle/>
          <a:p>
            <a:pPr marL="0" indent="0">
              <a:buNone/>
            </a:pPr>
            <a:r>
              <a:rPr lang="en-US" sz="1000" b="1" dirty="0">
                <a:solidFill>
                  <a:srgbClr val="2A4157"/>
                </a:solidFill>
                <a:latin typeface="Lato Heavy" pitchFamily="34" charset="0"/>
                <a:ea typeface="Lato Heavy" pitchFamily="34" charset="-122"/>
                <a:cs typeface="Lato Heavy" pitchFamily="34" charset="-120"/>
              </a:rPr>
              <a:t>9:41</a:t>
            </a:r>
            <a:endParaRPr lang="en-US" sz="1000" dirty="0"/>
          </a:p>
        </p:txBody>
      </p:sp>
      <p:sp>
        <p:nvSpPr>
          <p:cNvPr id="35" name="Text 28"/>
          <p:cNvSpPr/>
          <p:nvPr/>
        </p:nvSpPr>
        <p:spPr>
          <a:xfrm>
            <a:off x="10561320" y="978408"/>
            <a:ext cx="685800" cy="210312"/>
          </a:xfrm>
          <a:prstGeom prst="rect">
            <a:avLst/>
          </a:prstGeom>
          <a:noFill/>
          <a:ln/>
        </p:spPr>
        <p:txBody>
          <a:bodyPr wrap="square" lIns="0" tIns="0" rIns="0" bIns="0" rtlCol="0" anchor="ctr">
            <a:normAutofit/>
          </a:bodyPr>
          <a:lstStyle/>
          <a:p>
            <a:pPr marL="0" indent="0" algn="r">
              <a:buNone/>
            </a:pPr>
            <a:r>
              <a:rPr lang="en-US" sz="900" b="1" dirty="0">
                <a:solidFill>
                  <a:srgbClr val="2A4157"/>
                </a:solidFill>
                <a:latin typeface="Lato Heavy" pitchFamily="34" charset="0"/>
                <a:ea typeface="Lato Heavy" pitchFamily="34" charset="-122"/>
                <a:cs typeface="Lato Heavy" pitchFamily="34" charset="-120"/>
              </a:rPr>
              <a:t>▰  Wi-Fi</a:t>
            </a:r>
            <a:endParaRPr lang="en-US" sz="900" dirty="0"/>
          </a:p>
        </p:txBody>
      </p:sp>
      <p:sp>
        <p:nvSpPr>
          <p:cNvPr id="36" name="Text 29"/>
          <p:cNvSpPr/>
          <p:nvPr/>
        </p:nvSpPr>
        <p:spPr>
          <a:xfrm>
            <a:off x="8485632" y="1298448"/>
            <a:ext cx="2962656" cy="283464"/>
          </a:xfrm>
          <a:prstGeom prst="rect">
            <a:avLst/>
          </a:prstGeom>
          <a:noFill/>
          <a:ln/>
        </p:spPr>
        <p:txBody>
          <a:bodyPr wrap="square" lIns="0" tIns="0" rIns="0" bIns="0" rtlCol="0" anchor="ctr">
            <a:normAutofit/>
          </a:bodyPr>
          <a:lstStyle/>
          <a:p>
            <a:pPr marL="0" indent="0" algn="ctr">
              <a:buNone/>
            </a:pPr>
            <a:r>
              <a:rPr lang="en-US" sz="1370" b="1" dirty="0">
                <a:solidFill>
                  <a:srgbClr val="082B4E"/>
                </a:solidFill>
                <a:latin typeface="Lato Heavy" pitchFamily="34" charset="0"/>
                <a:ea typeface="Lato Heavy" pitchFamily="34" charset="-122"/>
                <a:cs typeface="Lato Heavy" pitchFamily="34" charset="-120"/>
              </a:rPr>
              <a:t>On Top of the World</a:t>
            </a:r>
            <a:endParaRPr lang="en-US" sz="1370" dirty="0"/>
          </a:p>
        </p:txBody>
      </p:sp>
      <p:pic>
        <p:nvPicPr>
          <p:cNvPr id="37" name="Image 5" descr="/mnt/data/barnaby_hd_work/otow_gradient.png"/>
          <p:cNvPicPr>
            <a:picLocks noChangeAspect="1"/>
          </p:cNvPicPr>
          <p:nvPr/>
        </p:nvPicPr>
        <p:blipFill>
          <a:blip r:embed="rId8"/>
          <a:stretch>
            <a:fillRect/>
          </a:stretch>
        </p:blipFill>
        <p:spPr>
          <a:xfrm>
            <a:off x="8403336" y="1691640"/>
            <a:ext cx="3127248" cy="804672"/>
          </a:xfrm>
          <a:prstGeom prst="rect">
            <a:avLst/>
          </a:prstGeom>
        </p:spPr>
      </p:pic>
      <p:sp>
        <p:nvSpPr>
          <p:cNvPr id="38" name="Text 30"/>
          <p:cNvSpPr/>
          <p:nvPr/>
        </p:nvSpPr>
        <p:spPr>
          <a:xfrm>
            <a:off x="8586216" y="1783080"/>
            <a:ext cx="274320" cy="27432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Lato Heavy" pitchFamily="34" charset="0"/>
                <a:ea typeface="Lato Heavy" pitchFamily="34" charset="-122"/>
                <a:cs typeface="Lato Heavy" pitchFamily="34" charset="-120"/>
              </a:rPr>
              <a:t>≡</a:t>
            </a:r>
            <a:endParaRPr lang="en-US" sz="1900" dirty="0"/>
          </a:p>
        </p:txBody>
      </p:sp>
      <p:sp>
        <p:nvSpPr>
          <p:cNvPr id="39" name="Text 31"/>
          <p:cNvSpPr/>
          <p:nvPr/>
        </p:nvSpPr>
        <p:spPr>
          <a:xfrm>
            <a:off x="9025128" y="1810512"/>
            <a:ext cx="1920240" cy="201168"/>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Lato Heavy" pitchFamily="34" charset="0"/>
                <a:ea typeface="Lato Heavy" pitchFamily="34" charset="-122"/>
                <a:cs typeface="Lato Heavy" pitchFamily="34" charset="-120"/>
              </a:rPr>
              <a:t>On Top of the World</a:t>
            </a:r>
            <a:endParaRPr lang="en-US" sz="1200" dirty="0"/>
          </a:p>
        </p:txBody>
      </p:sp>
      <p:sp>
        <p:nvSpPr>
          <p:cNvPr id="40" name="Text 32"/>
          <p:cNvSpPr/>
          <p:nvPr/>
        </p:nvSpPr>
        <p:spPr>
          <a:xfrm>
            <a:off x="8567928" y="2148840"/>
            <a:ext cx="2377440" cy="301752"/>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Lato Heavy" pitchFamily="34" charset="0"/>
                <a:ea typeface="Lato Heavy" pitchFamily="34" charset="-122"/>
                <a:cs typeface="Lato Heavy" pitchFamily="34" charset="-120"/>
              </a:rPr>
              <a:t>SHOP</a:t>
            </a:r>
            <a:endParaRPr lang="en-US" sz="1800" dirty="0"/>
          </a:p>
        </p:txBody>
      </p:sp>
      <p:sp>
        <p:nvSpPr>
          <p:cNvPr id="41" name="Shape 33"/>
          <p:cNvSpPr/>
          <p:nvPr/>
        </p:nvSpPr>
        <p:spPr>
          <a:xfrm>
            <a:off x="8449056" y="5705856"/>
            <a:ext cx="3035808" cy="420624"/>
          </a:xfrm>
          <a:prstGeom prst="roundRect">
            <a:avLst>
              <a:gd name="adj" fmla="val 32609"/>
            </a:avLst>
          </a:prstGeom>
          <a:solidFill>
            <a:srgbClr val="F8FBFE"/>
          </a:solidFill>
          <a:ln w="12700">
            <a:solidFill>
              <a:srgbClr val="F8FBFE">
                <a:alpha val="0"/>
              </a:srgbClr>
            </a:solidFill>
            <a:prstDash val="solid"/>
          </a:ln>
        </p:spPr>
        <p:txBody>
          <a:bodyPr/>
          <a:lstStyle/>
          <a:p>
            <a:endParaRPr lang="en-US"/>
          </a:p>
        </p:txBody>
      </p:sp>
      <p:sp>
        <p:nvSpPr>
          <p:cNvPr id="42" name="Text 34"/>
          <p:cNvSpPr/>
          <p:nvPr/>
        </p:nvSpPr>
        <p:spPr>
          <a:xfrm>
            <a:off x="8677656"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43" name="Text 35"/>
          <p:cNvSpPr/>
          <p:nvPr/>
        </p:nvSpPr>
        <p:spPr>
          <a:xfrm>
            <a:off x="8595360"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Home</a:t>
            </a:r>
            <a:endParaRPr lang="en-US" sz="820" dirty="0"/>
          </a:p>
        </p:txBody>
      </p:sp>
      <p:sp>
        <p:nvSpPr>
          <p:cNvPr id="44" name="Text 36"/>
          <p:cNvSpPr/>
          <p:nvPr/>
        </p:nvSpPr>
        <p:spPr>
          <a:xfrm>
            <a:off x="9372600"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45" name="Text 37"/>
          <p:cNvSpPr/>
          <p:nvPr/>
        </p:nvSpPr>
        <p:spPr>
          <a:xfrm>
            <a:off x="9290304"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Outings</a:t>
            </a:r>
            <a:endParaRPr lang="en-US" sz="820" dirty="0"/>
          </a:p>
        </p:txBody>
      </p:sp>
      <p:sp>
        <p:nvSpPr>
          <p:cNvPr id="46" name="Text 38"/>
          <p:cNvSpPr/>
          <p:nvPr/>
        </p:nvSpPr>
        <p:spPr>
          <a:xfrm>
            <a:off x="10067544"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47" name="Text 39"/>
          <p:cNvSpPr/>
          <p:nvPr/>
        </p:nvSpPr>
        <p:spPr>
          <a:xfrm>
            <a:off x="9985248"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Messages</a:t>
            </a:r>
            <a:endParaRPr lang="en-US" sz="820" dirty="0"/>
          </a:p>
        </p:txBody>
      </p:sp>
      <p:sp>
        <p:nvSpPr>
          <p:cNvPr id="48" name="Text 40"/>
          <p:cNvSpPr/>
          <p:nvPr/>
        </p:nvSpPr>
        <p:spPr>
          <a:xfrm>
            <a:off x="10762488"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49" name="Text 41"/>
          <p:cNvSpPr/>
          <p:nvPr/>
        </p:nvSpPr>
        <p:spPr>
          <a:xfrm>
            <a:off x="10680192"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More</a:t>
            </a:r>
            <a:endParaRPr lang="en-US" sz="820" dirty="0"/>
          </a:p>
        </p:txBody>
      </p:sp>
      <p:sp>
        <p:nvSpPr>
          <p:cNvPr id="50" name="Text 42"/>
          <p:cNvSpPr/>
          <p:nvPr/>
        </p:nvSpPr>
        <p:spPr>
          <a:xfrm>
            <a:off x="8485632" y="2587752"/>
            <a:ext cx="2962656" cy="338328"/>
          </a:xfrm>
          <a:prstGeom prst="rect">
            <a:avLst/>
          </a:prstGeom>
          <a:noFill/>
          <a:ln/>
        </p:spPr>
        <p:txBody>
          <a:bodyPr wrap="square" lIns="0" tIns="0" rIns="0" bIns="0" rtlCol="0" anchor="ctr">
            <a:normAutofit/>
          </a:bodyPr>
          <a:lstStyle/>
          <a:p>
            <a:pPr marL="0" indent="0">
              <a:buNone/>
            </a:pPr>
            <a:r>
              <a:rPr lang="en-US" sz="1700" b="1" dirty="0">
                <a:solidFill>
                  <a:srgbClr val="082B4E"/>
                </a:solidFill>
                <a:latin typeface="Lato Heavy" pitchFamily="34" charset="0"/>
                <a:ea typeface="Lato Heavy" pitchFamily="34" charset="-122"/>
                <a:cs typeface="Lato Heavy" pitchFamily="34" charset="-120"/>
              </a:rPr>
              <a:t>Community merchandise</a:t>
            </a:r>
            <a:endParaRPr lang="en-US" sz="1700" dirty="0"/>
          </a:p>
        </p:txBody>
      </p:sp>
      <p:sp>
        <p:nvSpPr>
          <p:cNvPr id="51" name="Text 43"/>
          <p:cNvSpPr/>
          <p:nvPr/>
        </p:nvSpPr>
        <p:spPr>
          <a:xfrm>
            <a:off x="8485632" y="2926080"/>
            <a:ext cx="2962656" cy="210312"/>
          </a:xfrm>
          <a:prstGeom prst="rect">
            <a:avLst/>
          </a:prstGeom>
          <a:noFill/>
          <a:ln/>
        </p:spPr>
        <p:txBody>
          <a:bodyPr wrap="square" lIns="0" tIns="0" rIns="0" bIns="0" rtlCol="0" anchor="ctr">
            <a:normAutofit/>
          </a:bodyPr>
          <a:lstStyle/>
          <a:p>
            <a:pPr marL="0" indent="0">
              <a:buNone/>
            </a:pPr>
            <a:r>
              <a:rPr lang="en-US" sz="1000" dirty="0">
                <a:solidFill>
                  <a:srgbClr val="617B94"/>
                </a:solidFill>
                <a:latin typeface="Lato" pitchFamily="34" charset="0"/>
                <a:ea typeface="Lato" pitchFamily="34" charset="-122"/>
                <a:cs typeface="Lato" pitchFamily="34" charset="-120"/>
              </a:rPr>
              <a:t>Optional community storefront</a:t>
            </a:r>
            <a:endParaRPr lang="en-US" sz="1000" dirty="0"/>
          </a:p>
        </p:txBody>
      </p:sp>
      <p:sp>
        <p:nvSpPr>
          <p:cNvPr id="52" name="Shape 44"/>
          <p:cNvSpPr/>
          <p:nvPr/>
        </p:nvSpPr>
        <p:spPr>
          <a:xfrm>
            <a:off x="8485632" y="3154680"/>
            <a:ext cx="2962656" cy="502920"/>
          </a:xfrm>
          <a:prstGeom prst="roundRect">
            <a:avLst>
              <a:gd name="adj" fmla="val 21818"/>
            </a:avLst>
          </a:prstGeom>
          <a:solidFill>
            <a:srgbClr val="FFFFFF"/>
          </a:solidFill>
          <a:ln w="12700">
            <a:solidFill>
              <a:srgbClr val="DDE7F0"/>
            </a:solidFill>
            <a:prstDash val="solid"/>
          </a:ln>
        </p:spPr>
        <p:txBody>
          <a:bodyPr/>
          <a:lstStyle/>
          <a:p>
            <a:endParaRPr lang="en-US"/>
          </a:p>
        </p:txBody>
      </p:sp>
      <p:sp>
        <p:nvSpPr>
          <p:cNvPr id="53" name="Shape 45"/>
          <p:cNvSpPr/>
          <p:nvPr/>
        </p:nvSpPr>
        <p:spPr>
          <a:xfrm>
            <a:off x="8577072" y="3246120"/>
            <a:ext cx="384048" cy="384048"/>
          </a:xfrm>
          <a:prstGeom prst="roundRect">
            <a:avLst>
              <a:gd name="adj" fmla="val 19048"/>
            </a:avLst>
          </a:prstGeom>
          <a:solidFill>
            <a:srgbClr val="F2F8FD"/>
          </a:solidFill>
          <a:ln w="12700">
            <a:solidFill>
              <a:srgbClr val="DCEAF6"/>
            </a:solidFill>
            <a:prstDash val="solid"/>
          </a:ln>
        </p:spPr>
        <p:txBody>
          <a:bodyPr/>
          <a:lstStyle/>
          <a:p>
            <a:endParaRPr lang="en-US"/>
          </a:p>
        </p:txBody>
      </p:sp>
      <p:pic>
        <p:nvPicPr>
          <p:cNvPr id="54" name="Image 6" descr="/mnt/data/light_blue_polo_with_embroidered_logo.png"/>
          <p:cNvPicPr>
            <a:picLocks noChangeAspect="1"/>
          </p:cNvPicPr>
          <p:nvPr/>
        </p:nvPicPr>
        <p:blipFill>
          <a:blip r:embed="rId4"/>
          <a:stretch>
            <a:fillRect/>
          </a:stretch>
        </p:blipFill>
        <p:spPr>
          <a:xfrm>
            <a:off x="8595360" y="3264408"/>
            <a:ext cx="347472" cy="292608"/>
          </a:xfrm>
          <a:prstGeom prst="rect">
            <a:avLst/>
          </a:prstGeom>
        </p:spPr>
      </p:pic>
      <p:sp>
        <p:nvSpPr>
          <p:cNvPr id="55" name="Text 46"/>
          <p:cNvSpPr/>
          <p:nvPr/>
        </p:nvSpPr>
        <p:spPr>
          <a:xfrm>
            <a:off x="9015984" y="3246120"/>
            <a:ext cx="2304288" cy="164592"/>
          </a:xfrm>
          <a:prstGeom prst="rect">
            <a:avLst/>
          </a:prstGeom>
          <a:noFill/>
          <a:ln/>
        </p:spPr>
        <p:txBody>
          <a:bodyPr wrap="square" lIns="0" tIns="0" rIns="0" bIns="0" rtlCol="0" anchor="ctr">
            <a:normAutofit/>
          </a:bodyPr>
          <a:lstStyle/>
          <a:p>
            <a:pPr marL="0" indent="0">
              <a:buNone/>
            </a:pPr>
            <a:r>
              <a:rPr lang="en-US" sz="1060" b="1" dirty="0">
                <a:solidFill>
                  <a:srgbClr val="082B4E"/>
                </a:solidFill>
                <a:latin typeface="Lato Heavy" pitchFamily="34" charset="0"/>
                <a:ea typeface="Lato Heavy" pitchFamily="34" charset="-122"/>
                <a:cs typeface="Lato Heavy" pitchFamily="34" charset="-120"/>
              </a:rPr>
              <a:t>Performance polo</a:t>
            </a:r>
            <a:endParaRPr lang="en-US" sz="1060" dirty="0"/>
          </a:p>
        </p:txBody>
      </p:sp>
      <p:sp>
        <p:nvSpPr>
          <p:cNvPr id="56" name="Text 47"/>
          <p:cNvSpPr/>
          <p:nvPr/>
        </p:nvSpPr>
        <p:spPr>
          <a:xfrm>
            <a:off x="9015984" y="3429000"/>
            <a:ext cx="2304288" cy="128016"/>
          </a:xfrm>
          <a:prstGeom prst="rect">
            <a:avLst/>
          </a:prstGeom>
          <a:noFill/>
          <a:ln/>
        </p:spPr>
        <p:txBody>
          <a:bodyPr wrap="square" lIns="0" tIns="0" rIns="0" bIns="0" rtlCol="0" anchor="ctr">
            <a:normAutofit/>
          </a:bodyPr>
          <a:lstStyle/>
          <a:p>
            <a:pPr marL="0" indent="0">
              <a:buNone/>
            </a:pPr>
            <a:r>
              <a:rPr lang="en-US" sz="880" dirty="0">
                <a:solidFill>
                  <a:srgbClr val="617B94"/>
                </a:solidFill>
                <a:latin typeface="Lato" pitchFamily="34" charset="0"/>
                <a:ea typeface="Lato" pitchFamily="34" charset="-122"/>
                <a:cs typeface="Lato" pitchFamily="34" charset="-120"/>
              </a:rPr>
              <a:t>OTOW logo apparel</a:t>
            </a:r>
            <a:endParaRPr lang="en-US" sz="880" dirty="0"/>
          </a:p>
        </p:txBody>
      </p:sp>
      <p:sp>
        <p:nvSpPr>
          <p:cNvPr id="57" name="Shape 48"/>
          <p:cNvSpPr/>
          <p:nvPr/>
        </p:nvSpPr>
        <p:spPr>
          <a:xfrm>
            <a:off x="8485632" y="3767328"/>
            <a:ext cx="2962656" cy="502920"/>
          </a:xfrm>
          <a:prstGeom prst="roundRect">
            <a:avLst>
              <a:gd name="adj" fmla="val 21818"/>
            </a:avLst>
          </a:prstGeom>
          <a:solidFill>
            <a:srgbClr val="FFFFFF"/>
          </a:solidFill>
          <a:ln w="12700">
            <a:solidFill>
              <a:srgbClr val="DDE7F0"/>
            </a:solidFill>
            <a:prstDash val="solid"/>
          </a:ln>
        </p:spPr>
        <p:txBody>
          <a:bodyPr/>
          <a:lstStyle/>
          <a:p>
            <a:endParaRPr lang="en-US"/>
          </a:p>
        </p:txBody>
      </p:sp>
      <p:sp>
        <p:nvSpPr>
          <p:cNvPr id="58" name="Shape 49"/>
          <p:cNvSpPr/>
          <p:nvPr/>
        </p:nvSpPr>
        <p:spPr>
          <a:xfrm>
            <a:off x="8577072" y="3858768"/>
            <a:ext cx="384048" cy="384048"/>
          </a:xfrm>
          <a:prstGeom prst="roundRect">
            <a:avLst>
              <a:gd name="adj" fmla="val 19048"/>
            </a:avLst>
          </a:prstGeom>
          <a:solidFill>
            <a:srgbClr val="F2F8FD"/>
          </a:solidFill>
          <a:ln w="12700">
            <a:solidFill>
              <a:srgbClr val="DCEAF6"/>
            </a:solidFill>
            <a:prstDash val="solid"/>
          </a:ln>
        </p:spPr>
        <p:txBody>
          <a:bodyPr/>
          <a:lstStyle/>
          <a:p>
            <a:endParaRPr lang="en-US"/>
          </a:p>
        </p:txBody>
      </p:sp>
      <p:pic>
        <p:nvPicPr>
          <p:cNvPr id="59" name="Image 7" descr="/mnt/data/navy_hoodie_with_sunrise_embroidery.png"/>
          <p:cNvPicPr>
            <a:picLocks noChangeAspect="1"/>
          </p:cNvPicPr>
          <p:nvPr/>
        </p:nvPicPr>
        <p:blipFill>
          <a:blip r:embed="rId5"/>
          <a:stretch>
            <a:fillRect/>
          </a:stretch>
        </p:blipFill>
        <p:spPr>
          <a:xfrm>
            <a:off x="8626711" y="3931920"/>
            <a:ext cx="297833" cy="273271"/>
          </a:xfrm>
          <a:prstGeom prst="rect">
            <a:avLst/>
          </a:prstGeom>
        </p:spPr>
      </p:pic>
      <p:sp>
        <p:nvSpPr>
          <p:cNvPr id="60" name="Text 50"/>
          <p:cNvSpPr/>
          <p:nvPr/>
        </p:nvSpPr>
        <p:spPr>
          <a:xfrm>
            <a:off x="9015984" y="3858768"/>
            <a:ext cx="2304288" cy="164592"/>
          </a:xfrm>
          <a:prstGeom prst="rect">
            <a:avLst/>
          </a:prstGeom>
          <a:noFill/>
          <a:ln/>
        </p:spPr>
        <p:txBody>
          <a:bodyPr wrap="square" lIns="0" tIns="0" rIns="0" bIns="0" rtlCol="0" anchor="ctr">
            <a:normAutofit/>
          </a:bodyPr>
          <a:lstStyle/>
          <a:p>
            <a:pPr marL="0" indent="0">
              <a:buNone/>
            </a:pPr>
            <a:r>
              <a:rPr lang="en-US" sz="1060" b="1" dirty="0">
                <a:solidFill>
                  <a:srgbClr val="082B4E"/>
                </a:solidFill>
                <a:latin typeface="Lato Heavy" pitchFamily="34" charset="0"/>
                <a:ea typeface="Lato Heavy" pitchFamily="34" charset="-122"/>
                <a:cs typeface="Lato Heavy" pitchFamily="34" charset="-120"/>
              </a:rPr>
              <a:t>Signature hoodie</a:t>
            </a:r>
            <a:endParaRPr lang="en-US" sz="1060" dirty="0"/>
          </a:p>
        </p:txBody>
      </p:sp>
      <p:sp>
        <p:nvSpPr>
          <p:cNvPr id="61" name="Text 51"/>
          <p:cNvSpPr/>
          <p:nvPr/>
        </p:nvSpPr>
        <p:spPr>
          <a:xfrm>
            <a:off x="9015984" y="4041648"/>
            <a:ext cx="2304288" cy="128016"/>
          </a:xfrm>
          <a:prstGeom prst="rect">
            <a:avLst/>
          </a:prstGeom>
          <a:noFill/>
          <a:ln/>
        </p:spPr>
        <p:txBody>
          <a:bodyPr wrap="square" lIns="0" tIns="0" rIns="0" bIns="0" rtlCol="0" anchor="ctr">
            <a:normAutofit/>
          </a:bodyPr>
          <a:lstStyle/>
          <a:p>
            <a:pPr marL="0" indent="0">
              <a:buNone/>
            </a:pPr>
            <a:r>
              <a:rPr lang="en-US" sz="880" dirty="0">
                <a:solidFill>
                  <a:srgbClr val="617B94"/>
                </a:solidFill>
                <a:latin typeface="Lato" pitchFamily="34" charset="0"/>
                <a:ea typeface="Lato" pitchFamily="34" charset="-122"/>
                <a:cs typeface="Lato" pitchFamily="34" charset="-120"/>
              </a:rPr>
              <a:t>Resident lifestyle wear</a:t>
            </a:r>
            <a:endParaRPr lang="en-US" sz="880" dirty="0"/>
          </a:p>
        </p:txBody>
      </p:sp>
      <p:sp>
        <p:nvSpPr>
          <p:cNvPr id="62" name="Shape 52"/>
          <p:cNvSpPr/>
          <p:nvPr/>
        </p:nvSpPr>
        <p:spPr>
          <a:xfrm>
            <a:off x="8485632" y="4379976"/>
            <a:ext cx="2962656" cy="502920"/>
          </a:xfrm>
          <a:prstGeom prst="roundRect">
            <a:avLst>
              <a:gd name="adj" fmla="val 21818"/>
            </a:avLst>
          </a:prstGeom>
          <a:solidFill>
            <a:srgbClr val="FFFFFF"/>
          </a:solidFill>
          <a:ln w="12700">
            <a:solidFill>
              <a:srgbClr val="DDE7F0"/>
            </a:solidFill>
            <a:prstDash val="solid"/>
          </a:ln>
        </p:spPr>
        <p:txBody>
          <a:bodyPr/>
          <a:lstStyle/>
          <a:p>
            <a:endParaRPr lang="en-US"/>
          </a:p>
        </p:txBody>
      </p:sp>
      <p:sp>
        <p:nvSpPr>
          <p:cNvPr id="63" name="Shape 53"/>
          <p:cNvSpPr/>
          <p:nvPr/>
        </p:nvSpPr>
        <p:spPr>
          <a:xfrm>
            <a:off x="8577072" y="4471416"/>
            <a:ext cx="384048" cy="384048"/>
          </a:xfrm>
          <a:prstGeom prst="roundRect">
            <a:avLst>
              <a:gd name="adj" fmla="val 19048"/>
            </a:avLst>
          </a:prstGeom>
          <a:solidFill>
            <a:srgbClr val="F2F8FD"/>
          </a:solidFill>
          <a:ln w="12700">
            <a:solidFill>
              <a:srgbClr val="DCEAF6"/>
            </a:solidFill>
            <a:prstDash val="solid"/>
          </a:ln>
        </p:spPr>
        <p:txBody>
          <a:bodyPr/>
          <a:lstStyle/>
          <a:p>
            <a:endParaRPr lang="en-US"/>
          </a:p>
        </p:txBody>
      </p:sp>
      <p:pic>
        <p:nvPicPr>
          <p:cNvPr id="64" name="Image 8" descr="/mnt/data/ivory_quarter_zip_pullover_with_sun_logo.png"/>
          <p:cNvPicPr>
            <a:picLocks noChangeAspect="1"/>
          </p:cNvPicPr>
          <p:nvPr/>
        </p:nvPicPr>
        <p:blipFill>
          <a:blip r:embed="rId6"/>
          <a:stretch>
            <a:fillRect/>
          </a:stretch>
        </p:blipFill>
        <p:spPr>
          <a:xfrm>
            <a:off x="8595360" y="4489704"/>
            <a:ext cx="347472" cy="292608"/>
          </a:xfrm>
          <a:prstGeom prst="rect">
            <a:avLst/>
          </a:prstGeom>
        </p:spPr>
      </p:pic>
      <p:sp>
        <p:nvSpPr>
          <p:cNvPr id="65" name="Text 54"/>
          <p:cNvSpPr/>
          <p:nvPr/>
        </p:nvSpPr>
        <p:spPr>
          <a:xfrm>
            <a:off x="9015984" y="4471416"/>
            <a:ext cx="2304288" cy="164592"/>
          </a:xfrm>
          <a:prstGeom prst="rect">
            <a:avLst/>
          </a:prstGeom>
          <a:noFill/>
          <a:ln/>
        </p:spPr>
        <p:txBody>
          <a:bodyPr wrap="square" lIns="0" tIns="0" rIns="0" bIns="0" rtlCol="0" anchor="ctr">
            <a:normAutofit/>
          </a:bodyPr>
          <a:lstStyle/>
          <a:p>
            <a:pPr marL="0" indent="0">
              <a:buNone/>
            </a:pPr>
            <a:r>
              <a:rPr lang="en-US" sz="1060" b="1" dirty="0">
                <a:solidFill>
                  <a:srgbClr val="082B4E"/>
                </a:solidFill>
                <a:latin typeface="Lato Heavy" pitchFamily="34" charset="0"/>
                <a:ea typeface="Lato Heavy" pitchFamily="34" charset="-122"/>
                <a:cs typeface="Lato Heavy" pitchFamily="34" charset="-120"/>
              </a:rPr>
              <a:t>Quarter-zip pullover</a:t>
            </a:r>
            <a:endParaRPr lang="en-US" sz="1060" dirty="0"/>
          </a:p>
        </p:txBody>
      </p:sp>
      <p:sp>
        <p:nvSpPr>
          <p:cNvPr id="66" name="Text 55"/>
          <p:cNvSpPr/>
          <p:nvPr/>
        </p:nvSpPr>
        <p:spPr>
          <a:xfrm>
            <a:off x="9015984" y="4654296"/>
            <a:ext cx="2304288" cy="128016"/>
          </a:xfrm>
          <a:prstGeom prst="rect">
            <a:avLst/>
          </a:prstGeom>
          <a:noFill/>
          <a:ln/>
        </p:spPr>
        <p:txBody>
          <a:bodyPr wrap="square" lIns="0" tIns="0" rIns="0" bIns="0" rtlCol="0" anchor="ctr">
            <a:normAutofit/>
          </a:bodyPr>
          <a:lstStyle/>
          <a:p>
            <a:pPr marL="0" indent="0">
              <a:buNone/>
            </a:pPr>
            <a:r>
              <a:rPr lang="en-US" sz="880" dirty="0">
                <a:solidFill>
                  <a:srgbClr val="617B94"/>
                </a:solidFill>
                <a:latin typeface="Lato" pitchFamily="34" charset="0"/>
                <a:ea typeface="Lato" pitchFamily="34" charset="-122"/>
                <a:cs typeface="Lato" pitchFamily="34" charset="-120"/>
              </a:rPr>
              <a:t>Golf and recreation apparel</a:t>
            </a:r>
            <a:endParaRPr lang="en-US" sz="880" dirty="0"/>
          </a:p>
        </p:txBody>
      </p:sp>
      <p:sp>
        <p:nvSpPr>
          <p:cNvPr id="67" name="Shape 56"/>
          <p:cNvSpPr/>
          <p:nvPr/>
        </p:nvSpPr>
        <p:spPr>
          <a:xfrm>
            <a:off x="8485632" y="4992624"/>
            <a:ext cx="2962656" cy="502920"/>
          </a:xfrm>
          <a:prstGeom prst="roundRect">
            <a:avLst>
              <a:gd name="adj" fmla="val 21818"/>
            </a:avLst>
          </a:prstGeom>
          <a:solidFill>
            <a:srgbClr val="FFFFFF"/>
          </a:solidFill>
          <a:ln w="12700">
            <a:solidFill>
              <a:srgbClr val="DDE7F0"/>
            </a:solidFill>
            <a:prstDash val="solid"/>
          </a:ln>
        </p:spPr>
        <p:txBody>
          <a:bodyPr/>
          <a:lstStyle/>
          <a:p>
            <a:endParaRPr lang="en-US"/>
          </a:p>
        </p:txBody>
      </p:sp>
      <p:sp>
        <p:nvSpPr>
          <p:cNvPr id="68" name="Shape 57"/>
          <p:cNvSpPr/>
          <p:nvPr/>
        </p:nvSpPr>
        <p:spPr>
          <a:xfrm>
            <a:off x="8577072" y="5084064"/>
            <a:ext cx="384048" cy="384048"/>
          </a:xfrm>
          <a:prstGeom prst="roundRect">
            <a:avLst>
              <a:gd name="adj" fmla="val 19048"/>
            </a:avLst>
          </a:prstGeom>
          <a:solidFill>
            <a:srgbClr val="F2F8FD"/>
          </a:solidFill>
          <a:ln w="12700">
            <a:solidFill>
              <a:srgbClr val="DCEAF6"/>
            </a:solidFill>
            <a:prstDash val="solid"/>
          </a:ln>
        </p:spPr>
        <p:txBody>
          <a:bodyPr/>
          <a:lstStyle/>
          <a:p>
            <a:endParaRPr lang="en-US"/>
          </a:p>
        </p:txBody>
      </p:sp>
      <p:pic>
        <p:nvPicPr>
          <p:cNvPr id="69" name="Image 9" descr="/mnt/data/light_blue_on_top_of_the_world_cap.png"/>
          <p:cNvPicPr>
            <a:picLocks noChangeAspect="1"/>
          </p:cNvPicPr>
          <p:nvPr/>
        </p:nvPicPr>
        <p:blipFill>
          <a:blip r:embed="rId7"/>
          <a:stretch>
            <a:fillRect/>
          </a:stretch>
        </p:blipFill>
        <p:spPr>
          <a:xfrm>
            <a:off x="8595360" y="5102352"/>
            <a:ext cx="347472" cy="320340"/>
          </a:xfrm>
          <a:prstGeom prst="rect">
            <a:avLst/>
          </a:prstGeom>
        </p:spPr>
      </p:pic>
      <p:sp>
        <p:nvSpPr>
          <p:cNvPr id="70" name="Text 58"/>
          <p:cNvSpPr/>
          <p:nvPr/>
        </p:nvSpPr>
        <p:spPr>
          <a:xfrm>
            <a:off x="9015984" y="5084064"/>
            <a:ext cx="2304288" cy="164592"/>
          </a:xfrm>
          <a:prstGeom prst="rect">
            <a:avLst/>
          </a:prstGeom>
          <a:noFill/>
          <a:ln/>
        </p:spPr>
        <p:txBody>
          <a:bodyPr wrap="square" lIns="0" tIns="0" rIns="0" bIns="0" rtlCol="0" anchor="ctr">
            <a:normAutofit/>
          </a:bodyPr>
          <a:lstStyle/>
          <a:p>
            <a:pPr marL="0" indent="0">
              <a:buNone/>
            </a:pPr>
            <a:r>
              <a:rPr lang="en-US" sz="1060" b="1" dirty="0">
                <a:solidFill>
                  <a:srgbClr val="082B4E"/>
                </a:solidFill>
                <a:latin typeface="Lato Heavy" pitchFamily="34" charset="0"/>
                <a:ea typeface="Lato Heavy" pitchFamily="34" charset="-122"/>
                <a:cs typeface="Lato Heavy" pitchFamily="34" charset="-120"/>
              </a:rPr>
              <a:t>Embroidered cap</a:t>
            </a:r>
            <a:endParaRPr lang="en-US" sz="1060" dirty="0"/>
          </a:p>
        </p:txBody>
      </p:sp>
      <p:sp>
        <p:nvSpPr>
          <p:cNvPr id="71" name="Text 59"/>
          <p:cNvSpPr/>
          <p:nvPr/>
        </p:nvSpPr>
        <p:spPr>
          <a:xfrm>
            <a:off x="9015984" y="5266944"/>
            <a:ext cx="2304288" cy="128016"/>
          </a:xfrm>
          <a:prstGeom prst="rect">
            <a:avLst/>
          </a:prstGeom>
          <a:noFill/>
          <a:ln/>
        </p:spPr>
        <p:txBody>
          <a:bodyPr wrap="square" lIns="0" tIns="0" rIns="0" bIns="0" rtlCol="0" anchor="ctr">
            <a:normAutofit/>
          </a:bodyPr>
          <a:lstStyle/>
          <a:p>
            <a:pPr marL="0" indent="0">
              <a:buNone/>
            </a:pPr>
            <a:r>
              <a:rPr lang="en-US" sz="880" dirty="0">
                <a:solidFill>
                  <a:srgbClr val="617B94"/>
                </a:solidFill>
                <a:latin typeface="Lato" pitchFamily="34" charset="0"/>
                <a:ea typeface="Lato" pitchFamily="34" charset="-122"/>
                <a:cs typeface="Lato" pitchFamily="34" charset="-120"/>
              </a:rPr>
              <a:t>Community-branded favorite</a:t>
            </a:r>
            <a:endParaRPr lang="en-US" sz="8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722376" y="886968"/>
            <a:ext cx="6583680" cy="246888"/>
          </a:xfrm>
          <a:prstGeom prst="rect">
            <a:avLst/>
          </a:prstGeom>
          <a:noFill/>
          <a:ln/>
        </p:spPr>
        <p:txBody>
          <a:bodyPr wrap="square" lIns="0" tIns="0" rIns="0" bIns="0" rtlCol="0" anchor="ctr">
            <a:normAutofit/>
          </a:bodyPr>
          <a:lstStyle/>
          <a:p>
            <a:pPr marL="0" indent="0">
              <a:buNone/>
            </a:pPr>
            <a:r>
              <a:rPr lang="en-US" sz="1200" b="1" kern="0" spc="70" dirty="0">
                <a:solidFill>
                  <a:srgbClr val="127A91"/>
                </a:solidFill>
                <a:latin typeface="Lato Heavy" pitchFamily="34" charset="0"/>
                <a:ea typeface="Lato Heavy" pitchFamily="34" charset="-122"/>
                <a:cs typeface="Lato Heavy" pitchFamily="34" charset="-120"/>
              </a:rPr>
              <a:t>BARNABY  /  SHOP</a:t>
            </a:r>
            <a:endParaRPr lang="en-US" sz="1200" dirty="0"/>
          </a:p>
        </p:txBody>
      </p:sp>
      <p:sp>
        <p:nvSpPr>
          <p:cNvPr id="6" name="Text 3"/>
          <p:cNvSpPr/>
          <p:nvPr/>
        </p:nvSpPr>
        <p:spPr>
          <a:xfrm>
            <a:off x="713232" y="1179576"/>
            <a:ext cx="7315200" cy="630936"/>
          </a:xfrm>
          <a:prstGeom prst="rect">
            <a:avLst/>
          </a:prstGeom>
          <a:noFill/>
          <a:ln/>
        </p:spPr>
        <p:txBody>
          <a:bodyPr wrap="square" lIns="0" tIns="0" rIns="0" bIns="0" rtlCol="0" anchor="ctr">
            <a:normAutofit/>
          </a:bodyPr>
          <a:lstStyle/>
          <a:p>
            <a:pPr marL="0" indent="0">
              <a:buNone/>
            </a:pPr>
            <a:r>
              <a:rPr lang="en-US" sz="3400" b="1" dirty="0">
                <a:solidFill>
                  <a:srgbClr val="082B4E"/>
                </a:solidFill>
                <a:latin typeface="Lato Heavy" pitchFamily="34" charset="0"/>
                <a:ea typeface="Lato Heavy" pitchFamily="34" charset="-122"/>
                <a:cs typeface="Lato Heavy" pitchFamily="34" charset="-120"/>
              </a:rPr>
              <a:t>MERCHANDISE SHOWCASE</a:t>
            </a:r>
            <a:endParaRPr lang="en-US" sz="3400" dirty="0"/>
          </a:p>
        </p:txBody>
      </p:sp>
      <p:sp>
        <p:nvSpPr>
          <p:cNvPr id="7" name="Text 4"/>
          <p:cNvSpPr/>
          <p:nvPr/>
        </p:nvSpPr>
        <p:spPr>
          <a:xfrm>
            <a:off x="731520" y="1856232"/>
            <a:ext cx="6858000" cy="448056"/>
          </a:xfrm>
          <a:prstGeom prst="rect">
            <a:avLst/>
          </a:prstGeom>
          <a:noFill/>
          <a:ln/>
        </p:spPr>
        <p:txBody>
          <a:bodyPr wrap="square" lIns="0" tIns="0" rIns="0" bIns="0" rtlCol="0" anchor="ctr">
            <a:normAutofit/>
          </a:bodyPr>
          <a:lstStyle/>
          <a:p>
            <a:pPr marL="0" indent="0">
              <a:buNone/>
            </a:pPr>
            <a:r>
              <a:rPr lang="en-US" sz="1950" dirty="0">
                <a:solidFill>
                  <a:srgbClr val="617B94"/>
                </a:solidFill>
                <a:latin typeface="Lato" pitchFamily="34" charset="0"/>
                <a:ea typeface="Lato" pitchFamily="34" charset="-122"/>
                <a:cs typeface="Lato" pitchFamily="34" charset="-120"/>
              </a:rPr>
              <a:t>A larger product view for presentations and board review.</a:t>
            </a:r>
            <a:endParaRPr lang="en-US" sz="1950" dirty="0"/>
          </a:p>
        </p:txBody>
      </p:sp>
      <p:sp>
        <p:nvSpPr>
          <p:cNvPr id="8" name="Shape 5"/>
          <p:cNvSpPr/>
          <p:nvPr/>
        </p:nvSpPr>
        <p:spPr>
          <a:xfrm>
            <a:off x="713232" y="5385816"/>
            <a:ext cx="6638544" cy="822960"/>
          </a:xfrm>
          <a:prstGeom prst="roundRect">
            <a:avLst>
              <a:gd name="adj" fmla="val 16667"/>
            </a:avLst>
          </a:prstGeom>
          <a:solidFill>
            <a:srgbClr val="EAF5FF"/>
          </a:solidFill>
          <a:ln w="12700">
            <a:solidFill>
              <a:srgbClr val="CDE3F6"/>
            </a:solidFill>
            <a:prstDash val="solid"/>
          </a:ln>
        </p:spPr>
        <p:txBody>
          <a:bodyPr/>
          <a:lstStyle/>
          <a:p>
            <a:endParaRPr lang="en-US"/>
          </a:p>
        </p:txBody>
      </p:sp>
      <p:sp>
        <p:nvSpPr>
          <p:cNvPr id="9" name="Shape 6"/>
          <p:cNvSpPr/>
          <p:nvPr/>
        </p:nvSpPr>
        <p:spPr>
          <a:xfrm>
            <a:off x="914400" y="5623560"/>
            <a:ext cx="256032" cy="256032"/>
          </a:xfrm>
          <a:prstGeom prst="ellipse">
            <a:avLst/>
          </a:prstGeom>
          <a:solidFill>
            <a:srgbClr val="057BEE"/>
          </a:solidFill>
          <a:ln w="12700">
            <a:solidFill>
              <a:srgbClr val="057BEE">
                <a:alpha val="0"/>
              </a:srgbClr>
            </a:solidFill>
            <a:prstDash val="solid"/>
          </a:ln>
        </p:spPr>
        <p:txBody>
          <a:bodyPr/>
          <a:lstStyle/>
          <a:p>
            <a:endParaRPr lang="en-US"/>
          </a:p>
        </p:txBody>
      </p:sp>
      <p:sp>
        <p:nvSpPr>
          <p:cNvPr id="10" name="Text 7"/>
          <p:cNvSpPr/>
          <p:nvPr/>
        </p:nvSpPr>
        <p:spPr>
          <a:xfrm>
            <a:off x="958291" y="5623560"/>
            <a:ext cx="1828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Lato Heavy" pitchFamily="34" charset="0"/>
                <a:ea typeface="Lato Heavy" pitchFamily="34" charset="-122"/>
                <a:cs typeface="Lato Heavy" pitchFamily="34" charset="-120"/>
              </a:rPr>
              <a:t>→</a:t>
            </a:r>
            <a:endParaRPr lang="en-US" sz="1400" dirty="0"/>
          </a:p>
        </p:txBody>
      </p:sp>
      <p:sp>
        <p:nvSpPr>
          <p:cNvPr id="11" name="Text 8"/>
          <p:cNvSpPr/>
          <p:nvPr/>
        </p:nvSpPr>
        <p:spPr>
          <a:xfrm>
            <a:off x="1307592" y="5486400"/>
            <a:ext cx="5824728" cy="612648"/>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Added revenue opportunities for merchandise sales</a:t>
            </a:r>
            <a:endParaRPr lang="en-US" sz="1850" dirty="0"/>
          </a:p>
        </p:txBody>
      </p:sp>
      <p:sp>
        <p:nvSpPr>
          <p:cNvPr id="12" name="Text 9"/>
          <p:cNvSpPr/>
          <p:nvPr/>
        </p:nvSpPr>
        <p:spPr>
          <a:xfrm>
            <a:off x="10652760" y="6464808"/>
            <a:ext cx="1051560" cy="182880"/>
          </a:xfrm>
          <a:prstGeom prst="rect">
            <a:avLst/>
          </a:prstGeom>
          <a:noFill/>
          <a:ln/>
        </p:spPr>
        <p:txBody>
          <a:bodyPr wrap="square" lIns="0" tIns="0" rIns="0" bIns="0" rtlCol="0" anchor="ctr">
            <a:normAutofit/>
          </a:bodyPr>
          <a:lstStyle/>
          <a:p>
            <a:pPr marL="0" indent="0" algn="r">
              <a:buNone/>
            </a:pPr>
            <a:r>
              <a:rPr lang="en-US" sz="1000" b="1" dirty="0">
                <a:solidFill>
                  <a:srgbClr val="617B94"/>
                </a:solidFill>
                <a:latin typeface="Lato Heavy" pitchFamily="34" charset="0"/>
                <a:ea typeface="Lato Heavy" pitchFamily="34" charset="-122"/>
                <a:cs typeface="Lato Heavy" pitchFamily="34" charset="-120"/>
              </a:rPr>
              <a:t>11  /  14</a:t>
            </a:r>
            <a:endParaRPr lang="en-US" sz="1000" dirty="0"/>
          </a:p>
        </p:txBody>
      </p:sp>
      <p:sp>
        <p:nvSpPr>
          <p:cNvPr id="13" name="Text 10"/>
          <p:cNvSpPr/>
          <p:nvPr/>
        </p:nvSpPr>
        <p:spPr>
          <a:xfrm>
            <a:off x="731520" y="6446520"/>
            <a:ext cx="9052560" cy="210312"/>
          </a:xfrm>
          <a:prstGeom prst="rect">
            <a:avLst/>
          </a:prstGeom>
          <a:noFill/>
          <a:ln/>
        </p:spPr>
        <p:txBody>
          <a:bodyPr wrap="square" lIns="0" tIns="0" rIns="0" bIns="0" rtlCol="0" anchor="ctr">
            <a:normAutofit/>
          </a:bodyPr>
          <a:lstStyle/>
          <a:p>
            <a:pPr marL="0" indent="0">
              <a:buNone/>
            </a:pPr>
            <a:r>
              <a:rPr lang="en-US" sz="940" dirty="0">
                <a:solidFill>
                  <a:srgbClr val="617B94"/>
                </a:solidFill>
                <a:latin typeface="Lato" pitchFamily="34" charset="0"/>
                <a:ea typeface="Lato" pitchFamily="34" charset="-122"/>
                <a:cs typeface="Lato" pitchFamily="34" charset="-120"/>
              </a:rPr>
              <a:t>ILLUSTRATIVE CONCEPT DEMO • ON TOP OF THE WORLD COMMUNITY HIGHLIGHTS • NOT OFFICIALLY AFFILIATED</a:t>
            </a:r>
            <a:endParaRPr lang="en-US" sz="940" dirty="0"/>
          </a:p>
        </p:txBody>
      </p:sp>
      <p:sp>
        <p:nvSpPr>
          <p:cNvPr id="14" name="Shape 11"/>
          <p:cNvSpPr/>
          <p:nvPr/>
        </p:nvSpPr>
        <p:spPr>
          <a:xfrm>
            <a:off x="731520" y="2468880"/>
            <a:ext cx="6601968" cy="2670048"/>
          </a:xfrm>
          <a:prstGeom prst="roundRect">
            <a:avLst>
              <a:gd name="adj" fmla="val 5137"/>
            </a:avLst>
          </a:prstGeom>
          <a:solidFill>
            <a:srgbClr val="FFFFFF"/>
          </a:solidFill>
          <a:ln w="12700">
            <a:solidFill>
              <a:srgbClr val="D7E4EF"/>
            </a:solidFill>
            <a:prstDash val="solid"/>
          </a:ln>
        </p:spPr>
        <p:txBody>
          <a:bodyPr/>
          <a:lstStyle/>
          <a:p>
            <a:endParaRPr lang="en-US"/>
          </a:p>
        </p:txBody>
      </p:sp>
      <p:sp>
        <p:nvSpPr>
          <p:cNvPr id="15" name="Text 12"/>
          <p:cNvSpPr/>
          <p:nvPr/>
        </p:nvSpPr>
        <p:spPr>
          <a:xfrm>
            <a:off x="932688" y="2633472"/>
            <a:ext cx="4297680" cy="310896"/>
          </a:xfrm>
          <a:prstGeom prst="rect">
            <a:avLst/>
          </a:prstGeom>
          <a:noFill/>
          <a:ln/>
        </p:spPr>
        <p:txBody>
          <a:bodyPr wrap="square" lIns="0" tIns="0" rIns="0" bIns="0" rtlCol="0" anchor="ctr">
            <a:normAutofit/>
          </a:bodyPr>
          <a:lstStyle/>
          <a:p>
            <a:pPr marL="0" indent="0">
              <a:buNone/>
            </a:pPr>
            <a:r>
              <a:rPr lang="en-US" sz="2000" b="1" dirty="0">
                <a:solidFill>
                  <a:srgbClr val="082B4E"/>
                </a:solidFill>
                <a:latin typeface="Lato Heavy" pitchFamily="34" charset="0"/>
                <a:ea typeface="Lato Heavy" pitchFamily="34" charset="-122"/>
                <a:cs typeface="Lato Heavy" pitchFamily="34" charset="-120"/>
              </a:rPr>
              <a:t>Featured merchandise view</a:t>
            </a:r>
            <a:endParaRPr lang="en-US" sz="2000" dirty="0"/>
          </a:p>
        </p:txBody>
      </p:sp>
      <p:sp>
        <p:nvSpPr>
          <p:cNvPr id="17" name="Shape 14"/>
          <p:cNvSpPr/>
          <p:nvPr/>
        </p:nvSpPr>
        <p:spPr>
          <a:xfrm>
            <a:off x="950976" y="3182112"/>
            <a:ext cx="3054096" cy="1591056"/>
          </a:xfrm>
          <a:prstGeom prst="roundRect">
            <a:avLst>
              <a:gd name="adj" fmla="val 5747"/>
            </a:avLst>
          </a:prstGeom>
          <a:solidFill>
            <a:srgbClr val="F8FBFE"/>
          </a:solidFill>
          <a:ln w="12700">
            <a:solidFill>
              <a:srgbClr val="D8E5F1"/>
            </a:solidFill>
            <a:prstDash val="solid"/>
          </a:ln>
        </p:spPr>
        <p:txBody>
          <a:bodyPr/>
          <a:lstStyle/>
          <a:p>
            <a:endParaRPr lang="en-US"/>
          </a:p>
        </p:txBody>
      </p:sp>
      <p:pic>
        <p:nvPicPr>
          <p:cNvPr id="18" name="Image 1" descr="/mnt/data/light_blue_polo_with_embroidered_logo.png"/>
          <p:cNvPicPr>
            <a:picLocks noChangeAspect="1"/>
          </p:cNvPicPr>
          <p:nvPr/>
        </p:nvPicPr>
        <p:blipFill>
          <a:blip r:embed="rId4"/>
          <a:stretch>
            <a:fillRect/>
          </a:stretch>
        </p:blipFill>
        <p:spPr>
          <a:xfrm>
            <a:off x="1728141" y="3300984"/>
            <a:ext cx="1271091" cy="1115568"/>
          </a:xfrm>
          <a:prstGeom prst="rect">
            <a:avLst/>
          </a:prstGeom>
        </p:spPr>
      </p:pic>
      <p:sp>
        <p:nvSpPr>
          <p:cNvPr id="19" name="Text 15"/>
          <p:cNvSpPr/>
          <p:nvPr/>
        </p:nvSpPr>
        <p:spPr>
          <a:xfrm>
            <a:off x="1078992" y="4480560"/>
            <a:ext cx="2761488" cy="137160"/>
          </a:xfrm>
          <a:prstGeom prst="rect">
            <a:avLst/>
          </a:prstGeom>
          <a:noFill/>
          <a:ln/>
        </p:spPr>
        <p:txBody>
          <a:bodyPr wrap="square" lIns="0" tIns="0" rIns="0" bIns="0" rtlCol="0" anchor="ctr">
            <a:normAutofit/>
          </a:bodyPr>
          <a:lstStyle/>
          <a:p>
            <a:pPr marL="0" indent="0" algn="ctr">
              <a:buNone/>
            </a:pPr>
            <a:r>
              <a:rPr lang="en-US" sz="1100" b="1" dirty="0">
                <a:solidFill>
                  <a:srgbClr val="082B4E"/>
                </a:solidFill>
                <a:latin typeface="Lato Heavy" pitchFamily="34" charset="0"/>
                <a:ea typeface="Lato Heavy" pitchFamily="34" charset="-122"/>
                <a:cs typeface="Lato Heavy" pitchFamily="34" charset="-120"/>
              </a:rPr>
              <a:t>Featured item: performance polo</a:t>
            </a:r>
            <a:endParaRPr lang="en-US" sz="1100" dirty="0"/>
          </a:p>
        </p:txBody>
      </p:sp>
      <p:sp>
        <p:nvSpPr>
          <p:cNvPr id="20" name="Shape 16"/>
          <p:cNvSpPr/>
          <p:nvPr/>
        </p:nvSpPr>
        <p:spPr>
          <a:xfrm>
            <a:off x="4224528" y="3273552"/>
            <a:ext cx="1005840" cy="731520"/>
          </a:xfrm>
          <a:prstGeom prst="roundRect">
            <a:avLst>
              <a:gd name="adj" fmla="val 10000"/>
            </a:avLst>
          </a:prstGeom>
          <a:solidFill>
            <a:srgbClr val="F8FBFE"/>
          </a:solidFill>
          <a:ln w="12700">
            <a:solidFill>
              <a:srgbClr val="D8E5F1"/>
            </a:solidFill>
            <a:prstDash val="solid"/>
          </a:ln>
        </p:spPr>
        <p:txBody>
          <a:bodyPr/>
          <a:lstStyle/>
          <a:p>
            <a:endParaRPr lang="en-US"/>
          </a:p>
        </p:txBody>
      </p:sp>
      <p:pic>
        <p:nvPicPr>
          <p:cNvPr id="21" name="Image 2" descr="/mnt/data/navy_hoodie_with_sunrise_embroidery.png"/>
          <p:cNvPicPr>
            <a:picLocks noChangeAspect="1"/>
          </p:cNvPicPr>
          <p:nvPr/>
        </p:nvPicPr>
        <p:blipFill>
          <a:blip r:embed="rId5"/>
          <a:stretch>
            <a:fillRect/>
          </a:stretch>
        </p:blipFill>
        <p:spPr>
          <a:xfrm>
            <a:off x="4507992" y="3319272"/>
            <a:ext cx="448056" cy="420624"/>
          </a:xfrm>
          <a:prstGeom prst="rect">
            <a:avLst/>
          </a:prstGeom>
        </p:spPr>
      </p:pic>
      <p:sp>
        <p:nvSpPr>
          <p:cNvPr id="22" name="Text 17"/>
          <p:cNvSpPr/>
          <p:nvPr/>
        </p:nvSpPr>
        <p:spPr>
          <a:xfrm>
            <a:off x="4251960" y="3794760"/>
            <a:ext cx="950976" cy="100584"/>
          </a:xfrm>
          <a:prstGeom prst="rect">
            <a:avLst/>
          </a:prstGeom>
          <a:noFill/>
          <a:ln/>
        </p:spPr>
        <p:txBody>
          <a:bodyPr wrap="square" lIns="0" tIns="0" rIns="0" bIns="0" rtlCol="0" anchor="ctr">
            <a:normAutofit/>
          </a:bodyPr>
          <a:lstStyle/>
          <a:p>
            <a:pPr marL="0" indent="0" algn="ctr">
              <a:buNone/>
            </a:pPr>
            <a:r>
              <a:rPr lang="en-US" sz="820" b="1" dirty="0">
                <a:solidFill>
                  <a:srgbClr val="082B4E"/>
                </a:solidFill>
                <a:latin typeface="Lato Heavy" pitchFamily="34" charset="0"/>
                <a:ea typeface="Lato Heavy" pitchFamily="34" charset="-122"/>
                <a:cs typeface="Lato Heavy" pitchFamily="34" charset="-120"/>
              </a:rPr>
              <a:t>Hoodie</a:t>
            </a:r>
            <a:endParaRPr lang="en-US" sz="820" dirty="0"/>
          </a:p>
        </p:txBody>
      </p:sp>
      <p:sp>
        <p:nvSpPr>
          <p:cNvPr id="23" name="Shape 18"/>
          <p:cNvSpPr/>
          <p:nvPr/>
        </p:nvSpPr>
        <p:spPr>
          <a:xfrm>
            <a:off x="5358384" y="3273552"/>
            <a:ext cx="1005840" cy="731520"/>
          </a:xfrm>
          <a:prstGeom prst="roundRect">
            <a:avLst>
              <a:gd name="adj" fmla="val 10000"/>
            </a:avLst>
          </a:prstGeom>
          <a:solidFill>
            <a:srgbClr val="F8FBFE"/>
          </a:solidFill>
          <a:ln w="12700">
            <a:solidFill>
              <a:srgbClr val="D8E5F1"/>
            </a:solidFill>
            <a:prstDash val="solid"/>
          </a:ln>
        </p:spPr>
        <p:txBody>
          <a:bodyPr/>
          <a:lstStyle/>
          <a:p>
            <a:endParaRPr lang="en-US"/>
          </a:p>
        </p:txBody>
      </p:sp>
      <p:pic>
        <p:nvPicPr>
          <p:cNvPr id="24" name="Image 3" descr="/mnt/data/light_blue_on_top_of_the_world_cap.png"/>
          <p:cNvPicPr>
            <a:picLocks noChangeAspect="1"/>
          </p:cNvPicPr>
          <p:nvPr/>
        </p:nvPicPr>
        <p:blipFill>
          <a:blip r:embed="rId6"/>
          <a:stretch>
            <a:fillRect/>
          </a:stretch>
        </p:blipFill>
        <p:spPr>
          <a:xfrm>
            <a:off x="5682996" y="3310128"/>
            <a:ext cx="411480" cy="420624"/>
          </a:xfrm>
          <a:prstGeom prst="rect">
            <a:avLst/>
          </a:prstGeom>
        </p:spPr>
      </p:pic>
      <p:sp>
        <p:nvSpPr>
          <p:cNvPr id="25" name="Text 19"/>
          <p:cNvSpPr/>
          <p:nvPr/>
        </p:nvSpPr>
        <p:spPr>
          <a:xfrm>
            <a:off x="5385816" y="3794760"/>
            <a:ext cx="950976" cy="100584"/>
          </a:xfrm>
          <a:prstGeom prst="rect">
            <a:avLst/>
          </a:prstGeom>
          <a:noFill/>
          <a:ln/>
        </p:spPr>
        <p:txBody>
          <a:bodyPr wrap="square" lIns="0" tIns="0" rIns="0" bIns="0" rtlCol="0" anchor="ctr">
            <a:normAutofit/>
          </a:bodyPr>
          <a:lstStyle/>
          <a:p>
            <a:pPr marL="0" indent="0" algn="ctr">
              <a:buNone/>
            </a:pPr>
            <a:r>
              <a:rPr lang="en-US" sz="820" b="1" dirty="0">
                <a:solidFill>
                  <a:srgbClr val="082B4E"/>
                </a:solidFill>
                <a:latin typeface="Lato Heavy" pitchFamily="34" charset="0"/>
                <a:ea typeface="Lato Heavy" pitchFamily="34" charset="-122"/>
                <a:cs typeface="Lato Heavy" pitchFamily="34" charset="-120"/>
              </a:rPr>
              <a:t>Cap</a:t>
            </a:r>
            <a:endParaRPr lang="en-US" sz="820" dirty="0"/>
          </a:p>
        </p:txBody>
      </p:sp>
      <p:sp>
        <p:nvSpPr>
          <p:cNvPr id="26" name="Shape 20"/>
          <p:cNvSpPr/>
          <p:nvPr/>
        </p:nvSpPr>
        <p:spPr>
          <a:xfrm>
            <a:off x="4224528" y="4096512"/>
            <a:ext cx="1005840" cy="731520"/>
          </a:xfrm>
          <a:prstGeom prst="roundRect">
            <a:avLst>
              <a:gd name="adj" fmla="val 10000"/>
            </a:avLst>
          </a:prstGeom>
          <a:solidFill>
            <a:srgbClr val="F8FBFE"/>
          </a:solidFill>
          <a:ln w="12700">
            <a:solidFill>
              <a:srgbClr val="D8E5F1"/>
            </a:solidFill>
            <a:prstDash val="solid"/>
          </a:ln>
        </p:spPr>
        <p:txBody>
          <a:bodyPr/>
          <a:lstStyle/>
          <a:p>
            <a:endParaRPr lang="en-US"/>
          </a:p>
        </p:txBody>
      </p:sp>
      <p:pic>
        <p:nvPicPr>
          <p:cNvPr id="27" name="Image 4" descr="/mnt/data/ivory_quarter_zip_pullover_with_sun_logo.png"/>
          <p:cNvPicPr>
            <a:picLocks noChangeAspect="1"/>
          </p:cNvPicPr>
          <p:nvPr/>
        </p:nvPicPr>
        <p:blipFill>
          <a:blip r:embed="rId7"/>
          <a:stretch>
            <a:fillRect/>
          </a:stretch>
        </p:blipFill>
        <p:spPr>
          <a:xfrm>
            <a:off x="4526280" y="4142232"/>
            <a:ext cx="448056" cy="420624"/>
          </a:xfrm>
          <a:prstGeom prst="rect">
            <a:avLst/>
          </a:prstGeom>
        </p:spPr>
      </p:pic>
      <p:sp>
        <p:nvSpPr>
          <p:cNvPr id="28" name="Text 21"/>
          <p:cNvSpPr/>
          <p:nvPr/>
        </p:nvSpPr>
        <p:spPr>
          <a:xfrm>
            <a:off x="4251960" y="4617720"/>
            <a:ext cx="950976" cy="100584"/>
          </a:xfrm>
          <a:prstGeom prst="rect">
            <a:avLst/>
          </a:prstGeom>
          <a:noFill/>
          <a:ln/>
        </p:spPr>
        <p:txBody>
          <a:bodyPr wrap="square" lIns="0" tIns="0" rIns="0" bIns="0" rtlCol="0" anchor="ctr">
            <a:normAutofit/>
          </a:bodyPr>
          <a:lstStyle/>
          <a:p>
            <a:pPr marL="0" indent="0" algn="ctr">
              <a:buNone/>
            </a:pPr>
            <a:r>
              <a:rPr lang="en-US" sz="820" b="1" dirty="0">
                <a:solidFill>
                  <a:srgbClr val="082B4E"/>
                </a:solidFill>
                <a:latin typeface="Lato Heavy" pitchFamily="34" charset="0"/>
                <a:ea typeface="Lato Heavy" pitchFamily="34" charset="-122"/>
                <a:cs typeface="Lato Heavy" pitchFamily="34" charset="-120"/>
              </a:rPr>
              <a:t>Quarter-zip</a:t>
            </a:r>
            <a:endParaRPr lang="en-US" sz="820" dirty="0"/>
          </a:p>
        </p:txBody>
      </p:sp>
      <p:sp>
        <p:nvSpPr>
          <p:cNvPr id="29" name="Shape 22"/>
          <p:cNvSpPr/>
          <p:nvPr/>
        </p:nvSpPr>
        <p:spPr>
          <a:xfrm>
            <a:off x="5358384" y="4096512"/>
            <a:ext cx="1005840" cy="731520"/>
          </a:xfrm>
          <a:prstGeom prst="roundRect">
            <a:avLst>
              <a:gd name="adj" fmla="val 10000"/>
            </a:avLst>
          </a:prstGeom>
          <a:solidFill>
            <a:srgbClr val="F8FBFE"/>
          </a:solidFill>
          <a:ln w="12700">
            <a:solidFill>
              <a:srgbClr val="D8E5F1"/>
            </a:solidFill>
            <a:prstDash val="solid"/>
          </a:ln>
        </p:spPr>
        <p:txBody>
          <a:bodyPr/>
          <a:lstStyle/>
          <a:p>
            <a:endParaRPr lang="en-US"/>
          </a:p>
        </p:txBody>
      </p:sp>
      <p:pic>
        <p:nvPicPr>
          <p:cNvPr id="30" name="Image 5" descr="/mnt/data/light_blue_polo_with_embroidered_logo.png"/>
          <p:cNvPicPr>
            <a:picLocks noChangeAspect="1"/>
          </p:cNvPicPr>
          <p:nvPr/>
        </p:nvPicPr>
        <p:blipFill>
          <a:blip r:embed="rId4"/>
          <a:stretch>
            <a:fillRect/>
          </a:stretch>
        </p:blipFill>
        <p:spPr>
          <a:xfrm>
            <a:off x="5628132" y="4133088"/>
            <a:ext cx="521208" cy="420624"/>
          </a:xfrm>
          <a:prstGeom prst="rect">
            <a:avLst/>
          </a:prstGeom>
        </p:spPr>
      </p:pic>
      <p:sp>
        <p:nvSpPr>
          <p:cNvPr id="31" name="Text 23"/>
          <p:cNvSpPr/>
          <p:nvPr/>
        </p:nvSpPr>
        <p:spPr>
          <a:xfrm>
            <a:off x="5385816" y="4617720"/>
            <a:ext cx="950976" cy="100584"/>
          </a:xfrm>
          <a:prstGeom prst="rect">
            <a:avLst/>
          </a:prstGeom>
          <a:noFill/>
          <a:ln/>
        </p:spPr>
        <p:txBody>
          <a:bodyPr wrap="square" lIns="0" tIns="0" rIns="0" bIns="0" rtlCol="0" anchor="ctr">
            <a:normAutofit/>
          </a:bodyPr>
          <a:lstStyle/>
          <a:p>
            <a:pPr marL="0" indent="0" algn="ctr">
              <a:buNone/>
            </a:pPr>
            <a:r>
              <a:rPr lang="en-US" sz="820" b="1" dirty="0">
                <a:solidFill>
                  <a:srgbClr val="082B4E"/>
                </a:solidFill>
                <a:latin typeface="Lato Heavy" pitchFamily="34" charset="0"/>
                <a:ea typeface="Lato Heavy" pitchFamily="34" charset="-122"/>
                <a:cs typeface="Lato Heavy" pitchFamily="34" charset="-120"/>
              </a:rPr>
              <a:t>Polo</a:t>
            </a:r>
            <a:endParaRPr lang="en-US" sz="820" dirty="0"/>
          </a:p>
        </p:txBody>
      </p:sp>
      <p:sp>
        <p:nvSpPr>
          <p:cNvPr id="33" name="Shape 25"/>
          <p:cNvSpPr/>
          <p:nvPr/>
        </p:nvSpPr>
        <p:spPr>
          <a:xfrm>
            <a:off x="8375904" y="886968"/>
            <a:ext cx="3328416" cy="5541264"/>
          </a:xfrm>
          <a:prstGeom prst="roundRect">
            <a:avLst>
              <a:gd name="adj" fmla="val 4121"/>
            </a:avLst>
          </a:prstGeom>
          <a:solidFill>
            <a:srgbClr val="D7E0EA"/>
          </a:solidFill>
          <a:ln w="12700">
            <a:solidFill>
              <a:srgbClr val="D7E0EA">
                <a:alpha val="0"/>
              </a:srgbClr>
            </a:solidFill>
            <a:prstDash val="solid"/>
          </a:ln>
        </p:spPr>
        <p:txBody>
          <a:bodyPr/>
          <a:lstStyle/>
          <a:p>
            <a:endParaRPr lang="en-US"/>
          </a:p>
        </p:txBody>
      </p:sp>
      <p:sp>
        <p:nvSpPr>
          <p:cNvPr id="34" name="Shape 26"/>
          <p:cNvSpPr/>
          <p:nvPr/>
        </p:nvSpPr>
        <p:spPr>
          <a:xfrm>
            <a:off x="8302752" y="795528"/>
            <a:ext cx="3328416" cy="5541264"/>
          </a:xfrm>
          <a:prstGeom prst="roundRect">
            <a:avLst>
              <a:gd name="adj" fmla="val 4121"/>
            </a:avLst>
          </a:prstGeom>
          <a:solidFill>
            <a:srgbClr val="071522"/>
          </a:solidFill>
          <a:ln w="12700">
            <a:solidFill>
              <a:srgbClr val="071522">
                <a:alpha val="0"/>
              </a:srgbClr>
            </a:solidFill>
            <a:prstDash val="solid"/>
          </a:ln>
        </p:spPr>
        <p:txBody>
          <a:bodyPr/>
          <a:lstStyle/>
          <a:p>
            <a:endParaRPr lang="en-US"/>
          </a:p>
        </p:txBody>
      </p:sp>
      <p:sp>
        <p:nvSpPr>
          <p:cNvPr id="35" name="Shape 27"/>
          <p:cNvSpPr/>
          <p:nvPr/>
        </p:nvSpPr>
        <p:spPr>
          <a:xfrm>
            <a:off x="8394192" y="886968"/>
            <a:ext cx="3145536" cy="5358384"/>
          </a:xfrm>
          <a:prstGeom prst="roundRect">
            <a:avLst>
              <a:gd name="adj" fmla="val 4360"/>
            </a:avLst>
          </a:prstGeom>
          <a:solidFill>
            <a:srgbClr val="FFFFFF"/>
          </a:solidFill>
          <a:ln w="12700">
            <a:solidFill>
              <a:srgbClr val="FFFFFF">
                <a:alpha val="0"/>
              </a:srgbClr>
            </a:solidFill>
            <a:prstDash val="solid"/>
          </a:ln>
        </p:spPr>
        <p:txBody>
          <a:bodyPr/>
          <a:lstStyle/>
          <a:p>
            <a:endParaRPr lang="en-US"/>
          </a:p>
        </p:txBody>
      </p:sp>
      <p:sp>
        <p:nvSpPr>
          <p:cNvPr id="36" name="Shape 28"/>
          <p:cNvSpPr/>
          <p:nvPr/>
        </p:nvSpPr>
        <p:spPr>
          <a:xfrm>
            <a:off x="9454896" y="850392"/>
            <a:ext cx="1014984" cy="173736"/>
          </a:xfrm>
          <a:prstGeom prst="roundRect">
            <a:avLst>
              <a:gd name="adj" fmla="val 78947"/>
            </a:avLst>
          </a:prstGeom>
          <a:solidFill>
            <a:srgbClr val="071522"/>
          </a:solidFill>
          <a:ln w="12700">
            <a:solidFill>
              <a:srgbClr val="071522">
                <a:alpha val="0"/>
              </a:srgbClr>
            </a:solidFill>
            <a:prstDash val="solid"/>
          </a:ln>
        </p:spPr>
        <p:txBody>
          <a:bodyPr/>
          <a:lstStyle/>
          <a:p>
            <a:endParaRPr lang="en-US"/>
          </a:p>
        </p:txBody>
      </p:sp>
      <p:sp>
        <p:nvSpPr>
          <p:cNvPr id="37" name="Text 29"/>
          <p:cNvSpPr/>
          <p:nvPr/>
        </p:nvSpPr>
        <p:spPr>
          <a:xfrm>
            <a:off x="8558784" y="978408"/>
            <a:ext cx="566928" cy="210312"/>
          </a:xfrm>
          <a:prstGeom prst="rect">
            <a:avLst/>
          </a:prstGeom>
          <a:noFill/>
          <a:ln/>
        </p:spPr>
        <p:txBody>
          <a:bodyPr wrap="square" lIns="0" tIns="0" rIns="0" bIns="0" rtlCol="0" anchor="ctr">
            <a:normAutofit/>
          </a:bodyPr>
          <a:lstStyle/>
          <a:p>
            <a:pPr marL="0" indent="0">
              <a:buNone/>
            </a:pPr>
            <a:r>
              <a:rPr lang="en-US" sz="1000" b="1" dirty="0">
                <a:solidFill>
                  <a:srgbClr val="2A4157"/>
                </a:solidFill>
                <a:latin typeface="Lato Heavy" pitchFamily="34" charset="0"/>
                <a:ea typeface="Lato Heavy" pitchFamily="34" charset="-122"/>
                <a:cs typeface="Lato Heavy" pitchFamily="34" charset="-120"/>
              </a:rPr>
              <a:t>9:41</a:t>
            </a:r>
            <a:endParaRPr lang="en-US" sz="1000" dirty="0"/>
          </a:p>
        </p:txBody>
      </p:sp>
      <p:sp>
        <p:nvSpPr>
          <p:cNvPr id="38" name="Text 30"/>
          <p:cNvSpPr/>
          <p:nvPr/>
        </p:nvSpPr>
        <p:spPr>
          <a:xfrm>
            <a:off x="10561320" y="978408"/>
            <a:ext cx="685800" cy="210312"/>
          </a:xfrm>
          <a:prstGeom prst="rect">
            <a:avLst/>
          </a:prstGeom>
          <a:noFill/>
          <a:ln/>
        </p:spPr>
        <p:txBody>
          <a:bodyPr wrap="square" lIns="0" tIns="0" rIns="0" bIns="0" rtlCol="0" anchor="ctr">
            <a:normAutofit/>
          </a:bodyPr>
          <a:lstStyle/>
          <a:p>
            <a:pPr marL="0" indent="0" algn="r">
              <a:buNone/>
            </a:pPr>
            <a:r>
              <a:rPr lang="en-US" sz="900" b="1" dirty="0">
                <a:solidFill>
                  <a:srgbClr val="2A4157"/>
                </a:solidFill>
                <a:latin typeface="Lato Heavy" pitchFamily="34" charset="0"/>
                <a:ea typeface="Lato Heavy" pitchFamily="34" charset="-122"/>
                <a:cs typeface="Lato Heavy" pitchFamily="34" charset="-120"/>
              </a:rPr>
              <a:t>▰  Wi-Fi</a:t>
            </a:r>
            <a:endParaRPr lang="en-US" sz="900" dirty="0"/>
          </a:p>
        </p:txBody>
      </p:sp>
      <p:sp>
        <p:nvSpPr>
          <p:cNvPr id="39" name="Text 31"/>
          <p:cNvSpPr/>
          <p:nvPr/>
        </p:nvSpPr>
        <p:spPr>
          <a:xfrm>
            <a:off x="8485632" y="1298448"/>
            <a:ext cx="2962656" cy="283464"/>
          </a:xfrm>
          <a:prstGeom prst="rect">
            <a:avLst/>
          </a:prstGeom>
          <a:noFill/>
          <a:ln/>
        </p:spPr>
        <p:txBody>
          <a:bodyPr wrap="square" lIns="0" tIns="0" rIns="0" bIns="0" rtlCol="0" anchor="ctr">
            <a:normAutofit/>
          </a:bodyPr>
          <a:lstStyle/>
          <a:p>
            <a:pPr marL="0" indent="0" algn="ctr">
              <a:buNone/>
            </a:pPr>
            <a:r>
              <a:rPr lang="en-US" sz="1370" b="1" dirty="0">
                <a:solidFill>
                  <a:srgbClr val="082B4E"/>
                </a:solidFill>
                <a:latin typeface="Lato Heavy" pitchFamily="34" charset="0"/>
                <a:ea typeface="Lato Heavy" pitchFamily="34" charset="-122"/>
                <a:cs typeface="Lato Heavy" pitchFamily="34" charset="-120"/>
              </a:rPr>
              <a:t>On Top of the World</a:t>
            </a:r>
            <a:endParaRPr lang="en-US" sz="1370" dirty="0"/>
          </a:p>
        </p:txBody>
      </p:sp>
      <p:pic>
        <p:nvPicPr>
          <p:cNvPr id="40" name="Image 6" descr="/mnt/data/barnaby_hd_work/otow_gradient.png"/>
          <p:cNvPicPr>
            <a:picLocks noChangeAspect="1"/>
          </p:cNvPicPr>
          <p:nvPr/>
        </p:nvPicPr>
        <p:blipFill>
          <a:blip r:embed="rId8"/>
          <a:stretch>
            <a:fillRect/>
          </a:stretch>
        </p:blipFill>
        <p:spPr>
          <a:xfrm>
            <a:off x="8403336" y="1691640"/>
            <a:ext cx="3127248" cy="804672"/>
          </a:xfrm>
          <a:prstGeom prst="rect">
            <a:avLst/>
          </a:prstGeom>
        </p:spPr>
      </p:pic>
      <p:sp>
        <p:nvSpPr>
          <p:cNvPr id="41" name="Text 32"/>
          <p:cNvSpPr/>
          <p:nvPr/>
        </p:nvSpPr>
        <p:spPr>
          <a:xfrm>
            <a:off x="8586216" y="1783080"/>
            <a:ext cx="274320" cy="27432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Lato Heavy" pitchFamily="34" charset="0"/>
                <a:ea typeface="Lato Heavy" pitchFamily="34" charset="-122"/>
                <a:cs typeface="Lato Heavy" pitchFamily="34" charset="-120"/>
              </a:rPr>
              <a:t>≡</a:t>
            </a:r>
            <a:endParaRPr lang="en-US" sz="1900" dirty="0"/>
          </a:p>
        </p:txBody>
      </p:sp>
      <p:sp>
        <p:nvSpPr>
          <p:cNvPr id="42" name="Text 33"/>
          <p:cNvSpPr/>
          <p:nvPr/>
        </p:nvSpPr>
        <p:spPr>
          <a:xfrm>
            <a:off x="9025128" y="1810512"/>
            <a:ext cx="1920240" cy="201168"/>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Lato Heavy" pitchFamily="34" charset="0"/>
                <a:ea typeface="Lato Heavy" pitchFamily="34" charset="-122"/>
                <a:cs typeface="Lato Heavy" pitchFamily="34" charset="-120"/>
              </a:rPr>
              <a:t>On Top of the World</a:t>
            </a:r>
            <a:endParaRPr lang="en-US" sz="1200" dirty="0"/>
          </a:p>
        </p:txBody>
      </p:sp>
      <p:sp>
        <p:nvSpPr>
          <p:cNvPr id="43" name="Text 34"/>
          <p:cNvSpPr/>
          <p:nvPr/>
        </p:nvSpPr>
        <p:spPr>
          <a:xfrm>
            <a:off x="8567928" y="2148840"/>
            <a:ext cx="2377440" cy="301752"/>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Lato Heavy" pitchFamily="34" charset="0"/>
                <a:ea typeface="Lato Heavy" pitchFamily="34" charset="-122"/>
                <a:cs typeface="Lato Heavy" pitchFamily="34" charset="-120"/>
              </a:rPr>
              <a:t>SHOP</a:t>
            </a:r>
            <a:endParaRPr lang="en-US" sz="1800" dirty="0"/>
          </a:p>
        </p:txBody>
      </p:sp>
      <p:sp>
        <p:nvSpPr>
          <p:cNvPr id="44" name="Shape 35"/>
          <p:cNvSpPr/>
          <p:nvPr/>
        </p:nvSpPr>
        <p:spPr>
          <a:xfrm>
            <a:off x="8449056" y="5705856"/>
            <a:ext cx="3035808" cy="420624"/>
          </a:xfrm>
          <a:prstGeom prst="roundRect">
            <a:avLst>
              <a:gd name="adj" fmla="val 32609"/>
            </a:avLst>
          </a:prstGeom>
          <a:solidFill>
            <a:srgbClr val="F8FBFE"/>
          </a:solidFill>
          <a:ln w="12700">
            <a:solidFill>
              <a:srgbClr val="F8FBFE">
                <a:alpha val="0"/>
              </a:srgbClr>
            </a:solidFill>
            <a:prstDash val="solid"/>
          </a:ln>
        </p:spPr>
        <p:txBody>
          <a:bodyPr/>
          <a:lstStyle/>
          <a:p>
            <a:endParaRPr lang="en-US"/>
          </a:p>
        </p:txBody>
      </p:sp>
      <p:sp>
        <p:nvSpPr>
          <p:cNvPr id="45" name="Text 36"/>
          <p:cNvSpPr/>
          <p:nvPr/>
        </p:nvSpPr>
        <p:spPr>
          <a:xfrm>
            <a:off x="8677656"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46" name="Text 37"/>
          <p:cNvSpPr/>
          <p:nvPr/>
        </p:nvSpPr>
        <p:spPr>
          <a:xfrm>
            <a:off x="8595360"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Home</a:t>
            </a:r>
            <a:endParaRPr lang="en-US" sz="820" dirty="0"/>
          </a:p>
        </p:txBody>
      </p:sp>
      <p:sp>
        <p:nvSpPr>
          <p:cNvPr id="47" name="Text 38"/>
          <p:cNvSpPr/>
          <p:nvPr/>
        </p:nvSpPr>
        <p:spPr>
          <a:xfrm>
            <a:off x="9372600"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48" name="Text 39"/>
          <p:cNvSpPr/>
          <p:nvPr/>
        </p:nvSpPr>
        <p:spPr>
          <a:xfrm>
            <a:off x="9290304"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Outings</a:t>
            </a:r>
            <a:endParaRPr lang="en-US" sz="820" dirty="0"/>
          </a:p>
        </p:txBody>
      </p:sp>
      <p:sp>
        <p:nvSpPr>
          <p:cNvPr id="49" name="Text 40"/>
          <p:cNvSpPr/>
          <p:nvPr/>
        </p:nvSpPr>
        <p:spPr>
          <a:xfrm>
            <a:off x="10067544"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50" name="Text 41"/>
          <p:cNvSpPr/>
          <p:nvPr/>
        </p:nvSpPr>
        <p:spPr>
          <a:xfrm>
            <a:off x="9985248"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Messages</a:t>
            </a:r>
            <a:endParaRPr lang="en-US" sz="820" dirty="0"/>
          </a:p>
        </p:txBody>
      </p:sp>
      <p:sp>
        <p:nvSpPr>
          <p:cNvPr id="51" name="Text 42"/>
          <p:cNvSpPr/>
          <p:nvPr/>
        </p:nvSpPr>
        <p:spPr>
          <a:xfrm>
            <a:off x="10762488"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52" name="Text 43"/>
          <p:cNvSpPr/>
          <p:nvPr/>
        </p:nvSpPr>
        <p:spPr>
          <a:xfrm>
            <a:off x="10680192"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More</a:t>
            </a:r>
            <a:endParaRPr lang="en-US" sz="820" dirty="0"/>
          </a:p>
        </p:txBody>
      </p:sp>
      <p:sp>
        <p:nvSpPr>
          <p:cNvPr id="53" name="Text 44"/>
          <p:cNvSpPr/>
          <p:nvPr/>
        </p:nvSpPr>
        <p:spPr>
          <a:xfrm>
            <a:off x="8485632" y="2587752"/>
            <a:ext cx="2962656" cy="338328"/>
          </a:xfrm>
          <a:prstGeom prst="rect">
            <a:avLst/>
          </a:prstGeom>
          <a:noFill/>
          <a:ln/>
        </p:spPr>
        <p:txBody>
          <a:bodyPr wrap="square" lIns="0" tIns="0" rIns="0" bIns="0" rtlCol="0" anchor="ctr">
            <a:normAutofit/>
          </a:bodyPr>
          <a:lstStyle/>
          <a:p>
            <a:pPr marL="0" indent="0">
              <a:buNone/>
            </a:pPr>
            <a:r>
              <a:rPr lang="en-US" sz="1700" b="1" dirty="0">
                <a:solidFill>
                  <a:srgbClr val="082B4E"/>
                </a:solidFill>
                <a:latin typeface="Lato Heavy" pitchFamily="34" charset="0"/>
                <a:ea typeface="Lato Heavy" pitchFamily="34" charset="-122"/>
                <a:cs typeface="Lato Heavy" pitchFamily="34" charset="-120"/>
              </a:rPr>
              <a:t>Community merchandise</a:t>
            </a:r>
            <a:endParaRPr lang="en-US" sz="1700" dirty="0"/>
          </a:p>
        </p:txBody>
      </p:sp>
      <p:sp>
        <p:nvSpPr>
          <p:cNvPr id="54" name="Text 45"/>
          <p:cNvSpPr/>
          <p:nvPr/>
        </p:nvSpPr>
        <p:spPr>
          <a:xfrm>
            <a:off x="8485632" y="2926080"/>
            <a:ext cx="2962656" cy="210312"/>
          </a:xfrm>
          <a:prstGeom prst="rect">
            <a:avLst/>
          </a:prstGeom>
          <a:noFill/>
          <a:ln/>
        </p:spPr>
        <p:txBody>
          <a:bodyPr wrap="square" lIns="0" tIns="0" rIns="0" bIns="0" rtlCol="0" anchor="ctr">
            <a:normAutofit/>
          </a:bodyPr>
          <a:lstStyle/>
          <a:p>
            <a:pPr marL="0" indent="0">
              <a:buNone/>
            </a:pPr>
            <a:r>
              <a:rPr lang="en-US" sz="1000" dirty="0">
                <a:solidFill>
                  <a:srgbClr val="617B94"/>
                </a:solidFill>
                <a:latin typeface="Lato" pitchFamily="34" charset="0"/>
                <a:ea typeface="Lato" pitchFamily="34" charset="-122"/>
                <a:cs typeface="Lato" pitchFamily="34" charset="-120"/>
              </a:rPr>
              <a:t>Optional community storefront</a:t>
            </a:r>
            <a:endParaRPr lang="en-US" sz="1000" dirty="0"/>
          </a:p>
        </p:txBody>
      </p:sp>
      <p:sp>
        <p:nvSpPr>
          <p:cNvPr id="55" name="Shape 46"/>
          <p:cNvSpPr/>
          <p:nvPr/>
        </p:nvSpPr>
        <p:spPr>
          <a:xfrm>
            <a:off x="8485632" y="3154680"/>
            <a:ext cx="2962656" cy="502920"/>
          </a:xfrm>
          <a:prstGeom prst="roundRect">
            <a:avLst>
              <a:gd name="adj" fmla="val 21818"/>
            </a:avLst>
          </a:prstGeom>
          <a:solidFill>
            <a:srgbClr val="FFFFFF"/>
          </a:solidFill>
          <a:ln w="12700">
            <a:solidFill>
              <a:srgbClr val="DDE7F0"/>
            </a:solidFill>
            <a:prstDash val="solid"/>
          </a:ln>
        </p:spPr>
        <p:txBody>
          <a:bodyPr/>
          <a:lstStyle/>
          <a:p>
            <a:endParaRPr lang="en-US"/>
          </a:p>
        </p:txBody>
      </p:sp>
      <p:sp>
        <p:nvSpPr>
          <p:cNvPr id="56" name="Shape 47"/>
          <p:cNvSpPr/>
          <p:nvPr/>
        </p:nvSpPr>
        <p:spPr>
          <a:xfrm>
            <a:off x="8577072" y="3246120"/>
            <a:ext cx="384048" cy="384048"/>
          </a:xfrm>
          <a:prstGeom prst="roundRect">
            <a:avLst>
              <a:gd name="adj" fmla="val 19048"/>
            </a:avLst>
          </a:prstGeom>
          <a:solidFill>
            <a:srgbClr val="F2F8FD"/>
          </a:solidFill>
          <a:ln w="12700">
            <a:solidFill>
              <a:srgbClr val="DCEAF6"/>
            </a:solidFill>
            <a:prstDash val="solid"/>
          </a:ln>
        </p:spPr>
        <p:txBody>
          <a:bodyPr/>
          <a:lstStyle/>
          <a:p>
            <a:endParaRPr lang="en-US"/>
          </a:p>
        </p:txBody>
      </p:sp>
      <p:pic>
        <p:nvPicPr>
          <p:cNvPr id="57" name="Image 7" descr="/mnt/data/light_blue_polo_with_embroidered_logo.png"/>
          <p:cNvPicPr>
            <a:picLocks noChangeAspect="1"/>
          </p:cNvPicPr>
          <p:nvPr/>
        </p:nvPicPr>
        <p:blipFill>
          <a:blip r:embed="rId4"/>
          <a:stretch>
            <a:fillRect/>
          </a:stretch>
        </p:blipFill>
        <p:spPr>
          <a:xfrm>
            <a:off x="8595360" y="3264408"/>
            <a:ext cx="347472" cy="256032"/>
          </a:xfrm>
          <a:prstGeom prst="rect">
            <a:avLst/>
          </a:prstGeom>
        </p:spPr>
      </p:pic>
      <p:sp>
        <p:nvSpPr>
          <p:cNvPr id="58" name="Text 48"/>
          <p:cNvSpPr/>
          <p:nvPr/>
        </p:nvSpPr>
        <p:spPr>
          <a:xfrm>
            <a:off x="9015984" y="3246120"/>
            <a:ext cx="2304288" cy="164592"/>
          </a:xfrm>
          <a:prstGeom prst="rect">
            <a:avLst/>
          </a:prstGeom>
          <a:noFill/>
          <a:ln/>
        </p:spPr>
        <p:txBody>
          <a:bodyPr wrap="square" lIns="0" tIns="0" rIns="0" bIns="0" rtlCol="0" anchor="ctr">
            <a:normAutofit/>
          </a:bodyPr>
          <a:lstStyle/>
          <a:p>
            <a:pPr marL="0" indent="0">
              <a:buNone/>
            </a:pPr>
            <a:r>
              <a:rPr lang="en-US" sz="1060" b="1" dirty="0">
                <a:solidFill>
                  <a:srgbClr val="082B4E"/>
                </a:solidFill>
                <a:latin typeface="Lato Heavy" pitchFamily="34" charset="0"/>
                <a:ea typeface="Lato Heavy" pitchFamily="34" charset="-122"/>
                <a:cs typeface="Lato Heavy" pitchFamily="34" charset="-120"/>
              </a:rPr>
              <a:t>Performance polo</a:t>
            </a:r>
            <a:endParaRPr lang="en-US" sz="1060" dirty="0"/>
          </a:p>
        </p:txBody>
      </p:sp>
      <p:sp>
        <p:nvSpPr>
          <p:cNvPr id="59" name="Text 49"/>
          <p:cNvSpPr/>
          <p:nvPr/>
        </p:nvSpPr>
        <p:spPr>
          <a:xfrm>
            <a:off x="9015984" y="3429000"/>
            <a:ext cx="2304288" cy="128016"/>
          </a:xfrm>
          <a:prstGeom prst="rect">
            <a:avLst/>
          </a:prstGeom>
          <a:noFill/>
          <a:ln/>
        </p:spPr>
        <p:txBody>
          <a:bodyPr wrap="square" lIns="0" tIns="0" rIns="0" bIns="0" rtlCol="0" anchor="ctr">
            <a:normAutofit/>
          </a:bodyPr>
          <a:lstStyle/>
          <a:p>
            <a:pPr marL="0" indent="0">
              <a:buNone/>
            </a:pPr>
            <a:r>
              <a:rPr lang="en-US" sz="880" dirty="0">
                <a:solidFill>
                  <a:srgbClr val="617B94"/>
                </a:solidFill>
                <a:latin typeface="Lato" pitchFamily="34" charset="0"/>
                <a:ea typeface="Lato" pitchFamily="34" charset="-122"/>
                <a:cs typeface="Lato" pitchFamily="34" charset="-120"/>
              </a:rPr>
              <a:t>OTOW logo apparel</a:t>
            </a:r>
            <a:endParaRPr lang="en-US" sz="880" dirty="0"/>
          </a:p>
        </p:txBody>
      </p:sp>
      <p:sp>
        <p:nvSpPr>
          <p:cNvPr id="60" name="Shape 50"/>
          <p:cNvSpPr/>
          <p:nvPr/>
        </p:nvSpPr>
        <p:spPr>
          <a:xfrm>
            <a:off x="8485632" y="3767328"/>
            <a:ext cx="2962656" cy="502920"/>
          </a:xfrm>
          <a:prstGeom prst="roundRect">
            <a:avLst>
              <a:gd name="adj" fmla="val 21818"/>
            </a:avLst>
          </a:prstGeom>
          <a:solidFill>
            <a:srgbClr val="FFFFFF"/>
          </a:solidFill>
          <a:ln w="12700">
            <a:solidFill>
              <a:srgbClr val="DDE7F0"/>
            </a:solidFill>
            <a:prstDash val="solid"/>
          </a:ln>
        </p:spPr>
        <p:txBody>
          <a:bodyPr/>
          <a:lstStyle/>
          <a:p>
            <a:endParaRPr lang="en-US"/>
          </a:p>
        </p:txBody>
      </p:sp>
      <p:sp>
        <p:nvSpPr>
          <p:cNvPr id="61" name="Shape 51"/>
          <p:cNvSpPr/>
          <p:nvPr/>
        </p:nvSpPr>
        <p:spPr>
          <a:xfrm>
            <a:off x="8577072" y="3858768"/>
            <a:ext cx="384048" cy="384048"/>
          </a:xfrm>
          <a:prstGeom prst="roundRect">
            <a:avLst>
              <a:gd name="adj" fmla="val 19048"/>
            </a:avLst>
          </a:prstGeom>
          <a:solidFill>
            <a:srgbClr val="F2F8FD"/>
          </a:solidFill>
          <a:ln w="12700">
            <a:solidFill>
              <a:srgbClr val="DCEAF6"/>
            </a:solidFill>
            <a:prstDash val="solid"/>
          </a:ln>
        </p:spPr>
        <p:txBody>
          <a:bodyPr/>
          <a:lstStyle/>
          <a:p>
            <a:endParaRPr lang="en-US"/>
          </a:p>
        </p:txBody>
      </p:sp>
      <p:pic>
        <p:nvPicPr>
          <p:cNvPr id="62" name="Image 8" descr="/mnt/data/navy_hoodie_with_sunrise_embroidery.png"/>
          <p:cNvPicPr>
            <a:picLocks noChangeAspect="1"/>
          </p:cNvPicPr>
          <p:nvPr/>
        </p:nvPicPr>
        <p:blipFill>
          <a:blip r:embed="rId5"/>
          <a:stretch>
            <a:fillRect/>
          </a:stretch>
        </p:blipFill>
        <p:spPr>
          <a:xfrm>
            <a:off x="8595360" y="3877056"/>
            <a:ext cx="347472" cy="256032"/>
          </a:xfrm>
          <a:prstGeom prst="rect">
            <a:avLst/>
          </a:prstGeom>
        </p:spPr>
      </p:pic>
      <p:sp>
        <p:nvSpPr>
          <p:cNvPr id="63" name="Text 52"/>
          <p:cNvSpPr/>
          <p:nvPr/>
        </p:nvSpPr>
        <p:spPr>
          <a:xfrm>
            <a:off x="9015984" y="3858768"/>
            <a:ext cx="2304288" cy="164592"/>
          </a:xfrm>
          <a:prstGeom prst="rect">
            <a:avLst/>
          </a:prstGeom>
          <a:noFill/>
          <a:ln/>
        </p:spPr>
        <p:txBody>
          <a:bodyPr wrap="square" lIns="0" tIns="0" rIns="0" bIns="0" rtlCol="0" anchor="ctr">
            <a:normAutofit/>
          </a:bodyPr>
          <a:lstStyle/>
          <a:p>
            <a:pPr marL="0" indent="0">
              <a:buNone/>
            </a:pPr>
            <a:r>
              <a:rPr lang="en-US" sz="1060" b="1" dirty="0">
                <a:solidFill>
                  <a:srgbClr val="082B4E"/>
                </a:solidFill>
                <a:latin typeface="Lato Heavy" pitchFamily="34" charset="0"/>
                <a:ea typeface="Lato Heavy" pitchFamily="34" charset="-122"/>
                <a:cs typeface="Lato Heavy" pitchFamily="34" charset="-120"/>
              </a:rPr>
              <a:t>Signature hoodie</a:t>
            </a:r>
            <a:endParaRPr lang="en-US" sz="1060" dirty="0"/>
          </a:p>
        </p:txBody>
      </p:sp>
      <p:sp>
        <p:nvSpPr>
          <p:cNvPr id="64" name="Text 53"/>
          <p:cNvSpPr/>
          <p:nvPr/>
        </p:nvSpPr>
        <p:spPr>
          <a:xfrm>
            <a:off x="9015984" y="4041648"/>
            <a:ext cx="2304288" cy="128016"/>
          </a:xfrm>
          <a:prstGeom prst="rect">
            <a:avLst/>
          </a:prstGeom>
          <a:noFill/>
          <a:ln/>
        </p:spPr>
        <p:txBody>
          <a:bodyPr wrap="square" lIns="0" tIns="0" rIns="0" bIns="0" rtlCol="0" anchor="ctr">
            <a:normAutofit/>
          </a:bodyPr>
          <a:lstStyle/>
          <a:p>
            <a:pPr marL="0" indent="0">
              <a:buNone/>
            </a:pPr>
            <a:r>
              <a:rPr lang="en-US" sz="880" dirty="0">
                <a:solidFill>
                  <a:srgbClr val="617B94"/>
                </a:solidFill>
                <a:latin typeface="Lato" pitchFamily="34" charset="0"/>
                <a:ea typeface="Lato" pitchFamily="34" charset="-122"/>
                <a:cs typeface="Lato" pitchFamily="34" charset="-120"/>
              </a:rPr>
              <a:t>Resident lifestyle wear</a:t>
            </a:r>
            <a:endParaRPr lang="en-US" sz="880" dirty="0"/>
          </a:p>
        </p:txBody>
      </p:sp>
      <p:sp>
        <p:nvSpPr>
          <p:cNvPr id="65" name="Shape 54"/>
          <p:cNvSpPr/>
          <p:nvPr/>
        </p:nvSpPr>
        <p:spPr>
          <a:xfrm>
            <a:off x="8485632" y="4379976"/>
            <a:ext cx="2962656" cy="502920"/>
          </a:xfrm>
          <a:prstGeom prst="roundRect">
            <a:avLst>
              <a:gd name="adj" fmla="val 21818"/>
            </a:avLst>
          </a:prstGeom>
          <a:solidFill>
            <a:srgbClr val="FFFFFF"/>
          </a:solidFill>
          <a:ln w="12700">
            <a:solidFill>
              <a:srgbClr val="DDE7F0"/>
            </a:solidFill>
            <a:prstDash val="solid"/>
          </a:ln>
        </p:spPr>
        <p:txBody>
          <a:bodyPr/>
          <a:lstStyle/>
          <a:p>
            <a:endParaRPr lang="en-US"/>
          </a:p>
        </p:txBody>
      </p:sp>
      <p:sp>
        <p:nvSpPr>
          <p:cNvPr id="66" name="Shape 55"/>
          <p:cNvSpPr/>
          <p:nvPr/>
        </p:nvSpPr>
        <p:spPr>
          <a:xfrm>
            <a:off x="8577072" y="4471416"/>
            <a:ext cx="384048" cy="384048"/>
          </a:xfrm>
          <a:prstGeom prst="roundRect">
            <a:avLst>
              <a:gd name="adj" fmla="val 19048"/>
            </a:avLst>
          </a:prstGeom>
          <a:solidFill>
            <a:srgbClr val="F2F8FD"/>
          </a:solidFill>
          <a:ln w="12700">
            <a:solidFill>
              <a:srgbClr val="DCEAF6"/>
            </a:solidFill>
            <a:prstDash val="solid"/>
          </a:ln>
        </p:spPr>
        <p:txBody>
          <a:bodyPr/>
          <a:lstStyle/>
          <a:p>
            <a:endParaRPr lang="en-US"/>
          </a:p>
        </p:txBody>
      </p:sp>
      <p:pic>
        <p:nvPicPr>
          <p:cNvPr id="67" name="Image 9" descr="/mnt/data/ivory_quarter_zip_pullover_with_sun_logo.png"/>
          <p:cNvPicPr>
            <a:picLocks noChangeAspect="1"/>
          </p:cNvPicPr>
          <p:nvPr/>
        </p:nvPicPr>
        <p:blipFill>
          <a:blip r:embed="rId7"/>
          <a:stretch>
            <a:fillRect/>
          </a:stretch>
        </p:blipFill>
        <p:spPr>
          <a:xfrm>
            <a:off x="8595360" y="4489704"/>
            <a:ext cx="347472" cy="256032"/>
          </a:xfrm>
          <a:prstGeom prst="rect">
            <a:avLst/>
          </a:prstGeom>
        </p:spPr>
      </p:pic>
      <p:sp>
        <p:nvSpPr>
          <p:cNvPr id="68" name="Text 56"/>
          <p:cNvSpPr/>
          <p:nvPr/>
        </p:nvSpPr>
        <p:spPr>
          <a:xfrm>
            <a:off x="9015984" y="4471416"/>
            <a:ext cx="2304288" cy="164592"/>
          </a:xfrm>
          <a:prstGeom prst="rect">
            <a:avLst/>
          </a:prstGeom>
          <a:noFill/>
          <a:ln/>
        </p:spPr>
        <p:txBody>
          <a:bodyPr wrap="square" lIns="0" tIns="0" rIns="0" bIns="0" rtlCol="0" anchor="ctr">
            <a:normAutofit/>
          </a:bodyPr>
          <a:lstStyle/>
          <a:p>
            <a:pPr marL="0" indent="0">
              <a:buNone/>
            </a:pPr>
            <a:r>
              <a:rPr lang="en-US" sz="1060" b="1" dirty="0">
                <a:solidFill>
                  <a:srgbClr val="082B4E"/>
                </a:solidFill>
                <a:latin typeface="Lato Heavy" pitchFamily="34" charset="0"/>
                <a:ea typeface="Lato Heavy" pitchFamily="34" charset="-122"/>
                <a:cs typeface="Lato Heavy" pitchFamily="34" charset="-120"/>
              </a:rPr>
              <a:t>Quarter-zip pullover</a:t>
            </a:r>
            <a:endParaRPr lang="en-US" sz="1060" dirty="0"/>
          </a:p>
        </p:txBody>
      </p:sp>
      <p:sp>
        <p:nvSpPr>
          <p:cNvPr id="69" name="Text 57"/>
          <p:cNvSpPr/>
          <p:nvPr/>
        </p:nvSpPr>
        <p:spPr>
          <a:xfrm>
            <a:off x="9015984" y="4654296"/>
            <a:ext cx="2304288" cy="128016"/>
          </a:xfrm>
          <a:prstGeom prst="rect">
            <a:avLst/>
          </a:prstGeom>
          <a:noFill/>
          <a:ln/>
        </p:spPr>
        <p:txBody>
          <a:bodyPr wrap="square" lIns="0" tIns="0" rIns="0" bIns="0" rtlCol="0" anchor="ctr">
            <a:normAutofit/>
          </a:bodyPr>
          <a:lstStyle/>
          <a:p>
            <a:pPr marL="0" indent="0">
              <a:buNone/>
            </a:pPr>
            <a:r>
              <a:rPr lang="en-US" sz="880" dirty="0">
                <a:solidFill>
                  <a:srgbClr val="617B94"/>
                </a:solidFill>
                <a:latin typeface="Lato" pitchFamily="34" charset="0"/>
                <a:ea typeface="Lato" pitchFamily="34" charset="-122"/>
                <a:cs typeface="Lato" pitchFamily="34" charset="-120"/>
              </a:rPr>
              <a:t>Golf and recreation apparel</a:t>
            </a:r>
            <a:endParaRPr lang="en-US" sz="880" dirty="0"/>
          </a:p>
        </p:txBody>
      </p:sp>
      <p:sp>
        <p:nvSpPr>
          <p:cNvPr id="70" name="Shape 58"/>
          <p:cNvSpPr/>
          <p:nvPr/>
        </p:nvSpPr>
        <p:spPr>
          <a:xfrm>
            <a:off x="8485632" y="4992624"/>
            <a:ext cx="2962656" cy="502920"/>
          </a:xfrm>
          <a:prstGeom prst="roundRect">
            <a:avLst>
              <a:gd name="adj" fmla="val 21818"/>
            </a:avLst>
          </a:prstGeom>
          <a:solidFill>
            <a:srgbClr val="FFFFFF"/>
          </a:solidFill>
          <a:ln w="12700">
            <a:solidFill>
              <a:srgbClr val="DDE7F0"/>
            </a:solidFill>
            <a:prstDash val="solid"/>
          </a:ln>
        </p:spPr>
        <p:txBody>
          <a:bodyPr/>
          <a:lstStyle/>
          <a:p>
            <a:endParaRPr lang="en-US"/>
          </a:p>
        </p:txBody>
      </p:sp>
      <p:sp>
        <p:nvSpPr>
          <p:cNvPr id="71" name="Shape 59"/>
          <p:cNvSpPr/>
          <p:nvPr/>
        </p:nvSpPr>
        <p:spPr>
          <a:xfrm>
            <a:off x="8577072" y="5084064"/>
            <a:ext cx="384048" cy="384048"/>
          </a:xfrm>
          <a:prstGeom prst="roundRect">
            <a:avLst>
              <a:gd name="adj" fmla="val 19048"/>
            </a:avLst>
          </a:prstGeom>
          <a:solidFill>
            <a:srgbClr val="F2F8FD"/>
          </a:solidFill>
          <a:ln w="12700">
            <a:solidFill>
              <a:srgbClr val="DCEAF6"/>
            </a:solidFill>
            <a:prstDash val="solid"/>
          </a:ln>
        </p:spPr>
        <p:txBody>
          <a:bodyPr/>
          <a:lstStyle/>
          <a:p>
            <a:endParaRPr lang="en-US"/>
          </a:p>
        </p:txBody>
      </p:sp>
      <p:pic>
        <p:nvPicPr>
          <p:cNvPr id="72" name="Image 10" descr="/mnt/data/light_blue_on_top_of_the_world_cap.png"/>
          <p:cNvPicPr>
            <a:picLocks noChangeAspect="1"/>
          </p:cNvPicPr>
          <p:nvPr/>
        </p:nvPicPr>
        <p:blipFill>
          <a:blip r:embed="rId6"/>
          <a:stretch>
            <a:fillRect/>
          </a:stretch>
        </p:blipFill>
        <p:spPr>
          <a:xfrm>
            <a:off x="8595360" y="5102352"/>
            <a:ext cx="347472" cy="256032"/>
          </a:xfrm>
          <a:prstGeom prst="rect">
            <a:avLst/>
          </a:prstGeom>
        </p:spPr>
      </p:pic>
      <p:sp>
        <p:nvSpPr>
          <p:cNvPr id="73" name="Text 60"/>
          <p:cNvSpPr/>
          <p:nvPr/>
        </p:nvSpPr>
        <p:spPr>
          <a:xfrm>
            <a:off x="9015984" y="5084064"/>
            <a:ext cx="2304288" cy="164592"/>
          </a:xfrm>
          <a:prstGeom prst="rect">
            <a:avLst/>
          </a:prstGeom>
          <a:noFill/>
          <a:ln/>
        </p:spPr>
        <p:txBody>
          <a:bodyPr wrap="square" lIns="0" tIns="0" rIns="0" bIns="0" rtlCol="0" anchor="ctr">
            <a:normAutofit/>
          </a:bodyPr>
          <a:lstStyle/>
          <a:p>
            <a:pPr marL="0" indent="0">
              <a:buNone/>
            </a:pPr>
            <a:r>
              <a:rPr lang="en-US" sz="1060" b="1" dirty="0">
                <a:solidFill>
                  <a:srgbClr val="082B4E"/>
                </a:solidFill>
                <a:latin typeface="Lato Heavy" pitchFamily="34" charset="0"/>
                <a:ea typeface="Lato Heavy" pitchFamily="34" charset="-122"/>
                <a:cs typeface="Lato Heavy" pitchFamily="34" charset="-120"/>
              </a:rPr>
              <a:t>Embroidered cap</a:t>
            </a:r>
            <a:endParaRPr lang="en-US" sz="1060" dirty="0"/>
          </a:p>
        </p:txBody>
      </p:sp>
      <p:sp>
        <p:nvSpPr>
          <p:cNvPr id="74" name="Text 61"/>
          <p:cNvSpPr/>
          <p:nvPr/>
        </p:nvSpPr>
        <p:spPr>
          <a:xfrm>
            <a:off x="9015984" y="5266944"/>
            <a:ext cx="2304288" cy="128016"/>
          </a:xfrm>
          <a:prstGeom prst="rect">
            <a:avLst/>
          </a:prstGeom>
          <a:noFill/>
          <a:ln/>
        </p:spPr>
        <p:txBody>
          <a:bodyPr wrap="square" lIns="0" tIns="0" rIns="0" bIns="0" rtlCol="0" anchor="ctr">
            <a:normAutofit/>
          </a:bodyPr>
          <a:lstStyle/>
          <a:p>
            <a:pPr marL="0" indent="0">
              <a:buNone/>
            </a:pPr>
            <a:r>
              <a:rPr lang="en-US" sz="880" dirty="0">
                <a:solidFill>
                  <a:srgbClr val="617B94"/>
                </a:solidFill>
                <a:latin typeface="Lato" pitchFamily="34" charset="0"/>
                <a:ea typeface="Lato" pitchFamily="34" charset="-122"/>
                <a:cs typeface="Lato" pitchFamily="34" charset="-120"/>
              </a:rPr>
              <a:t>Community-branded favorite</a:t>
            </a:r>
            <a:endParaRPr lang="en-US" sz="8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722376" y="886968"/>
            <a:ext cx="6583680" cy="246888"/>
          </a:xfrm>
          <a:prstGeom prst="rect">
            <a:avLst/>
          </a:prstGeom>
          <a:noFill/>
          <a:ln/>
        </p:spPr>
        <p:txBody>
          <a:bodyPr wrap="square" lIns="0" tIns="0" rIns="0" bIns="0" rtlCol="0" anchor="ctr">
            <a:normAutofit/>
          </a:bodyPr>
          <a:lstStyle/>
          <a:p>
            <a:pPr marL="0" indent="0">
              <a:buNone/>
            </a:pPr>
            <a:r>
              <a:rPr lang="en-US" sz="1200" b="1" kern="0" spc="70" dirty="0">
                <a:solidFill>
                  <a:srgbClr val="127A91"/>
                </a:solidFill>
                <a:latin typeface="Lato Heavy" pitchFamily="34" charset="0"/>
                <a:ea typeface="Lato Heavy" pitchFamily="34" charset="-122"/>
                <a:cs typeface="Lato Heavy" pitchFamily="34" charset="-120"/>
              </a:rPr>
              <a:t>BARNABY  /  ASK</a:t>
            </a:r>
            <a:endParaRPr lang="en-US" sz="1200" dirty="0"/>
          </a:p>
        </p:txBody>
      </p:sp>
      <p:sp>
        <p:nvSpPr>
          <p:cNvPr id="6" name="Text 3"/>
          <p:cNvSpPr/>
          <p:nvPr/>
        </p:nvSpPr>
        <p:spPr>
          <a:xfrm>
            <a:off x="713232" y="1179576"/>
            <a:ext cx="7315200" cy="630936"/>
          </a:xfrm>
          <a:prstGeom prst="rect">
            <a:avLst/>
          </a:prstGeom>
          <a:noFill/>
          <a:ln/>
        </p:spPr>
        <p:txBody>
          <a:bodyPr wrap="square" lIns="0" tIns="0" rIns="0" bIns="0" rtlCol="0" anchor="ctr">
            <a:normAutofit/>
          </a:bodyPr>
          <a:lstStyle/>
          <a:p>
            <a:pPr marL="0" indent="0">
              <a:buNone/>
            </a:pPr>
            <a:r>
              <a:rPr lang="en-US" sz="3400" b="1" dirty="0">
                <a:solidFill>
                  <a:srgbClr val="082B4E"/>
                </a:solidFill>
                <a:latin typeface="Lato Heavy" pitchFamily="34" charset="0"/>
                <a:ea typeface="Lato Heavy" pitchFamily="34" charset="-122"/>
                <a:cs typeface="Lato Heavy" pitchFamily="34" charset="-120"/>
              </a:rPr>
              <a:t>THE BARNABY ASSISTANT</a:t>
            </a:r>
            <a:endParaRPr lang="en-US" sz="3400" dirty="0"/>
          </a:p>
        </p:txBody>
      </p:sp>
      <p:sp>
        <p:nvSpPr>
          <p:cNvPr id="7" name="Text 4"/>
          <p:cNvSpPr/>
          <p:nvPr/>
        </p:nvSpPr>
        <p:spPr>
          <a:xfrm>
            <a:off x="731520" y="1856232"/>
            <a:ext cx="6858000" cy="448056"/>
          </a:xfrm>
          <a:prstGeom prst="rect">
            <a:avLst/>
          </a:prstGeom>
          <a:noFill/>
          <a:ln/>
        </p:spPr>
        <p:txBody>
          <a:bodyPr wrap="square" lIns="0" tIns="0" rIns="0" bIns="0" rtlCol="0" anchor="ctr">
            <a:normAutofit/>
          </a:bodyPr>
          <a:lstStyle/>
          <a:p>
            <a:pPr marL="0" indent="0">
              <a:buNone/>
            </a:pPr>
            <a:r>
              <a:rPr lang="en-US" sz="1950" dirty="0">
                <a:solidFill>
                  <a:srgbClr val="617B94"/>
                </a:solidFill>
                <a:latin typeface="Lato" pitchFamily="34" charset="0"/>
                <a:ea typeface="Lato" pitchFamily="34" charset="-122"/>
                <a:cs typeface="Lato" pitchFamily="34" charset="-120"/>
              </a:rPr>
              <a:t>The standout resident experience.</a:t>
            </a:r>
            <a:endParaRPr lang="en-US" sz="1950" dirty="0"/>
          </a:p>
        </p:txBody>
      </p:sp>
      <p:sp>
        <p:nvSpPr>
          <p:cNvPr id="8" name="Shape 5"/>
          <p:cNvSpPr/>
          <p:nvPr/>
        </p:nvSpPr>
        <p:spPr>
          <a:xfrm>
            <a:off x="731520" y="2770632"/>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9" name="Text 6"/>
          <p:cNvSpPr/>
          <p:nvPr/>
        </p:nvSpPr>
        <p:spPr>
          <a:xfrm>
            <a:off x="1024128" y="2651760"/>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Ask naturally instead of navigating menus</a:t>
            </a:r>
            <a:endParaRPr lang="en-US" sz="2100" dirty="0"/>
          </a:p>
        </p:txBody>
      </p:sp>
      <p:sp>
        <p:nvSpPr>
          <p:cNvPr id="10" name="Shape 7"/>
          <p:cNvSpPr/>
          <p:nvPr/>
        </p:nvSpPr>
        <p:spPr>
          <a:xfrm>
            <a:off x="731520" y="3575304"/>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1" name="Text 8"/>
          <p:cNvSpPr/>
          <p:nvPr/>
        </p:nvSpPr>
        <p:spPr>
          <a:xfrm>
            <a:off x="1024128" y="3456432"/>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Discover community information</a:t>
            </a:r>
            <a:endParaRPr lang="en-US" sz="2100" dirty="0"/>
          </a:p>
        </p:txBody>
      </p:sp>
      <p:sp>
        <p:nvSpPr>
          <p:cNvPr id="12" name="Shape 9"/>
          <p:cNvSpPr/>
          <p:nvPr/>
        </p:nvSpPr>
        <p:spPr>
          <a:xfrm>
            <a:off x="731520" y="4379976"/>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3" name="Text 10"/>
          <p:cNvSpPr/>
          <p:nvPr/>
        </p:nvSpPr>
        <p:spPr>
          <a:xfrm>
            <a:off x="1024128" y="4261104"/>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Get help finding what you need</a:t>
            </a:r>
            <a:endParaRPr lang="en-US" sz="2100" dirty="0"/>
          </a:p>
        </p:txBody>
      </p:sp>
      <p:sp>
        <p:nvSpPr>
          <p:cNvPr id="14" name="Shape 11"/>
          <p:cNvSpPr/>
          <p:nvPr/>
        </p:nvSpPr>
        <p:spPr>
          <a:xfrm>
            <a:off x="713232" y="5385816"/>
            <a:ext cx="6638544" cy="822960"/>
          </a:xfrm>
          <a:prstGeom prst="roundRect">
            <a:avLst>
              <a:gd name="adj" fmla="val 16667"/>
            </a:avLst>
          </a:prstGeom>
          <a:solidFill>
            <a:srgbClr val="EAF5FF"/>
          </a:solidFill>
          <a:ln w="12700">
            <a:solidFill>
              <a:srgbClr val="CDE3F6"/>
            </a:solidFill>
            <a:prstDash val="solid"/>
          </a:ln>
        </p:spPr>
        <p:txBody>
          <a:bodyPr/>
          <a:lstStyle/>
          <a:p>
            <a:endParaRPr lang="en-US"/>
          </a:p>
        </p:txBody>
      </p:sp>
      <p:sp>
        <p:nvSpPr>
          <p:cNvPr id="15" name="Shape 12"/>
          <p:cNvSpPr/>
          <p:nvPr/>
        </p:nvSpPr>
        <p:spPr>
          <a:xfrm>
            <a:off x="914400" y="5623560"/>
            <a:ext cx="256032" cy="256032"/>
          </a:xfrm>
          <a:prstGeom prst="ellipse">
            <a:avLst/>
          </a:prstGeom>
          <a:solidFill>
            <a:srgbClr val="057BEE"/>
          </a:solidFill>
          <a:ln w="12700">
            <a:solidFill>
              <a:srgbClr val="057BEE">
                <a:alpha val="0"/>
              </a:srgbClr>
            </a:solidFill>
            <a:prstDash val="solid"/>
          </a:ln>
        </p:spPr>
        <p:txBody>
          <a:bodyPr/>
          <a:lstStyle/>
          <a:p>
            <a:endParaRPr lang="en-US"/>
          </a:p>
        </p:txBody>
      </p:sp>
      <p:sp>
        <p:nvSpPr>
          <p:cNvPr id="16" name="Text 13"/>
          <p:cNvSpPr/>
          <p:nvPr/>
        </p:nvSpPr>
        <p:spPr>
          <a:xfrm>
            <a:off x="958291" y="5623560"/>
            <a:ext cx="1828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Lato Heavy" pitchFamily="34" charset="0"/>
                <a:ea typeface="Lato Heavy" pitchFamily="34" charset="-122"/>
                <a:cs typeface="Lato Heavy" pitchFamily="34" charset="-120"/>
              </a:rPr>
              <a:t>→</a:t>
            </a:r>
            <a:endParaRPr lang="en-US" sz="1400" dirty="0"/>
          </a:p>
        </p:txBody>
      </p:sp>
      <p:sp>
        <p:nvSpPr>
          <p:cNvPr id="17" name="Text 14"/>
          <p:cNvSpPr/>
          <p:nvPr/>
        </p:nvSpPr>
        <p:spPr>
          <a:xfrm>
            <a:off x="1307592" y="5486400"/>
            <a:ext cx="5824728" cy="612648"/>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An intelligent concierge is the differentiator—not another ordinary HOA portal.</a:t>
            </a:r>
            <a:endParaRPr lang="en-US" sz="1850" dirty="0"/>
          </a:p>
        </p:txBody>
      </p:sp>
      <p:sp>
        <p:nvSpPr>
          <p:cNvPr id="18" name="Text 15"/>
          <p:cNvSpPr/>
          <p:nvPr/>
        </p:nvSpPr>
        <p:spPr>
          <a:xfrm>
            <a:off x="10652760" y="6464808"/>
            <a:ext cx="1051560" cy="182880"/>
          </a:xfrm>
          <a:prstGeom prst="rect">
            <a:avLst/>
          </a:prstGeom>
          <a:noFill/>
          <a:ln/>
        </p:spPr>
        <p:txBody>
          <a:bodyPr wrap="square" lIns="0" tIns="0" rIns="0" bIns="0" rtlCol="0" anchor="ctr">
            <a:normAutofit/>
          </a:bodyPr>
          <a:lstStyle/>
          <a:p>
            <a:pPr marL="0" indent="0" algn="r">
              <a:buNone/>
            </a:pPr>
            <a:r>
              <a:rPr lang="en-US" sz="1000" b="1" dirty="0">
                <a:solidFill>
                  <a:srgbClr val="617B94"/>
                </a:solidFill>
                <a:latin typeface="Lato Heavy" pitchFamily="34" charset="0"/>
                <a:ea typeface="Lato Heavy" pitchFamily="34" charset="-122"/>
                <a:cs typeface="Lato Heavy" pitchFamily="34" charset="-120"/>
              </a:rPr>
              <a:t>12  /  14</a:t>
            </a:r>
            <a:endParaRPr lang="en-US" sz="1000" dirty="0"/>
          </a:p>
        </p:txBody>
      </p:sp>
      <p:sp>
        <p:nvSpPr>
          <p:cNvPr id="19" name="Text 16"/>
          <p:cNvSpPr/>
          <p:nvPr/>
        </p:nvSpPr>
        <p:spPr>
          <a:xfrm>
            <a:off x="731520" y="6446520"/>
            <a:ext cx="9052560" cy="210312"/>
          </a:xfrm>
          <a:prstGeom prst="rect">
            <a:avLst/>
          </a:prstGeom>
          <a:noFill/>
          <a:ln/>
        </p:spPr>
        <p:txBody>
          <a:bodyPr wrap="square" lIns="0" tIns="0" rIns="0" bIns="0" rtlCol="0" anchor="ctr">
            <a:normAutofit/>
          </a:bodyPr>
          <a:lstStyle/>
          <a:p>
            <a:pPr marL="0" indent="0">
              <a:buNone/>
            </a:pPr>
            <a:r>
              <a:rPr lang="en-US" sz="940" dirty="0">
                <a:solidFill>
                  <a:srgbClr val="617B94"/>
                </a:solidFill>
                <a:latin typeface="Lato" pitchFamily="34" charset="0"/>
                <a:ea typeface="Lato" pitchFamily="34" charset="-122"/>
                <a:cs typeface="Lato" pitchFamily="34" charset="-120"/>
              </a:rPr>
              <a:t>ILLUSTRATIVE CONCEPT DEMO • ON TOP OF THE WORLD COMMUNITY HIGHLIGHTS • NOT OFFICIALLY AFFILIATED</a:t>
            </a:r>
            <a:endParaRPr lang="en-US" sz="940" dirty="0"/>
          </a:p>
        </p:txBody>
      </p:sp>
      <p:sp>
        <p:nvSpPr>
          <p:cNvPr id="20" name="Shape 17"/>
          <p:cNvSpPr/>
          <p:nvPr/>
        </p:nvSpPr>
        <p:spPr>
          <a:xfrm>
            <a:off x="8375904" y="886968"/>
            <a:ext cx="3328416" cy="5541264"/>
          </a:xfrm>
          <a:prstGeom prst="roundRect">
            <a:avLst>
              <a:gd name="adj" fmla="val 4121"/>
            </a:avLst>
          </a:prstGeom>
          <a:solidFill>
            <a:srgbClr val="D7E0EA"/>
          </a:solidFill>
          <a:ln w="12700">
            <a:solidFill>
              <a:srgbClr val="D7E0EA">
                <a:alpha val="0"/>
              </a:srgbClr>
            </a:solidFill>
            <a:prstDash val="solid"/>
          </a:ln>
        </p:spPr>
        <p:txBody>
          <a:bodyPr/>
          <a:lstStyle/>
          <a:p>
            <a:endParaRPr lang="en-US"/>
          </a:p>
        </p:txBody>
      </p:sp>
      <p:sp>
        <p:nvSpPr>
          <p:cNvPr id="21" name="Shape 18"/>
          <p:cNvSpPr/>
          <p:nvPr/>
        </p:nvSpPr>
        <p:spPr>
          <a:xfrm>
            <a:off x="8302752" y="795528"/>
            <a:ext cx="3328416" cy="5541264"/>
          </a:xfrm>
          <a:prstGeom prst="roundRect">
            <a:avLst>
              <a:gd name="adj" fmla="val 4121"/>
            </a:avLst>
          </a:prstGeom>
          <a:solidFill>
            <a:srgbClr val="071522"/>
          </a:solidFill>
          <a:ln w="12700">
            <a:solidFill>
              <a:srgbClr val="071522">
                <a:alpha val="0"/>
              </a:srgbClr>
            </a:solidFill>
            <a:prstDash val="solid"/>
          </a:ln>
        </p:spPr>
        <p:txBody>
          <a:bodyPr/>
          <a:lstStyle/>
          <a:p>
            <a:endParaRPr lang="en-US"/>
          </a:p>
        </p:txBody>
      </p:sp>
      <p:sp>
        <p:nvSpPr>
          <p:cNvPr id="22" name="Shape 19"/>
          <p:cNvSpPr/>
          <p:nvPr/>
        </p:nvSpPr>
        <p:spPr>
          <a:xfrm>
            <a:off x="8394192" y="886968"/>
            <a:ext cx="3145536" cy="5358384"/>
          </a:xfrm>
          <a:prstGeom prst="roundRect">
            <a:avLst>
              <a:gd name="adj" fmla="val 4360"/>
            </a:avLst>
          </a:prstGeom>
          <a:solidFill>
            <a:srgbClr val="FFFFFF"/>
          </a:solidFill>
          <a:ln w="12700">
            <a:solidFill>
              <a:srgbClr val="FFFFFF">
                <a:alpha val="0"/>
              </a:srgbClr>
            </a:solidFill>
            <a:prstDash val="solid"/>
          </a:ln>
        </p:spPr>
        <p:txBody>
          <a:bodyPr/>
          <a:lstStyle/>
          <a:p>
            <a:endParaRPr lang="en-US"/>
          </a:p>
        </p:txBody>
      </p:sp>
      <p:sp>
        <p:nvSpPr>
          <p:cNvPr id="23" name="Shape 20"/>
          <p:cNvSpPr/>
          <p:nvPr/>
        </p:nvSpPr>
        <p:spPr>
          <a:xfrm>
            <a:off x="9454896" y="850392"/>
            <a:ext cx="1014984" cy="173736"/>
          </a:xfrm>
          <a:prstGeom prst="roundRect">
            <a:avLst>
              <a:gd name="adj" fmla="val 78947"/>
            </a:avLst>
          </a:prstGeom>
          <a:solidFill>
            <a:srgbClr val="071522"/>
          </a:solidFill>
          <a:ln w="12700">
            <a:solidFill>
              <a:srgbClr val="071522">
                <a:alpha val="0"/>
              </a:srgbClr>
            </a:solidFill>
            <a:prstDash val="solid"/>
          </a:ln>
        </p:spPr>
        <p:txBody>
          <a:bodyPr/>
          <a:lstStyle/>
          <a:p>
            <a:endParaRPr lang="en-US"/>
          </a:p>
        </p:txBody>
      </p:sp>
      <p:sp>
        <p:nvSpPr>
          <p:cNvPr id="24" name="Text 21"/>
          <p:cNvSpPr/>
          <p:nvPr/>
        </p:nvSpPr>
        <p:spPr>
          <a:xfrm>
            <a:off x="8558784" y="978408"/>
            <a:ext cx="566928" cy="210312"/>
          </a:xfrm>
          <a:prstGeom prst="rect">
            <a:avLst/>
          </a:prstGeom>
          <a:noFill/>
          <a:ln/>
        </p:spPr>
        <p:txBody>
          <a:bodyPr wrap="square" lIns="0" tIns="0" rIns="0" bIns="0" rtlCol="0" anchor="ctr">
            <a:normAutofit/>
          </a:bodyPr>
          <a:lstStyle/>
          <a:p>
            <a:pPr marL="0" indent="0">
              <a:buNone/>
            </a:pPr>
            <a:r>
              <a:rPr lang="en-US" sz="1000" b="1" dirty="0">
                <a:solidFill>
                  <a:srgbClr val="2A4157"/>
                </a:solidFill>
                <a:latin typeface="Lato Heavy" pitchFamily="34" charset="0"/>
                <a:ea typeface="Lato Heavy" pitchFamily="34" charset="-122"/>
                <a:cs typeface="Lato Heavy" pitchFamily="34" charset="-120"/>
              </a:rPr>
              <a:t>9:41</a:t>
            </a:r>
            <a:endParaRPr lang="en-US" sz="1000" dirty="0"/>
          </a:p>
        </p:txBody>
      </p:sp>
      <p:sp>
        <p:nvSpPr>
          <p:cNvPr id="25" name="Text 22"/>
          <p:cNvSpPr/>
          <p:nvPr/>
        </p:nvSpPr>
        <p:spPr>
          <a:xfrm>
            <a:off x="10561320" y="978408"/>
            <a:ext cx="685800" cy="210312"/>
          </a:xfrm>
          <a:prstGeom prst="rect">
            <a:avLst/>
          </a:prstGeom>
          <a:noFill/>
          <a:ln/>
        </p:spPr>
        <p:txBody>
          <a:bodyPr wrap="square" lIns="0" tIns="0" rIns="0" bIns="0" rtlCol="0" anchor="ctr">
            <a:normAutofit/>
          </a:bodyPr>
          <a:lstStyle/>
          <a:p>
            <a:pPr marL="0" indent="0" algn="r">
              <a:buNone/>
            </a:pPr>
            <a:r>
              <a:rPr lang="en-US" sz="900" b="1" dirty="0">
                <a:solidFill>
                  <a:srgbClr val="2A4157"/>
                </a:solidFill>
                <a:latin typeface="Lato Heavy" pitchFamily="34" charset="0"/>
                <a:ea typeface="Lato Heavy" pitchFamily="34" charset="-122"/>
                <a:cs typeface="Lato Heavy" pitchFamily="34" charset="-120"/>
              </a:rPr>
              <a:t>▰  Wi-Fi</a:t>
            </a:r>
            <a:endParaRPr lang="en-US" sz="900" dirty="0"/>
          </a:p>
        </p:txBody>
      </p:sp>
      <p:sp>
        <p:nvSpPr>
          <p:cNvPr id="26" name="Text 23"/>
          <p:cNvSpPr/>
          <p:nvPr/>
        </p:nvSpPr>
        <p:spPr>
          <a:xfrm>
            <a:off x="8485632" y="1298448"/>
            <a:ext cx="2962656" cy="283464"/>
          </a:xfrm>
          <a:prstGeom prst="rect">
            <a:avLst/>
          </a:prstGeom>
          <a:noFill/>
          <a:ln/>
        </p:spPr>
        <p:txBody>
          <a:bodyPr wrap="square" lIns="0" tIns="0" rIns="0" bIns="0" rtlCol="0" anchor="ctr">
            <a:normAutofit/>
          </a:bodyPr>
          <a:lstStyle/>
          <a:p>
            <a:pPr marL="0" indent="0" algn="ctr">
              <a:buNone/>
            </a:pPr>
            <a:r>
              <a:rPr lang="en-US" sz="1370" b="1" dirty="0">
                <a:solidFill>
                  <a:srgbClr val="082B4E"/>
                </a:solidFill>
                <a:latin typeface="Lato Heavy" pitchFamily="34" charset="0"/>
                <a:ea typeface="Lato Heavy" pitchFamily="34" charset="-122"/>
                <a:cs typeface="Lato Heavy" pitchFamily="34" charset="-120"/>
              </a:rPr>
              <a:t>On Top of the World</a:t>
            </a:r>
            <a:endParaRPr lang="en-US" sz="1370" dirty="0"/>
          </a:p>
        </p:txBody>
      </p:sp>
      <p:pic>
        <p:nvPicPr>
          <p:cNvPr id="27" name="Image 1" descr="/mnt/data/barnaby_hd_work/otow_gradient.png"/>
          <p:cNvPicPr>
            <a:picLocks noChangeAspect="1"/>
          </p:cNvPicPr>
          <p:nvPr/>
        </p:nvPicPr>
        <p:blipFill>
          <a:blip r:embed="rId4"/>
          <a:stretch>
            <a:fillRect/>
          </a:stretch>
        </p:blipFill>
        <p:spPr>
          <a:xfrm>
            <a:off x="8403336" y="1691640"/>
            <a:ext cx="3127248" cy="804672"/>
          </a:xfrm>
          <a:prstGeom prst="rect">
            <a:avLst/>
          </a:prstGeom>
        </p:spPr>
      </p:pic>
      <p:sp>
        <p:nvSpPr>
          <p:cNvPr id="28" name="Text 24"/>
          <p:cNvSpPr/>
          <p:nvPr/>
        </p:nvSpPr>
        <p:spPr>
          <a:xfrm>
            <a:off x="8586216" y="1783080"/>
            <a:ext cx="274320" cy="27432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Lato Heavy" pitchFamily="34" charset="0"/>
                <a:ea typeface="Lato Heavy" pitchFamily="34" charset="-122"/>
                <a:cs typeface="Lato Heavy" pitchFamily="34" charset="-120"/>
              </a:rPr>
              <a:t>≡</a:t>
            </a:r>
            <a:endParaRPr lang="en-US" sz="1900" dirty="0"/>
          </a:p>
        </p:txBody>
      </p:sp>
      <p:sp>
        <p:nvSpPr>
          <p:cNvPr id="29" name="Text 25"/>
          <p:cNvSpPr/>
          <p:nvPr/>
        </p:nvSpPr>
        <p:spPr>
          <a:xfrm>
            <a:off x="9025128" y="1810512"/>
            <a:ext cx="1920240" cy="201168"/>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Lato Heavy" pitchFamily="34" charset="0"/>
                <a:ea typeface="Lato Heavy" pitchFamily="34" charset="-122"/>
                <a:cs typeface="Lato Heavy" pitchFamily="34" charset="-120"/>
              </a:rPr>
              <a:t>On Top of the World</a:t>
            </a:r>
            <a:endParaRPr lang="en-US" sz="1200" dirty="0"/>
          </a:p>
        </p:txBody>
      </p:sp>
      <p:sp>
        <p:nvSpPr>
          <p:cNvPr id="30" name="Text 26"/>
          <p:cNvSpPr/>
          <p:nvPr/>
        </p:nvSpPr>
        <p:spPr>
          <a:xfrm>
            <a:off x="8567928" y="2148840"/>
            <a:ext cx="2377440" cy="301752"/>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Lato Heavy" pitchFamily="34" charset="0"/>
                <a:ea typeface="Lato Heavy" pitchFamily="34" charset="-122"/>
                <a:cs typeface="Lato Heavy" pitchFamily="34" charset="-120"/>
              </a:rPr>
              <a:t>INFO</a:t>
            </a:r>
            <a:endParaRPr lang="en-US" sz="1800" dirty="0"/>
          </a:p>
        </p:txBody>
      </p:sp>
      <p:sp>
        <p:nvSpPr>
          <p:cNvPr id="31" name="Shape 27"/>
          <p:cNvSpPr/>
          <p:nvPr/>
        </p:nvSpPr>
        <p:spPr>
          <a:xfrm>
            <a:off x="8449056" y="5705856"/>
            <a:ext cx="3035808" cy="420624"/>
          </a:xfrm>
          <a:prstGeom prst="roundRect">
            <a:avLst>
              <a:gd name="adj" fmla="val 32609"/>
            </a:avLst>
          </a:prstGeom>
          <a:solidFill>
            <a:srgbClr val="F8FBFE"/>
          </a:solidFill>
          <a:ln w="12700">
            <a:solidFill>
              <a:srgbClr val="F8FBFE">
                <a:alpha val="0"/>
              </a:srgbClr>
            </a:solidFill>
            <a:prstDash val="solid"/>
          </a:ln>
        </p:spPr>
        <p:txBody>
          <a:bodyPr/>
          <a:lstStyle/>
          <a:p>
            <a:endParaRPr lang="en-US"/>
          </a:p>
        </p:txBody>
      </p:sp>
      <p:sp>
        <p:nvSpPr>
          <p:cNvPr id="32" name="Text 28"/>
          <p:cNvSpPr/>
          <p:nvPr/>
        </p:nvSpPr>
        <p:spPr>
          <a:xfrm>
            <a:off x="8677656"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3" name="Text 29"/>
          <p:cNvSpPr/>
          <p:nvPr/>
        </p:nvSpPr>
        <p:spPr>
          <a:xfrm>
            <a:off x="8595360"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Home</a:t>
            </a:r>
            <a:endParaRPr lang="en-US" sz="820" dirty="0"/>
          </a:p>
        </p:txBody>
      </p:sp>
      <p:sp>
        <p:nvSpPr>
          <p:cNvPr id="34" name="Text 30"/>
          <p:cNvSpPr/>
          <p:nvPr/>
        </p:nvSpPr>
        <p:spPr>
          <a:xfrm>
            <a:off x="9372600"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5" name="Text 31"/>
          <p:cNvSpPr/>
          <p:nvPr/>
        </p:nvSpPr>
        <p:spPr>
          <a:xfrm>
            <a:off x="9290304"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Outings</a:t>
            </a:r>
            <a:endParaRPr lang="en-US" sz="820" dirty="0"/>
          </a:p>
        </p:txBody>
      </p:sp>
      <p:sp>
        <p:nvSpPr>
          <p:cNvPr id="36" name="Text 32"/>
          <p:cNvSpPr/>
          <p:nvPr/>
        </p:nvSpPr>
        <p:spPr>
          <a:xfrm>
            <a:off x="10067544"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7" name="Text 33"/>
          <p:cNvSpPr/>
          <p:nvPr/>
        </p:nvSpPr>
        <p:spPr>
          <a:xfrm>
            <a:off x="9985248"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Messages</a:t>
            </a:r>
            <a:endParaRPr lang="en-US" sz="820" dirty="0"/>
          </a:p>
        </p:txBody>
      </p:sp>
      <p:sp>
        <p:nvSpPr>
          <p:cNvPr id="38" name="Text 34"/>
          <p:cNvSpPr/>
          <p:nvPr/>
        </p:nvSpPr>
        <p:spPr>
          <a:xfrm>
            <a:off x="10762488"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9" name="Text 35"/>
          <p:cNvSpPr/>
          <p:nvPr/>
        </p:nvSpPr>
        <p:spPr>
          <a:xfrm>
            <a:off x="10680192"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More</a:t>
            </a:r>
            <a:endParaRPr lang="en-US" sz="820" dirty="0"/>
          </a:p>
        </p:txBody>
      </p:sp>
      <p:sp>
        <p:nvSpPr>
          <p:cNvPr id="40" name="Text 36"/>
          <p:cNvSpPr/>
          <p:nvPr/>
        </p:nvSpPr>
        <p:spPr>
          <a:xfrm>
            <a:off x="8485632" y="2587752"/>
            <a:ext cx="2962656" cy="338328"/>
          </a:xfrm>
          <a:prstGeom prst="rect">
            <a:avLst/>
          </a:prstGeom>
          <a:noFill/>
          <a:ln/>
        </p:spPr>
        <p:txBody>
          <a:bodyPr wrap="square" lIns="0" tIns="0" rIns="0" bIns="0" rtlCol="0" anchor="ctr">
            <a:normAutofit/>
          </a:bodyPr>
          <a:lstStyle/>
          <a:p>
            <a:pPr marL="0" indent="0">
              <a:buNone/>
            </a:pPr>
            <a:r>
              <a:rPr lang="en-US" sz="1700" b="1" dirty="0">
                <a:solidFill>
                  <a:srgbClr val="082B4E"/>
                </a:solidFill>
                <a:latin typeface="Lato Heavy" pitchFamily="34" charset="0"/>
                <a:ea typeface="Lato Heavy" pitchFamily="34" charset="-122"/>
                <a:cs typeface="Lato Heavy" pitchFamily="34" charset="-120"/>
              </a:rPr>
              <a:t>Ask Barnaby</a:t>
            </a:r>
            <a:endParaRPr lang="en-US" sz="1700" dirty="0"/>
          </a:p>
        </p:txBody>
      </p:sp>
      <p:sp>
        <p:nvSpPr>
          <p:cNvPr id="41" name="Text 37"/>
          <p:cNvSpPr/>
          <p:nvPr/>
        </p:nvSpPr>
        <p:spPr>
          <a:xfrm>
            <a:off x="8485632" y="2926080"/>
            <a:ext cx="2962656" cy="228600"/>
          </a:xfrm>
          <a:prstGeom prst="rect">
            <a:avLst/>
          </a:prstGeom>
          <a:noFill/>
          <a:ln/>
        </p:spPr>
        <p:txBody>
          <a:bodyPr wrap="square" lIns="0" tIns="0" rIns="0" bIns="0" rtlCol="0" anchor="ctr">
            <a:normAutofit/>
          </a:bodyPr>
          <a:lstStyle/>
          <a:p>
            <a:pPr marL="0" indent="0">
              <a:buNone/>
            </a:pPr>
            <a:r>
              <a:rPr lang="en-US" sz="1000" dirty="0">
                <a:solidFill>
                  <a:srgbClr val="617B94"/>
                </a:solidFill>
                <a:latin typeface="Lato" pitchFamily="34" charset="0"/>
                <a:ea typeface="Lato" pitchFamily="34" charset="-122"/>
                <a:cs typeface="Lato" pitchFamily="34" charset="-120"/>
              </a:rPr>
              <a:t>Speak or type your community question</a:t>
            </a:r>
            <a:endParaRPr lang="en-US" sz="1000" dirty="0"/>
          </a:p>
        </p:txBody>
      </p:sp>
      <p:sp>
        <p:nvSpPr>
          <p:cNvPr id="42" name="Shape 38"/>
          <p:cNvSpPr/>
          <p:nvPr/>
        </p:nvSpPr>
        <p:spPr>
          <a:xfrm>
            <a:off x="8485632" y="3300984"/>
            <a:ext cx="2962656" cy="475488"/>
          </a:xfrm>
          <a:prstGeom prst="roundRect">
            <a:avLst>
              <a:gd name="adj" fmla="val 23077"/>
            </a:avLst>
          </a:prstGeom>
          <a:solidFill>
            <a:srgbClr val="FFFFFF"/>
          </a:solidFill>
          <a:ln w="12700">
            <a:solidFill>
              <a:srgbClr val="DDE7F0"/>
            </a:solidFill>
            <a:prstDash val="solid"/>
          </a:ln>
        </p:spPr>
        <p:txBody>
          <a:bodyPr/>
          <a:lstStyle/>
          <a:p>
            <a:endParaRPr lang="en-US"/>
          </a:p>
        </p:txBody>
      </p:sp>
      <p:sp>
        <p:nvSpPr>
          <p:cNvPr id="43" name="Text 39"/>
          <p:cNvSpPr/>
          <p:nvPr/>
        </p:nvSpPr>
        <p:spPr>
          <a:xfrm>
            <a:off x="8613648" y="3410712"/>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What is happening this week?</a:t>
            </a:r>
            <a:endParaRPr lang="en-US" sz="1200" dirty="0"/>
          </a:p>
        </p:txBody>
      </p:sp>
      <p:sp>
        <p:nvSpPr>
          <p:cNvPr id="44" name="Shape 40"/>
          <p:cNvSpPr/>
          <p:nvPr/>
        </p:nvSpPr>
        <p:spPr>
          <a:xfrm>
            <a:off x="8485632" y="3867912"/>
            <a:ext cx="2962656" cy="475488"/>
          </a:xfrm>
          <a:prstGeom prst="roundRect">
            <a:avLst>
              <a:gd name="adj" fmla="val 23077"/>
            </a:avLst>
          </a:prstGeom>
          <a:solidFill>
            <a:srgbClr val="FFFFFF"/>
          </a:solidFill>
          <a:ln w="12700">
            <a:solidFill>
              <a:srgbClr val="DDE7F0"/>
            </a:solidFill>
            <a:prstDash val="solid"/>
          </a:ln>
        </p:spPr>
        <p:txBody>
          <a:bodyPr/>
          <a:lstStyle/>
          <a:p>
            <a:endParaRPr lang="en-US"/>
          </a:p>
        </p:txBody>
      </p:sp>
      <p:sp>
        <p:nvSpPr>
          <p:cNvPr id="45" name="Text 41"/>
          <p:cNvSpPr/>
          <p:nvPr/>
        </p:nvSpPr>
        <p:spPr>
          <a:xfrm>
            <a:off x="8613648" y="3977640"/>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What are the fitness center hours?</a:t>
            </a:r>
            <a:endParaRPr lang="en-US" sz="1200" dirty="0"/>
          </a:p>
        </p:txBody>
      </p:sp>
      <p:sp>
        <p:nvSpPr>
          <p:cNvPr id="46" name="Shape 42"/>
          <p:cNvSpPr/>
          <p:nvPr/>
        </p:nvSpPr>
        <p:spPr>
          <a:xfrm>
            <a:off x="8485632" y="4434840"/>
            <a:ext cx="2962656" cy="475488"/>
          </a:xfrm>
          <a:prstGeom prst="roundRect">
            <a:avLst>
              <a:gd name="adj" fmla="val 23077"/>
            </a:avLst>
          </a:prstGeom>
          <a:solidFill>
            <a:srgbClr val="FFFFFF"/>
          </a:solidFill>
          <a:ln w="12700">
            <a:solidFill>
              <a:srgbClr val="DDE7F0"/>
            </a:solidFill>
            <a:prstDash val="solid"/>
          </a:ln>
        </p:spPr>
        <p:txBody>
          <a:bodyPr/>
          <a:lstStyle/>
          <a:p>
            <a:endParaRPr lang="en-US"/>
          </a:p>
        </p:txBody>
      </p:sp>
      <p:sp>
        <p:nvSpPr>
          <p:cNvPr id="47" name="Text 43"/>
          <p:cNvSpPr/>
          <p:nvPr/>
        </p:nvSpPr>
        <p:spPr>
          <a:xfrm>
            <a:off x="8613648" y="4544568"/>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Help me reserve a court.</a:t>
            </a:r>
            <a:endParaRPr lang="en-US" sz="1200" dirty="0"/>
          </a:p>
        </p:txBody>
      </p:sp>
      <p:sp>
        <p:nvSpPr>
          <p:cNvPr id="48" name="Shape 44"/>
          <p:cNvSpPr/>
          <p:nvPr/>
        </p:nvSpPr>
        <p:spPr>
          <a:xfrm>
            <a:off x="8485632" y="5001768"/>
            <a:ext cx="2962656" cy="475488"/>
          </a:xfrm>
          <a:prstGeom prst="roundRect">
            <a:avLst>
              <a:gd name="adj" fmla="val 23077"/>
            </a:avLst>
          </a:prstGeom>
          <a:solidFill>
            <a:srgbClr val="FFFFFF"/>
          </a:solidFill>
          <a:ln w="12700">
            <a:solidFill>
              <a:srgbClr val="DDE7F0"/>
            </a:solidFill>
            <a:prstDash val="solid"/>
          </a:ln>
        </p:spPr>
        <p:txBody>
          <a:bodyPr/>
          <a:lstStyle/>
          <a:p>
            <a:endParaRPr lang="en-US"/>
          </a:p>
        </p:txBody>
      </p:sp>
      <p:sp>
        <p:nvSpPr>
          <p:cNvPr id="49" name="Text 45"/>
          <p:cNvSpPr/>
          <p:nvPr/>
        </p:nvSpPr>
        <p:spPr>
          <a:xfrm>
            <a:off x="8613648" y="5111496"/>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Show nearby service providers.</a:t>
            </a:r>
            <a:endParaRPr lang="en-US" sz="1200" dirty="0"/>
          </a:p>
        </p:txBody>
      </p:sp>
      <p:sp>
        <p:nvSpPr>
          <p:cNvPr id="50" name="Shape 46"/>
          <p:cNvSpPr/>
          <p:nvPr/>
        </p:nvSpPr>
        <p:spPr>
          <a:xfrm>
            <a:off x="9089136" y="5751576"/>
            <a:ext cx="1828800" cy="265176"/>
          </a:xfrm>
          <a:prstGeom prst="roundRect">
            <a:avLst>
              <a:gd name="adj" fmla="val 34483"/>
            </a:avLst>
          </a:prstGeom>
          <a:solidFill>
            <a:srgbClr val="057BEE"/>
          </a:solidFill>
          <a:ln w="12700">
            <a:solidFill>
              <a:srgbClr val="057BEE"/>
            </a:solidFill>
            <a:prstDash val="solid"/>
          </a:ln>
        </p:spPr>
        <p:txBody>
          <a:bodyPr/>
          <a:lstStyle/>
          <a:p>
            <a:endParaRPr lang="en-US"/>
          </a:p>
        </p:txBody>
      </p:sp>
      <p:sp>
        <p:nvSpPr>
          <p:cNvPr id="51" name="Text 47"/>
          <p:cNvSpPr/>
          <p:nvPr/>
        </p:nvSpPr>
        <p:spPr>
          <a:xfrm>
            <a:off x="9116568" y="5797296"/>
            <a:ext cx="1773936" cy="146304"/>
          </a:xfrm>
          <a:prstGeom prst="rect">
            <a:avLst/>
          </a:prstGeom>
          <a:noFill/>
          <a:ln/>
        </p:spPr>
        <p:txBody>
          <a:bodyPr wrap="square" lIns="0" tIns="0" rIns="0" bIns="0" rtlCol="0" anchor="ctr">
            <a:normAutofit/>
          </a:bodyPr>
          <a:lstStyle/>
          <a:p>
            <a:pPr marL="0" indent="0" algn="ctr">
              <a:buNone/>
            </a:pPr>
            <a:r>
              <a:rPr lang="en-US" sz="880" b="1" dirty="0">
                <a:solidFill>
                  <a:srgbClr val="FFFFFF"/>
                </a:solidFill>
                <a:latin typeface="Lato Heavy" pitchFamily="34" charset="0"/>
                <a:ea typeface="Lato Heavy" pitchFamily="34" charset="-122"/>
                <a:cs typeface="Lato Heavy" pitchFamily="34" charset="-120"/>
              </a:rPr>
              <a:t>Ask Barnaby</a:t>
            </a:r>
            <a:endParaRPr lang="en-US" sz="8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722376" y="886968"/>
            <a:ext cx="6583680" cy="246888"/>
          </a:xfrm>
          <a:prstGeom prst="rect">
            <a:avLst/>
          </a:prstGeom>
          <a:noFill/>
          <a:ln/>
        </p:spPr>
        <p:txBody>
          <a:bodyPr wrap="square" lIns="0" tIns="0" rIns="0" bIns="0" rtlCol="0" anchor="ctr">
            <a:normAutofit/>
          </a:bodyPr>
          <a:lstStyle/>
          <a:p>
            <a:pPr marL="0" indent="0">
              <a:buNone/>
            </a:pPr>
            <a:r>
              <a:rPr lang="en-US" sz="1200" b="1" kern="0" spc="70" dirty="0">
                <a:solidFill>
                  <a:srgbClr val="127A91"/>
                </a:solidFill>
                <a:latin typeface="Lato Heavy" pitchFamily="34" charset="0"/>
                <a:ea typeface="Lato Heavy" pitchFamily="34" charset="-122"/>
                <a:cs typeface="Lato Heavy" pitchFamily="34" charset="-120"/>
              </a:rPr>
              <a:t>BARNABY  /  ASSISTANT</a:t>
            </a:r>
            <a:endParaRPr lang="en-US" sz="1200" dirty="0"/>
          </a:p>
        </p:txBody>
      </p:sp>
      <p:sp>
        <p:nvSpPr>
          <p:cNvPr id="6" name="Text 3"/>
          <p:cNvSpPr/>
          <p:nvPr/>
        </p:nvSpPr>
        <p:spPr>
          <a:xfrm>
            <a:off x="713232" y="1179576"/>
            <a:ext cx="7315200" cy="630936"/>
          </a:xfrm>
          <a:prstGeom prst="rect">
            <a:avLst/>
          </a:prstGeom>
          <a:noFill/>
          <a:ln/>
        </p:spPr>
        <p:txBody>
          <a:bodyPr wrap="square" lIns="0" tIns="0" rIns="0" bIns="0" rtlCol="0" anchor="ctr">
            <a:normAutofit/>
          </a:bodyPr>
          <a:lstStyle/>
          <a:p>
            <a:pPr marL="0" indent="0">
              <a:buNone/>
            </a:pPr>
            <a:r>
              <a:rPr lang="en-US" sz="3400" b="1" dirty="0">
                <a:solidFill>
                  <a:srgbClr val="082B4E"/>
                </a:solidFill>
                <a:latin typeface="Lato Heavy" pitchFamily="34" charset="0"/>
                <a:ea typeface="Lato Heavy" pitchFamily="34" charset="-122"/>
                <a:cs typeface="Lato Heavy" pitchFamily="34" charset="-120"/>
              </a:rPr>
              <a:t>ASK. DISCOVER. DO.</a:t>
            </a:r>
            <a:endParaRPr lang="en-US" sz="3400" dirty="0"/>
          </a:p>
        </p:txBody>
      </p:sp>
      <p:sp>
        <p:nvSpPr>
          <p:cNvPr id="7" name="Text 4"/>
          <p:cNvSpPr/>
          <p:nvPr/>
        </p:nvSpPr>
        <p:spPr>
          <a:xfrm>
            <a:off x="731520" y="1856232"/>
            <a:ext cx="6858000" cy="448056"/>
          </a:xfrm>
          <a:prstGeom prst="rect">
            <a:avLst/>
          </a:prstGeom>
          <a:noFill/>
          <a:ln/>
        </p:spPr>
        <p:txBody>
          <a:bodyPr wrap="square" lIns="0" tIns="0" rIns="0" bIns="0" rtlCol="0" anchor="ctr">
            <a:normAutofit/>
          </a:bodyPr>
          <a:lstStyle/>
          <a:p>
            <a:pPr marL="0" indent="0">
              <a:buNone/>
            </a:pPr>
            <a:r>
              <a:rPr lang="en-US" sz="1950" dirty="0">
                <a:solidFill>
                  <a:srgbClr val="617B94"/>
                </a:solidFill>
                <a:latin typeface="Lato" pitchFamily="34" charset="0"/>
                <a:ea typeface="Lato" pitchFamily="34" charset="-122"/>
                <a:cs typeface="Lato" pitchFamily="34" charset="-120"/>
              </a:rPr>
              <a:t>The assistant turns questions into answers.</a:t>
            </a:r>
            <a:endParaRPr lang="en-US" sz="1950" dirty="0"/>
          </a:p>
        </p:txBody>
      </p:sp>
      <p:sp>
        <p:nvSpPr>
          <p:cNvPr id="8" name="Shape 5"/>
          <p:cNvSpPr/>
          <p:nvPr/>
        </p:nvSpPr>
        <p:spPr>
          <a:xfrm>
            <a:off x="731520" y="2770632"/>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9" name="Text 6"/>
          <p:cNvSpPr/>
          <p:nvPr/>
        </p:nvSpPr>
        <p:spPr>
          <a:xfrm>
            <a:off x="1024128" y="2651760"/>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“What can I do this weekend?”</a:t>
            </a:r>
            <a:endParaRPr lang="en-US" sz="2100" dirty="0"/>
          </a:p>
        </p:txBody>
      </p:sp>
      <p:sp>
        <p:nvSpPr>
          <p:cNvPr id="10" name="Shape 7"/>
          <p:cNvSpPr/>
          <p:nvPr/>
        </p:nvSpPr>
        <p:spPr>
          <a:xfrm>
            <a:off x="731520" y="3575304"/>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1" name="Text 8"/>
          <p:cNvSpPr/>
          <p:nvPr/>
        </p:nvSpPr>
        <p:spPr>
          <a:xfrm>
            <a:off x="1024128" y="3456432"/>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Find activities and club information</a:t>
            </a:r>
            <a:endParaRPr lang="en-US" sz="2100" dirty="0"/>
          </a:p>
        </p:txBody>
      </p:sp>
      <p:sp>
        <p:nvSpPr>
          <p:cNvPr id="12" name="Shape 9"/>
          <p:cNvSpPr/>
          <p:nvPr/>
        </p:nvSpPr>
        <p:spPr>
          <a:xfrm>
            <a:off x="731520" y="4379976"/>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3" name="Text 10"/>
          <p:cNvSpPr/>
          <p:nvPr/>
        </p:nvSpPr>
        <p:spPr>
          <a:xfrm>
            <a:off x="1024128" y="4261104"/>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Guide residents to the next step</a:t>
            </a:r>
            <a:endParaRPr lang="en-US" sz="2100" dirty="0"/>
          </a:p>
        </p:txBody>
      </p:sp>
      <p:sp>
        <p:nvSpPr>
          <p:cNvPr id="14" name="Shape 11"/>
          <p:cNvSpPr/>
          <p:nvPr/>
        </p:nvSpPr>
        <p:spPr>
          <a:xfrm>
            <a:off x="713232" y="5385816"/>
            <a:ext cx="6638544" cy="822960"/>
          </a:xfrm>
          <a:prstGeom prst="roundRect">
            <a:avLst>
              <a:gd name="adj" fmla="val 16667"/>
            </a:avLst>
          </a:prstGeom>
          <a:solidFill>
            <a:srgbClr val="EAF5FF"/>
          </a:solidFill>
          <a:ln w="12700">
            <a:solidFill>
              <a:srgbClr val="CDE3F6"/>
            </a:solidFill>
            <a:prstDash val="solid"/>
          </a:ln>
        </p:spPr>
        <p:txBody>
          <a:bodyPr/>
          <a:lstStyle/>
          <a:p>
            <a:endParaRPr lang="en-US"/>
          </a:p>
        </p:txBody>
      </p:sp>
      <p:sp>
        <p:nvSpPr>
          <p:cNvPr id="15" name="Shape 12"/>
          <p:cNvSpPr/>
          <p:nvPr/>
        </p:nvSpPr>
        <p:spPr>
          <a:xfrm>
            <a:off x="914400" y="5623560"/>
            <a:ext cx="256032" cy="256032"/>
          </a:xfrm>
          <a:prstGeom prst="ellipse">
            <a:avLst/>
          </a:prstGeom>
          <a:solidFill>
            <a:srgbClr val="057BEE"/>
          </a:solidFill>
          <a:ln w="12700">
            <a:solidFill>
              <a:srgbClr val="057BEE">
                <a:alpha val="0"/>
              </a:srgbClr>
            </a:solidFill>
            <a:prstDash val="solid"/>
          </a:ln>
        </p:spPr>
        <p:txBody>
          <a:bodyPr/>
          <a:lstStyle/>
          <a:p>
            <a:endParaRPr lang="en-US"/>
          </a:p>
        </p:txBody>
      </p:sp>
      <p:sp>
        <p:nvSpPr>
          <p:cNvPr id="16" name="Text 13"/>
          <p:cNvSpPr/>
          <p:nvPr/>
        </p:nvSpPr>
        <p:spPr>
          <a:xfrm>
            <a:off x="958291" y="5623560"/>
            <a:ext cx="1828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Lato Heavy" pitchFamily="34" charset="0"/>
                <a:ea typeface="Lato Heavy" pitchFamily="34" charset="-122"/>
                <a:cs typeface="Lato Heavy" pitchFamily="34" charset="-120"/>
              </a:rPr>
              <a:t>→</a:t>
            </a:r>
            <a:endParaRPr lang="en-US" sz="1400" dirty="0"/>
          </a:p>
        </p:txBody>
      </p:sp>
      <p:sp>
        <p:nvSpPr>
          <p:cNvPr id="17" name="Text 14"/>
          <p:cNvSpPr/>
          <p:nvPr/>
        </p:nvSpPr>
        <p:spPr>
          <a:xfrm>
            <a:off x="1307592" y="5486400"/>
            <a:ext cx="5824728" cy="612648"/>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Make community services approachable through everyday language.</a:t>
            </a:r>
            <a:endParaRPr lang="en-US" sz="1850" dirty="0"/>
          </a:p>
        </p:txBody>
      </p:sp>
      <p:sp>
        <p:nvSpPr>
          <p:cNvPr id="18" name="Text 15"/>
          <p:cNvSpPr/>
          <p:nvPr/>
        </p:nvSpPr>
        <p:spPr>
          <a:xfrm>
            <a:off x="10652760" y="6464808"/>
            <a:ext cx="1051560" cy="182880"/>
          </a:xfrm>
          <a:prstGeom prst="rect">
            <a:avLst/>
          </a:prstGeom>
          <a:noFill/>
          <a:ln/>
        </p:spPr>
        <p:txBody>
          <a:bodyPr wrap="square" lIns="0" tIns="0" rIns="0" bIns="0" rtlCol="0" anchor="ctr">
            <a:normAutofit/>
          </a:bodyPr>
          <a:lstStyle/>
          <a:p>
            <a:pPr marL="0" indent="0" algn="r">
              <a:buNone/>
            </a:pPr>
            <a:r>
              <a:rPr lang="en-US" sz="1000" b="1" dirty="0">
                <a:solidFill>
                  <a:srgbClr val="617B94"/>
                </a:solidFill>
                <a:latin typeface="Lato Heavy" pitchFamily="34" charset="0"/>
                <a:ea typeface="Lato Heavy" pitchFamily="34" charset="-122"/>
                <a:cs typeface="Lato Heavy" pitchFamily="34" charset="-120"/>
              </a:rPr>
              <a:t>13  /  14</a:t>
            </a:r>
            <a:endParaRPr lang="en-US" sz="1000" dirty="0"/>
          </a:p>
        </p:txBody>
      </p:sp>
      <p:sp>
        <p:nvSpPr>
          <p:cNvPr id="19" name="Text 16"/>
          <p:cNvSpPr/>
          <p:nvPr/>
        </p:nvSpPr>
        <p:spPr>
          <a:xfrm>
            <a:off x="731520" y="6446520"/>
            <a:ext cx="9052560" cy="210312"/>
          </a:xfrm>
          <a:prstGeom prst="rect">
            <a:avLst/>
          </a:prstGeom>
          <a:noFill/>
          <a:ln/>
        </p:spPr>
        <p:txBody>
          <a:bodyPr wrap="square" lIns="0" tIns="0" rIns="0" bIns="0" rtlCol="0" anchor="ctr">
            <a:normAutofit/>
          </a:bodyPr>
          <a:lstStyle/>
          <a:p>
            <a:pPr marL="0" indent="0">
              <a:buNone/>
            </a:pPr>
            <a:r>
              <a:rPr lang="en-US" sz="940" dirty="0">
                <a:solidFill>
                  <a:srgbClr val="617B94"/>
                </a:solidFill>
                <a:latin typeface="Lato" pitchFamily="34" charset="0"/>
                <a:ea typeface="Lato" pitchFamily="34" charset="-122"/>
                <a:cs typeface="Lato" pitchFamily="34" charset="-120"/>
              </a:rPr>
              <a:t>ILLUSTRATIVE CONCEPT DEMO • ON TOP OF THE WORLD COMMUNITY HIGHLIGHTS • NOT OFFICIALLY AFFILIATED</a:t>
            </a:r>
            <a:endParaRPr lang="en-US" sz="940" dirty="0"/>
          </a:p>
        </p:txBody>
      </p:sp>
      <p:sp>
        <p:nvSpPr>
          <p:cNvPr id="20" name="Shape 17"/>
          <p:cNvSpPr/>
          <p:nvPr/>
        </p:nvSpPr>
        <p:spPr>
          <a:xfrm>
            <a:off x="8375904" y="886968"/>
            <a:ext cx="3328416" cy="5541264"/>
          </a:xfrm>
          <a:prstGeom prst="roundRect">
            <a:avLst>
              <a:gd name="adj" fmla="val 4121"/>
            </a:avLst>
          </a:prstGeom>
          <a:solidFill>
            <a:srgbClr val="D7E0EA"/>
          </a:solidFill>
          <a:ln w="12700">
            <a:solidFill>
              <a:srgbClr val="D7E0EA">
                <a:alpha val="0"/>
              </a:srgbClr>
            </a:solidFill>
            <a:prstDash val="solid"/>
          </a:ln>
        </p:spPr>
        <p:txBody>
          <a:bodyPr/>
          <a:lstStyle/>
          <a:p>
            <a:endParaRPr lang="en-US"/>
          </a:p>
        </p:txBody>
      </p:sp>
      <p:sp>
        <p:nvSpPr>
          <p:cNvPr id="21" name="Shape 18"/>
          <p:cNvSpPr/>
          <p:nvPr/>
        </p:nvSpPr>
        <p:spPr>
          <a:xfrm>
            <a:off x="8302752" y="795528"/>
            <a:ext cx="3328416" cy="5541264"/>
          </a:xfrm>
          <a:prstGeom prst="roundRect">
            <a:avLst>
              <a:gd name="adj" fmla="val 4121"/>
            </a:avLst>
          </a:prstGeom>
          <a:solidFill>
            <a:srgbClr val="071522"/>
          </a:solidFill>
          <a:ln w="12700">
            <a:solidFill>
              <a:srgbClr val="071522">
                <a:alpha val="0"/>
              </a:srgbClr>
            </a:solidFill>
            <a:prstDash val="solid"/>
          </a:ln>
        </p:spPr>
        <p:txBody>
          <a:bodyPr/>
          <a:lstStyle/>
          <a:p>
            <a:endParaRPr lang="en-US"/>
          </a:p>
        </p:txBody>
      </p:sp>
      <p:sp>
        <p:nvSpPr>
          <p:cNvPr id="22" name="Shape 19"/>
          <p:cNvSpPr/>
          <p:nvPr/>
        </p:nvSpPr>
        <p:spPr>
          <a:xfrm>
            <a:off x="8394192" y="886968"/>
            <a:ext cx="3145536" cy="5358384"/>
          </a:xfrm>
          <a:prstGeom prst="roundRect">
            <a:avLst>
              <a:gd name="adj" fmla="val 4360"/>
            </a:avLst>
          </a:prstGeom>
          <a:solidFill>
            <a:srgbClr val="FFFFFF"/>
          </a:solidFill>
          <a:ln w="12700">
            <a:solidFill>
              <a:srgbClr val="FFFFFF">
                <a:alpha val="0"/>
              </a:srgbClr>
            </a:solidFill>
            <a:prstDash val="solid"/>
          </a:ln>
        </p:spPr>
        <p:txBody>
          <a:bodyPr/>
          <a:lstStyle/>
          <a:p>
            <a:endParaRPr lang="en-US"/>
          </a:p>
        </p:txBody>
      </p:sp>
      <p:sp>
        <p:nvSpPr>
          <p:cNvPr id="23" name="Shape 20"/>
          <p:cNvSpPr/>
          <p:nvPr/>
        </p:nvSpPr>
        <p:spPr>
          <a:xfrm>
            <a:off x="9454896" y="850392"/>
            <a:ext cx="1014984" cy="173736"/>
          </a:xfrm>
          <a:prstGeom prst="roundRect">
            <a:avLst>
              <a:gd name="adj" fmla="val 78947"/>
            </a:avLst>
          </a:prstGeom>
          <a:solidFill>
            <a:srgbClr val="071522"/>
          </a:solidFill>
          <a:ln w="12700">
            <a:solidFill>
              <a:srgbClr val="071522">
                <a:alpha val="0"/>
              </a:srgbClr>
            </a:solidFill>
            <a:prstDash val="solid"/>
          </a:ln>
        </p:spPr>
        <p:txBody>
          <a:bodyPr/>
          <a:lstStyle/>
          <a:p>
            <a:endParaRPr lang="en-US"/>
          </a:p>
        </p:txBody>
      </p:sp>
      <p:sp>
        <p:nvSpPr>
          <p:cNvPr id="24" name="Text 21"/>
          <p:cNvSpPr/>
          <p:nvPr/>
        </p:nvSpPr>
        <p:spPr>
          <a:xfrm>
            <a:off x="8558784" y="978408"/>
            <a:ext cx="566928" cy="210312"/>
          </a:xfrm>
          <a:prstGeom prst="rect">
            <a:avLst/>
          </a:prstGeom>
          <a:noFill/>
          <a:ln/>
        </p:spPr>
        <p:txBody>
          <a:bodyPr wrap="square" lIns="0" tIns="0" rIns="0" bIns="0" rtlCol="0" anchor="ctr">
            <a:normAutofit/>
          </a:bodyPr>
          <a:lstStyle/>
          <a:p>
            <a:pPr marL="0" indent="0">
              <a:buNone/>
            </a:pPr>
            <a:r>
              <a:rPr lang="en-US" sz="1000" b="1" dirty="0">
                <a:solidFill>
                  <a:srgbClr val="2A4157"/>
                </a:solidFill>
                <a:latin typeface="Lato Heavy" pitchFamily="34" charset="0"/>
                <a:ea typeface="Lato Heavy" pitchFamily="34" charset="-122"/>
                <a:cs typeface="Lato Heavy" pitchFamily="34" charset="-120"/>
              </a:rPr>
              <a:t>9:41</a:t>
            </a:r>
            <a:endParaRPr lang="en-US" sz="1000" dirty="0"/>
          </a:p>
        </p:txBody>
      </p:sp>
      <p:sp>
        <p:nvSpPr>
          <p:cNvPr id="25" name="Text 22"/>
          <p:cNvSpPr/>
          <p:nvPr/>
        </p:nvSpPr>
        <p:spPr>
          <a:xfrm>
            <a:off x="10561320" y="978408"/>
            <a:ext cx="685800" cy="210312"/>
          </a:xfrm>
          <a:prstGeom prst="rect">
            <a:avLst/>
          </a:prstGeom>
          <a:noFill/>
          <a:ln/>
        </p:spPr>
        <p:txBody>
          <a:bodyPr wrap="square" lIns="0" tIns="0" rIns="0" bIns="0" rtlCol="0" anchor="ctr">
            <a:normAutofit/>
          </a:bodyPr>
          <a:lstStyle/>
          <a:p>
            <a:pPr marL="0" indent="0" algn="r">
              <a:buNone/>
            </a:pPr>
            <a:r>
              <a:rPr lang="en-US" sz="900" b="1" dirty="0">
                <a:solidFill>
                  <a:srgbClr val="2A4157"/>
                </a:solidFill>
                <a:latin typeface="Lato Heavy" pitchFamily="34" charset="0"/>
                <a:ea typeface="Lato Heavy" pitchFamily="34" charset="-122"/>
                <a:cs typeface="Lato Heavy" pitchFamily="34" charset="-120"/>
              </a:rPr>
              <a:t>▰  Wi-Fi</a:t>
            </a:r>
            <a:endParaRPr lang="en-US" sz="900" dirty="0"/>
          </a:p>
        </p:txBody>
      </p:sp>
      <p:sp>
        <p:nvSpPr>
          <p:cNvPr id="26" name="Text 23"/>
          <p:cNvSpPr/>
          <p:nvPr/>
        </p:nvSpPr>
        <p:spPr>
          <a:xfrm>
            <a:off x="8485632" y="1298448"/>
            <a:ext cx="2962656" cy="283464"/>
          </a:xfrm>
          <a:prstGeom prst="rect">
            <a:avLst/>
          </a:prstGeom>
          <a:noFill/>
          <a:ln/>
        </p:spPr>
        <p:txBody>
          <a:bodyPr wrap="square" lIns="0" tIns="0" rIns="0" bIns="0" rtlCol="0" anchor="ctr">
            <a:normAutofit/>
          </a:bodyPr>
          <a:lstStyle/>
          <a:p>
            <a:pPr marL="0" indent="0" algn="ctr">
              <a:buNone/>
            </a:pPr>
            <a:r>
              <a:rPr lang="en-US" sz="1370" b="1" dirty="0">
                <a:solidFill>
                  <a:srgbClr val="082B4E"/>
                </a:solidFill>
                <a:latin typeface="Lato Heavy" pitchFamily="34" charset="0"/>
                <a:ea typeface="Lato Heavy" pitchFamily="34" charset="-122"/>
                <a:cs typeface="Lato Heavy" pitchFamily="34" charset="-120"/>
              </a:rPr>
              <a:t>On Top of the World</a:t>
            </a:r>
            <a:endParaRPr lang="en-US" sz="1370" dirty="0"/>
          </a:p>
        </p:txBody>
      </p:sp>
      <p:pic>
        <p:nvPicPr>
          <p:cNvPr id="27" name="Image 1" descr="/mnt/data/barnaby_hd_work/otow_gradient.png"/>
          <p:cNvPicPr>
            <a:picLocks noChangeAspect="1"/>
          </p:cNvPicPr>
          <p:nvPr/>
        </p:nvPicPr>
        <p:blipFill>
          <a:blip r:embed="rId4"/>
          <a:stretch>
            <a:fillRect/>
          </a:stretch>
        </p:blipFill>
        <p:spPr>
          <a:xfrm>
            <a:off x="8403336" y="1691640"/>
            <a:ext cx="3127248" cy="804672"/>
          </a:xfrm>
          <a:prstGeom prst="rect">
            <a:avLst/>
          </a:prstGeom>
        </p:spPr>
      </p:pic>
      <p:sp>
        <p:nvSpPr>
          <p:cNvPr id="28" name="Text 24"/>
          <p:cNvSpPr/>
          <p:nvPr/>
        </p:nvSpPr>
        <p:spPr>
          <a:xfrm>
            <a:off x="8586216" y="1783080"/>
            <a:ext cx="274320" cy="27432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Lato Heavy" pitchFamily="34" charset="0"/>
                <a:ea typeface="Lato Heavy" pitchFamily="34" charset="-122"/>
                <a:cs typeface="Lato Heavy" pitchFamily="34" charset="-120"/>
              </a:rPr>
              <a:t>≡</a:t>
            </a:r>
            <a:endParaRPr lang="en-US" sz="1900" dirty="0"/>
          </a:p>
        </p:txBody>
      </p:sp>
      <p:sp>
        <p:nvSpPr>
          <p:cNvPr id="29" name="Text 25"/>
          <p:cNvSpPr/>
          <p:nvPr/>
        </p:nvSpPr>
        <p:spPr>
          <a:xfrm>
            <a:off x="9025128" y="1810512"/>
            <a:ext cx="1920240" cy="201168"/>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Lato Heavy" pitchFamily="34" charset="0"/>
                <a:ea typeface="Lato Heavy" pitchFamily="34" charset="-122"/>
                <a:cs typeface="Lato Heavy" pitchFamily="34" charset="-120"/>
              </a:rPr>
              <a:t>On Top of the World</a:t>
            </a:r>
            <a:endParaRPr lang="en-US" sz="1200" dirty="0"/>
          </a:p>
        </p:txBody>
      </p:sp>
      <p:sp>
        <p:nvSpPr>
          <p:cNvPr id="30" name="Text 26"/>
          <p:cNvSpPr/>
          <p:nvPr/>
        </p:nvSpPr>
        <p:spPr>
          <a:xfrm>
            <a:off x="8567928" y="2148840"/>
            <a:ext cx="2377440" cy="301752"/>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Lato Heavy" pitchFamily="34" charset="0"/>
                <a:ea typeface="Lato Heavy" pitchFamily="34" charset="-122"/>
                <a:cs typeface="Lato Heavy" pitchFamily="34" charset="-120"/>
              </a:rPr>
              <a:t>INFO</a:t>
            </a:r>
            <a:endParaRPr lang="en-US" sz="1800" dirty="0"/>
          </a:p>
        </p:txBody>
      </p:sp>
      <p:sp>
        <p:nvSpPr>
          <p:cNvPr id="31" name="Shape 27"/>
          <p:cNvSpPr/>
          <p:nvPr/>
        </p:nvSpPr>
        <p:spPr>
          <a:xfrm>
            <a:off x="8449056" y="5705856"/>
            <a:ext cx="3035808" cy="420624"/>
          </a:xfrm>
          <a:prstGeom prst="roundRect">
            <a:avLst>
              <a:gd name="adj" fmla="val 32609"/>
            </a:avLst>
          </a:prstGeom>
          <a:solidFill>
            <a:srgbClr val="F8FBFE"/>
          </a:solidFill>
          <a:ln w="12700">
            <a:solidFill>
              <a:srgbClr val="F8FBFE">
                <a:alpha val="0"/>
              </a:srgbClr>
            </a:solidFill>
            <a:prstDash val="solid"/>
          </a:ln>
        </p:spPr>
        <p:txBody>
          <a:bodyPr/>
          <a:lstStyle/>
          <a:p>
            <a:endParaRPr lang="en-US"/>
          </a:p>
        </p:txBody>
      </p:sp>
      <p:sp>
        <p:nvSpPr>
          <p:cNvPr id="32" name="Text 28"/>
          <p:cNvSpPr/>
          <p:nvPr/>
        </p:nvSpPr>
        <p:spPr>
          <a:xfrm>
            <a:off x="8677656"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3" name="Text 29"/>
          <p:cNvSpPr/>
          <p:nvPr/>
        </p:nvSpPr>
        <p:spPr>
          <a:xfrm>
            <a:off x="8595360"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Home</a:t>
            </a:r>
            <a:endParaRPr lang="en-US" sz="820" dirty="0"/>
          </a:p>
        </p:txBody>
      </p:sp>
      <p:sp>
        <p:nvSpPr>
          <p:cNvPr id="34" name="Text 30"/>
          <p:cNvSpPr/>
          <p:nvPr/>
        </p:nvSpPr>
        <p:spPr>
          <a:xfrm>
            <a:off x="9372600"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5" name="Text 31"/>
          <p:cNvSpPr/>
          <p:nvPr/>
        </p:nvSpPr>
        <p:spPr>
          <a:xfrm>
            <a:off x="9290304"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Outings</a:t>
            </a:r>
            <a:endParaRPr lang="en-US" sz="820" dirty="0"/>
          </a:p>
        </p:txBody>
      </p:sp>
      <p:sp>
        <p:nvSpPr>
          <p:cNvPr id="36" name="Text 32"/>
          <p:cNvSpPr/>
          <p:nvPr/>
        </p:nvSpPr>
        <p:spPr>
          <a:xfrm>
            <a:off x="10067544"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7" name="Text 33"/>
          <p:cNvSpPr/>
          <p:nvPr/>
        </p:nvSpPr>
        <p:spPr>
          <a:xfrm>
            <a:off x="9985248"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Messages</a:t>
            </a:r>
            <a:endParaRPr lang="en-US" sz="820" dirty="0"/>
          </a:p>
        </p:txBody>
      </p:sp>
      <p:sp>
        <p:nvSpPr>
          <p:cNvPr id="38" name="Text 34"/>
          <p:cNvSpPr/>
          <p:nvPr/>
        </p:nvSpPr>
        <p:spPr>
          <a:xfrm>
            <a:off x="10762488"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9" name="Text 35"/>
          <p:cNvSpPr/>
          <p:nvPr/>
        </p:nvSpPr>
        <p:spPr>
          <a:xfrm>
            <a:off x="10680192"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More</a:t>
            </a:r>
            <a:endParaRPr lang="en-US" sz="820" dirty="0"/>
          </a:p>
        </p:txBody>
      </p:sp>
      <p:sp>
        <p:nvSpPr>
          <p:cNvPr id="40" name="Text 36"/>
          <p:cNvSpPr/>
          <p:nvPr/>
        </p:nvSpPr>
        <p:spPr>
          <a:xfrm>
            <a:off x="8485632" y="2587752"/>
            <a:ext cx="2962656" cy="338328"/>
          </a:xfrm>
          <a:prstGeom prst="rect">
            <a:avLst/>
          </a:prstGeom>
          <a:noFill/>
          <a:ln/>
        </p:spPr>
        <p:txBody>
          <a:bodyPr wrap="square" lIns="0" tIns="0" rIns="0" bIns="0" rtlCol="0" anchor="ctr">
            <a:normAutofit/>
          </a:bodyPr>
          <a:lstStyle/>
          <a:p>
            <a:pPr marL="0" indent="0">
              <a:buNone/>
            </a:pPr>
            <a:r>
              <a:rPr lang="en-US" sz="1700" b="1" dirty="0">
                <a:solidFill>
                  <a:srgbClr val="082B4E"/>
                </a:solidFill>
                <a:latin typeface="Lato Heavy" pitchFamily="34" charset="0"/>
                <a:ea typeface="Lato Heavy" pitchFamily="34" charset="-122"/>
                <a:cs typeface="Lato Heavy" pitchFamily="34" charset="-120"/>
              </a:rPr>
              <a:t>Ask Barnaby</a:t>
            </a:r>
            <a:endParaRPr lang="en-US" sz="1700" dirty="0"/>
          </a:p>
        </p:txBody>
      </p:sp>
      <p:sp>
        <p:nvSpPr>
          <p:cNvPr id="41" name="Shape 37"/>
          <p:cNvSpPr/>
          <p:nvPr/>
        </p:nvSpPr>
        <p:spPr>
          <a:xfrm>
            <a:off x="8942832" y="3081528"/>
            <a:ext cx="2505456" cy="594360"/>
          </a:xfrm>
          <a:prstGeom prst="roundRect">
            <a:avLst>
              <a:gd name="adj" fmla="val 23077"/>
            </a:avLst>
          </a:prstGeom>
          <a:solidFill>
            <a:srgbClr val="057BEE"/>
          </a:solidFill>
          <a:ln w="12700">
            <a:solidFill>
              <a:srgbClr val="057BEE">
                <a:alpha val="0"/>
              </a:srgbClr>
            </a:solidFill>
            <a:prstDash val="solid"/>
          </a:ln>
        </p:spPr>
        <p:txBody>
          <a:bodyPr/>
          <a:lstStyle/>
          <a:p>
            <a:endParaRPr lang="en-US"/>
          </a:p>
        </p:txBody>
      </p:sp>
      <p:sp>
        <p:nvSpPr>
          <p:cNvPr id="42" name="Text 38"/>
          <p:cNvSpPr/>
          <p:nvPr/>
        </p:nvSpPr>
        <p:spPr>
          <a:xfrm>
            <a:off x="9125712" y="3209544"/>
            <a:ext cx="2231136" cy="356616"/>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Lato Heavy" pitchFamily="34" charset="0"/>
                <a:ea typeface="Lato Heavy" pitchFamily="34" charset="-122"/>
                <a:cs typeface="Lato Heavy" pitchFamily="34" charset="-120"/>
              </a:rPr>
              <a:t>What can I do this weekend?</a:t>
            </a:r>
            <a:endParaRPr lang="en-US" sz="1000" dirty="0"/>
          </a:p>
        </p:txBody>
      </p:sp>
      <p:sp>
        <p:nvSpPr>
          <p:cNvPr id="43" name="Shape 39"/>
          <p:cNvSpPr/>
          <p:nvPr/>
        </p:nvSpPr>
        <p:spPr>
          <a:xfrm>
            <a:off x="8485632" y="3877056"/>
            <a:ext cx="2962656" cy="1298448"/>
          </a:xfrm>
          <a:prstGeom prst="roundRect">
            <a:avLst>
              <a:gd name="adj" fmla="val 10563"/>
            </a:avLst>
          </a:prstGeom>
          <a:solidFill>
            <a:srgbClr val="EFF7FC"/>
          </a:solidFill>
          <a:ln w="12700">
            <a:solidFill>
              <a:srgbClr val="EFF7FC">
                <a:alpha val="0"/>
              </a:srgbClr>
            </a:solidFill>
            <a:prstDash val="solid"/>
          </a:ln>
        </p:spPr>
        <p:txBody>
          <a:bodyPr/>
          <a:lstStyle/>
          <a:p>
            <a:endParaRPr lang="en-US"/>
          </a:p>
        </p:txBody>
      </p:sp>
      <p:sp>
        <p:nvSpPr>
          <p:cNvPr id="44" name="Text 40"/>
          <p:cNvSpPr/>
          <p:nvPr/>
        </p:nvSpPr>
        <p:spPr>
          <a:xfrm>
            <a:off x="8613648" y="4059936"/>
            <a:ext cx="2688336" cy="859536"/>
          </a:xfrm>
          <a:prstGeom prst="rect">
            <a:avLst/>
          </a:prstGeom>
          <a:noFill/>
          <a:ln/>
        </p:spPr>
        <p:txBody>
          <a:bodyPr wrap="square" lIns="0" tIns="0" rIns="0" bIns="0" rtlCol="0" anchor="t">
            <a:normAutofit/>
          </a:bodyPr>
          <a:lstStyle/>
          <a:p>
            <a:pPr marL="0" indent="0">
              <a:buNone/>
            </a:pPr>
            <a:r>
              <a:rPr lang="en-US" sz="1100" dirty="0">
                <a:solidFill>
                  <a:srgbClr val="142F4B"/>
                </a:solidFill>
                <a:latin typeface="Lato" pitchFamily="34" charset="0"/>
                <a:ea typeface="Lato" pitchFamily="34" charset="-122"/>
                <a:cs typeface="Lato" pitchFamily="34" charset="-120"/>
              </a:rPr>
              <a:t>You can explore resident clubs,</a:t>
            </a:r>
            <a:endParaRPr lang="en-US" sz="1100" dirty="0"/>
          </a:p>
          <a:p>
            <a:pPr marL="0" indent="0">
              <a:buNone/>
            </a:pPr>
            <a:r>
              <a:rPr lang="en-US" sz="1100" dirty="0">
                <a:solidFill>
                  <a:srgbClr val="142F4B"/>
                </a:solidFill>
                <a:latin typeface="Lato" pitchFamily="34" charset="0"/>
                <a:ea typeface="Lato" pitchFamily="34" charset="-122"/>
                <a:cs typeface="Lato" pitchFamily="34" charset="-120"/>
              </a:rPr>
              <a:t>recreation, events, golf and more.</a:t>
            </a:r>
            <a:endParaRPr lang="en-US" sz="1100" dirty="0"/>
          </a:p>
          <a:p>
            <a:pPr marL="0" indent="0">
              <a:buNone/>
            </a:pPr>
            <a:r>
              <a:rPr lang="en-US" sz="1100" dirty="0">
                <a:solidFill>
                  <a:srgbClr val="142F4B"/>
                </a:solidFill>
                <a:latin typeface="Lato" pitchFamily="34" charset="0"/>
                <a:ea typeface="Lato" pitchFamily="34" charset="-122"/>
                <a:cs typeface="Lato" pitchFamily="34" charset="-120"/>
              </a:rPr>
              <a:t>Would you like to see activities?</a:t>
            </a:r>
            <a:endParaRPr lang="en-US" sz="1100" dirty="0"/>
          </a:p>
        </p:txBody>
      </p:sp>
      <p:sp>
        <p:nvSpPr>
          <p:cNvPr id="45" name="Shape 41"/>
          <p:cNvSpPr/>
          <p:nvPr/>
        </p:nvSpPr>
        <p:spPr>
          <a:xfrm>
            <a:off x="8814816" y="5376672"/>
            <a:ext cx="2304288" cy="265176"/>
          </a:xfrm>
          <a:prstGeom prst="roundRect">
            <a:avLst>
              <a:gd name="adj" fmla="val 34483"/>
            </a:avLst>
          </a:prstGeom>
          <a:solidFill>
            <a:srgbClr val="057BEE"/>
          </a:solidFill>
          <a:ln w="12700">
            <a:solidFill>
              <a:srgbClr val="057BEE"/>
            </a:solidFill>
            <a:prstDash val="solid"/>
          </a:ln>
        </p:spPr>
        <p:txBody>
          <a:bodyPr/>
          <a:lstStyle/>
          <a:p>
            <a:endParaRPr lang="en-US"/>
          </a:p>
        </p:txBody>
      </p:sp>
      <p:sp>
        <p:nvSpPr>
          <p:cNvPr id="46" name="Text 42"/>
          <p:cNvSpPr/>
          <p:nvPr/>
        </p:nvSpPr>
        <p:spPr>
          <a:xfrm>
            <a:off x="8842248" y="5422392"/>
            <a:ext cx="2249424" cy="146304"/>
          </a:xfrm>
          <a:prstGeom prst="rect">
            <a:avLst/>
          </a:prstGeom>
          <a:noFill/>
          <a:ln/>
        </p:spPr>
        <p:txBody>
          <a:bodyPr wrap="square" lIns="0" tIns="0" rIns="0" bIns="0" rtlCol="0" anchor="ctr">
            <a:normAutofit/>
          </a:bodyPr>
          <a:lstStyle/>
          <a:p>
            <a:pPr marL="0" indent="0" algn="ctr">
              <a:buNone/>
            </a:pPr>
            <a:r>
              <a:rPr lang="en-US" sz="880" b="1" dirty="0">
                <a:solidFill>
                  <a:srgbClr val="FFFFFF"/>
                </a:solidFill>
                <a:latin typeface="Lato Heavy" pitchFamily="34" charset="0"/>
                <a:ea typeface="Lato Heavy" pitchFamily="34" charset="-122"/>
                <a:cs typeface="Lato Heavy" pitchFamily="34" charset="-120"/>
              </a:rPr>
              <a:t>Explore community events →</a:t>
            </a:r>
            <a:endParaRPr lang="en-US" sz="8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722376" y="886968"/>
            <a:ext cx="6583680" cy="246888"/>
          </a:xfrm>
          <a:prstGeom prst="rect">
            <a:avLst/>
          </a:prstGeom>
          <a:noFill/>
          <a:ln/>
        </p:spPr>
        <p:txBody>
          <a:bodyPr wrap="square" lIns="0" tIns="0" rIns="0" bIns="0" rtlCol="0" anchor="ctr">
            <a:normAutofit/>
          </a:bodyPr>
          <a:lstStyle/>
          <a:p>
            <a:pPr marL="0" indent="0">
              <a:buNone/>
            </a:pPr>
            <a:r>
              <a:rPr lang="en-US" sz="1200" b="1" kern="0" spc="70" dirty="0">
                <a:solidFill>
                  <a:srgbClr val="127A91"/>
                </a:solidFill>
                <a:latin typeface="Lato Heavy" pitchFamily="34" charset="0"/>
                <a:ea typeface="Lato Heavy" pitchFamily="34" charset="-122"/>
                <a:cs typeface="Lato Heavy" pitchFamily="34" charset="-120"/>
              </a:rPr>
              <a:t>BARNABY  /  BARNABY</a:t>
            </a:r>
            <a:endParaRPr lang="en-US" sz="1200" dirty="0"/>
          </a:p>
        </p:txBody>
      </p:sp>
      <p:sp>
        <p:nvSpPr>
          <p:cNvPr id="6" name="Text 3"/>
          <p:cNvSpPr/>
          <p:nvPr/>
        </p:nvSpPr>
        <p:spPr>
          <a:xfrm>
            <a:off x="713232" y="1179576"/>
            <a:ext cx="7315200" cy="630936"/>
          </a:xfrm>
          <a:prstGeom prst="rect">
            <a:avLst/>
          </a:prstGeom>
          <a:noFill/>
          <a:ln/>
        </p:spPr>
        <p:txBody>
          <a:bodyPr wrap="square" lIns="0" tIns="0" rIns="0" bIns="0" rtlCol="0" anchor="ctr">
            <a:normAutofit/>
          </a:bodyPr>
          <a:lstStyle/>
          <a:p>
            <a:pPr marL="0" indent="0">
              <a:buNone/>
            </a:pPr>
            <a:r>
              <a:rPr lang="en-US" sz="3400" b="1" dirty="0">
                <a:solidFill>
                  <a:srgbClr val="082B4E"/>
                </a:solidFill>
                <a:latin typeface="Lato Heavy" pitchFamily="34" charset="0"/>
                <a:ea typeface="Lato Heavy" pitchFamily="34" charset="-122"/>
                <a:cs typeface="Lato Heavy" pitchFamily="34" charset="-120"/>
              </a:rPr>
              <a:t>AN INTELLIGENT COMMUNITY</a:t>
            </a:r>
            <a:endParaRPr lang="en-US" sz="3400" dirty="0"/>
          </a:p>
        </p:txBody>
      </p:sp>
      <p:sp>
        <p:nvSpPr>
          <p:cNvPr id="7" name="Text 4"/>
          <p:cNvSpPr/>
          <p:nvPr/>
        </p:nvSpPr>
        <p:spPr>
          <a:xfrm>
            <a:off x="731520" y="1856232"/>
            <a:ext cx="6858000" cy="448056"/>
          </a:xfrm>
          <a:prstGeom prst="rect">
            <a:avLst/>
          </a:prstGeom>
          <a:noFill/>
          <a:ln/>
        </p:spPr>
        <p:txBody>
          <a:bodyPr wrap="square" lIns="0" tIns="0" rIns="0" bIns="0" rtlCol="0" anchor="ctr">
            <a:normAutofit/>
          </a:bodyPr>
          <a:lstStyle/>
          <a:p>
            <a:pPr marL="0" indent="0">
              <a:buNone/>
            </a:pPr>
            <a:r>
              <a:rPr lang="en-US" sz="1950" dirty="0">
                <a:solidFill>
                  <a:srgbClr val="617B94"/>
                </a:solidFill>
                <a:latin typeface="Lato" pitchFamily="34" charset="0"/>
                <a:ea typeface="Lato" pitchFamily="34" charset="-122"/>
                <a:cs typeface="Lato" pitchFamily="34" charset="-120"/>
              </a:rPr>
              <a:t>Barnaby makes the experience feel personal.</a:t>
            </a:r>
            <a:endParaRPr lang="en-US" sz="1950" dirty="0"/>
          </a:p>
        </p:txBody>
      </p:sp>
      <p:sp>
        <p:nvSpPr>
          <p:cNvPr id="8" name="Shape 5"/>
          <p:cNvSpPr/>
          <p:nvPr/>
        </p:nvSpPr>
        <p:spPr>
          <a:xfrm>
            <a:off x="731520" y="2770632"/>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9" name="Text 6"/>
          <p:cNvSpPr/>
          <p:nvPr/>
        </p:nvSpPr>
        <p:spPr>
          <a:xfrm>
            <a:off x="1024128" y="2651760"/>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Questions become useful next steps</a:t>
            </a:r>
            <a:endParaRPr lang="en-US" sz="2100" dirty="0"/>
          </a:p>
        </p:txBody>
      </p:sp>
      <p:sp>
        <p:nvSpPr>
          <p:cNvPr id="10" name="Shape 7"/>
          <p:cNvSpPr/>
          <p:nvPr/>
        </p:nvSpPr>
        <p:spPr>
          <a:xfrm>
            <a:off x="731520" y="3575304"/>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1" name="Text 8"/>
          <p:cNvSpPr/>
          <p:nvPr/>
        </p:nvSpPr>
        <p:spPr>
          <a:xfrm>
            <a:off x="1024128" y="3456432"/>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Reservations, services and information</a:t>
            </a:r>
            <a:endParaRPr lang="en-US" sz="2100" dirty="0"/>
          </a:p>
        </p:txBody>
      </p:sp>
      <p:sp>
        <p:nvSpPr>
          <p:cNvPr id="12" name="Shape 9"/>
          <p:cNvSpPr/>
          <p:nvPr/>
        </p:nvSpPr>
        <p:spPr>
          <a:xfrm>
            <a:off x="731520" y="4379976"/>
            <a:ext cx="109728" cy="109728"/>
          </a:xfrm>
          <a:prstGeom prst="ellipse">
            <a:avLst/>
          </a:prstGeom>
          <a:solidFill>
            <a:srgbClr val="057BEE"/>
          </a:solidFill>
          <a:ln w="12700">
            <a:solidFill>
              <a:srgbClr val="057BEE">
                <a:alpha val="0"/>
              </a:srgbClr>
            </a:solidFill>
            <a:prstDash val="solid"/>
          </a:ln>
        </p:spPr>
        <p:txBody>
          <a:bodyPr/>
          <a:lstStyle/>
          <a:p>
            <a:endParaRPr lang="en-US"/>
          </a:p>
        </p:txBody>
      </p:sp>
      <p:sp>
        <p:nvSpPr>
          <p:cNvPr id="13" name="Text 10"/>
          <p:cNvSpPr/>
          <p:nvPr/>
        </p:nvSpPr>
        <p:spPr>
          <a:xfrm>
            <a:off x="1024128" y="4261104"/>
            <a:ext cx="5888736" cy="713232"/>
          </a:xfrm>
          <a:prstGeom prst="rect">
            <a:avLst/>
          </a:prstGeom>
          <a:noFill/>
          <a:ln/>
        </p:spPr>
        <p:txBody>
          <a:bodyPr wrap="square" lIns="0" tIns="0" rIns="0" bIns="0" rtlCol="0" anchor="t">
            <a:normAutofit/>
          </a:bodyPr>
          <a:lstStyle/>
          <a:p>
            <a:pPr marL="0" indent="0">
              <a:lnSpc>
                <a:spcPct val="110000"/>
              </a:lnSpc>
              <a:buNone/>
            </a:pPr>
            <a:r>
              <a:rPr lang="en-US" sz="2100" dirty="0">
                <a:solidFill>
                  <a:srgbClr val="142F4B"/>
                </a:solidFill>
                <a:latin typeface="Lato" pitchFamily="34" charset="0"/>
                <a:ea typeface="Lato" pitchFamily="34" charset="-122"/>
                <a:cs typeface="Lato" pitchFamily="34" charset="-120"/>
              </a:rPr>
              <a:t>A modern reason for residents to engage</a:t>
            </a:r>
            <a:endParaRPr lang="en-US" sz="2100" dirty="0"/>
          </a:p>
        </p:txBody>
      </p:sp>
      <p:sp>
        <p:nvSpPr>
          <p:cNvPr id="14" name="Shape 11"/>
          <p:cNvSpPr/>
          <p:nvPr/>
        </p:nvSpPr>
        <p:spPr>
          <a:xfrm>
            <a:off x="713232" y="5385816"/>
            <a:ext cx="6638544" cy="822960"/>
          </a:xfrm>
          <a:prstGeom prst="roundRect">
            <a:avLst>
              <a:gd name="adj" fmla="val 16667"/>
            </a:avLst>
          </a:prstGeom>
          <a:solidFill>
            <a:srgbClr val="EAF5FF"/>
          </a:solidFill>
          <a:ln w="12700">
            <a:solidFill>
              <a:srgbClr val="CDE3F6"/>
            </a:solidFill>
            <a:prstDash val="solid"/>
          </a:ln>
        </p:spPr>
        <p:txBody>
          <a:bodyPr/>
          <a:lstStyle/>
          <a:p>
            <a:endParaRPr lang="en-US"/>
          </a:p>
        </p:txBody>
      </p:sp>
      <p:sp>
        <p:nvSpPr>
          <p:cNvPr id="15" name="Shape 12"/>
          <p:cNvSpPr/>
          <p:nvPr/>
        </p:nvSpPr>
        <p:spPr>
          <a:xfrm>
            <a:off x="914400" y="5623560"/>
            <a:ext cx="256032" cy="256032"/>
          </a:xfrm>
          <a:prstGeom prst="ellipse">
            <a:avLst/>
          </a:prstGeom>
          <a:solidFill>
            <a:srgbClr val="057BEE"/>
          </a:solidFill>
          <a:ln w="12700">
            <a:solidFill>
              <a:srgbClr val="057BEE">
                <a:alpha val="0"/>
              </a:srgbClr>
            </a:solidFill>
            <a:prstDash val="solid"/>
          </a:ln>
        </p:spPr>
        <p:txBody>
          <a:bodyPr/>
          <a:lstStyle/>
          <a:p>
            <a:endParaRPr lang="en-US"/>
          </a:p>
        </p:txBody>
      </p:sp>
      <p:sp>
        <p:nvSpPr>
          <p:cNvPr id="16" name="Text 13"/>
          <p:cNvSpPr/>
          <p:nvPr/>
        </p:nvSpPr>
        <p:spPr>
          <a:xfrm>
            <a:off x="958291" y="5623560"/>
            <a:ext cx="182880" cy="2560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Lato Heavy" pitchFamily="34" charset="0"/>
                <a:ea typeface="Lato Heavy" pitchFamily="34" charset="-122"/>
                <a:cs typeface="Lato Heavy" pitchFamily="34" charset="-120"/>
              </a:rPr>
              <a:t>→</a:t>
            </a:r>
            <a:endParaRPr lang="en-US" sz="1400" dirty="0"/>
          </a:p>
        </p:txBody>
      </p:sp>
      <p:sp>
        <p:nvSpPr>
          <p:cNvPr id="17" name="Text 14"/>
          <p:cNvSpPr/>
          <p:nvPr/>
        </p:nvSpPr>
        <p:spPr>
          <a:xfrm>
            <a:off x="1307592" y="5486400"/>
            <a:ext cx="5824728" cy="612648"/>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Barnaby: Your community, connected.</a:t>
            </a:r>
            <a:endParaRPr lang="en-US" sz="1850" dirty="0"/>
          </a:p>
        </p:txBody>
      </p:sp>
      <p:sp>
        <p:nvSpPr>
          <p:cNvPr id="18" name="Text 15"/>
          <p:cNvSpPr/>
          <p:nvPr/>
        </p:nvSpPr>
        <p:spPr>
          <a:xfrm>
            <a:off x="10652760" y="6464808"/>
            <a:ext cx="1051560" cy="182880"/>
          </a:xfrm>
          <a:prstGeom prst="rect">
            <a:avLst/>
          </a:prstGeom>
          <a:noFill/>
          <a:ln/>
        </p:spPr>
        <p:txBody>
          <a:bodyPr wrap="square" lIns="0" tIns="0" rIns="0" bIns="0" rtlCol="0" anchor="ctr">
            <a:normAutofit/>
          </a:bodyPr>
          <a:lstStyle/>
          <a:p>
            <a:pPr marL="0" indent="0" algn="r">
              <a:buNone/>
            </a:pPr>
            <a:r>
              <a:rPr lang="en-US" sz="1000" b="1" dirty="0">
                <a:solidFill>
                  <a:srgbClr val="617B94"/>
                </a:solidFill>
                <a:latin typeface="Lato Heavy" pitchFamily="34" charset="0"/>
                <a:ea typeface="Lato Heavy" pitchFamily="34" charset="-122"/>
                <a:cs typeface="Lato Heavy" pitchFamily="34" charset="-120"/>
              </a:rPr>
              <a:t>14  /  14</a:t>
            </a:r>
            <a:endParaRPr lang="en-US" sz="1000" dirty="0"/>
          </a:p>
        </p:txBody>
      </p:sp>
      <p:sp>
        <p:nvSpPr>
          <p:cNvPr id="19" name="Text 16"/>
          <p:cNvSpPr/>
          <p:nvPr/>
        </p:nvSpPr>
        <p:spPr>
          <a:xfrm>
            <a:off x="731520" y="6446520"/>
            <a:ext cx="9052560" cy="210312"/>
          </a:xfrm>
          <a:prstGeom prst="rect">
            <a:avLst/>
          </a:prstGeom>
          <a:noFill/>
          <a:ln/>
        </p:spPr>
        <p:txBody>
          <a:bodyPr wrap="square" lIns="0" tIns="0" rIns="0" bIns="0" rtlCol="0" anchor="ctr">
            <a:normAutofit/>
          </a:bodyPr>
          <a:lstStyle/>
          <a:p>
            <a:pPr marL="0" indent="0">
              <a:buNone/>
            </a:pPr>
            <a:r>
              <a:rPr lang="en-US" sz="940" dirty="0">
                <a:solidFill>
                  <a:srgbClr val="617B94"/>
                </a:solidFill>
                <a:latin typeface="Lato" pitchFamily="34" charset="0"/>
                <a:ea typeface="Lato" pitchFamily="34" charset="-122"/>
                <a:cs typeface="Lato" pitchFamily="34" charset="-120"/>
              </a:rPr>
              <a:t>ILLUSTRATIVE CONCEPT DEMO • ON TOP OF THE WORLD COMMUNITY HIGHLIGHTS • NOT OFFICIALLY AFFILIATED</a:t>
            </a:r>
            <a:endParaRPr lang="en-US" sz="940" dirty="0"/>
          </a:p>
        </p:txBody>
      </p:sp>
      <p:sp>
        <p:nvSpPr>
          <p:cNvPr id="20" name="Shape 17"/>
          <p:cNvSpPr/>
          <p:nvPr/>
        </p:nvSpPr>
        <p:spPr>
          <a:xfrm>
            <a:off x="8375904" y="886968"/>
            <a:ext cx="3328416" cy="5541264"/>
          </a:xfrm>
          <a:prstGeom prst="roundRect">
            <a:avLst>
              <a:gd name="adj" fmla="val 4121"/>
            </a:avLst>
          </a:prstGeom>
          <a:solidFill>
            <a:srgbClr val="D7E0EA"/>
          </a:solidFill>
          <a:ln w="12700">
            <a:solidFill>
              <a:srgbClr val="D7E0EA">
                <a:alpha val="0"/>
              </a:srgbClr>
            </a:solidFill>
            <a:prstDash val="solid"/>
          </a:ln>
        </p:spPr>
        <p:txBody>
          <a:bodyPr/>
          <a:lstStyle/>
          <a:p>
            <a:endParaRPr lang="en-US"/>
          </a:p>
        </p:txBody>
      </p:sp>
      <p:sp>
        <p:nvSpPr>
          <p:cNvPr id="21" name="Shape 18"/>
          <p:cNvSpPr/>
          <p:nvPr/>
        </p:nvSpPr>
        <p:spPr>
          <a:xfrm>
            <a:off x="8302752" y="795528"/>
            <a:ext cx="3328416" cy="5541264"/>
          </a:xfrm>
          <a:prstGeom prst="roundRect">
            <a:avLst>
              <a:gd name="adj" fmla="val 4121"/>
            </a:avLst>
          </a:prstGeom>
          <a:solidFill>
            <a:srgbClr val="071522"/>
          </a:solidFill>
          <a:ln w="12700">
            <a:solidFill>
              <a:srgbClr val="071522">
                <a:alpha val="0"/>
              </a:srgbClr>
            </a:solidFill>
            <a:prstDash val="solid"/>
          </a:ln>
        </p:spPr>
        <p:txBody>
          <a:bodyPr/>
          <a:lstStyle/>
          <a:p>
            <a:endParaRPr lang="en-US"/>
          </a:p>
        </p:txBody>
      </p:sp>
      <p:sp>
        <p:nvSpPr>
          <p:cNvPr id="22" name="Shape 19"/>
          <p:cNvSpPr/>
          <p:nvPr/>
        </p:nvSpPr>
        <p:spPr>
          <a:xfrm>
            <a:off x="8394192" y="886968"/>
            <a:ext cx="3145536" cy="5358384"/>
          </a:xfrm>
          <a:prstGeom prst="roundRect">
            <a:avLst>
              <a:gd name="adj" fmla="val 4360"/>
            </a:avLst>
          </a:prstGeom>
          <a:solidFill>
            <a:srgbClr val="FFFFFF"/>
          </a:solidFill>
          <a:ln w="12700">
            <a:solidFill>
              <a:srgbClr val="FFFFFF">
                <a:alpha val="0"/>
              </a:srgbClr>
            </a:solidFill>
            <a:prstDash val="solid"/>
          </a:ln>
        </p:spPr>
        <p:txBody>
          <a:bodyPr/>
          <a:lstStyle/>
          <a:p>
            <a:endParaRPr lang="en-US"/>
          </a:p>
        </p:txBody>
      </p:sp>
      <p:sp>
        <p:nvSpPr>
          <p:cNvPr id="23" name="Shape 20"/>
          <p:cNvSpPr/>
          <p:nvPr/>
        </p:nvSpPr>
        <p:spPr>
          <a:xfrm>
            <a:off x="9454896" y="850392"/>
            <a:ext cx="1014984" cy="173736"/>
          </a:xfrm>
          <a:prstGeom prst="roundRect">
            <a:avLst>
              <a:gd name="adj" fmla="val 78947"/>
            </a:avLst>
          </a:prstGeom>
          <a:solidFill>
            <a:srgbClr val="071522"/>
          </a:solidFill>
          <a:ln w="12700">
            <a:solidFill>
              <a:srgbClr val="071522">
                <a:alpha val="0"/>
              </a:srgbClr>
            </a:solidFill>
            <a:prstDash val="solid"/>
          </a:ln>
        </p:spPr>
        <p:txBody>
          <a:bodyPr/>
          <a:lstStyle/>
          <a:p>
            <a:endParaRPr lang="en-US"/>
          </a:p>
        </p:txBody>
      </p:sp>
      <p:sp>
        <p:nvSpPr>
          <p:cNvPr id="24" name="Text 21"/>
          <p:cNvSpPr/>
          <p:nvPr/>
        </p:nvSpPr>
        <p:spPr>
          <a:xfrm>
            <a:off x="8558784" y="978408"/>
            <a:ext cx="566928" cy="210312"/>
          </a:xfrm>
          <a:prstGeom prst="rect">
            <a:avLst/>
          </a:prstGeom>
          <a:noFill/>
          <a:ln/>
        </p:spPr>
        <p:txBody>
          <a:bodyPr wrap="square" lIns="0" tIns="0" rIns="0" bIns="0" rtlCol="0" anchor="ctr">
            <a:normAutofit/>
          </a:bodyPr>
          <a:lstStyle/>
          <a:p>
            <a:pPr marL="0" indent="0">
              <a:buNone/>
            </a:pPr>
            <a:r>
              <a:rPr lang="en-US" sz="1000" b="1" dirty="0">
                <a:solidFill>
                  <a:srgbClr val="2A4157"/>
                </a:solidFill>
                <a:latin typeface="Lato Heavy" pitchFamily="34" charset="0"/>
                <a:ea typeface="Lato Heavy" pitchFamily="34" charset="-122"/>
                <a:cs typeface="Lato Heavy" pitchFamily="34" charset="-120"/>
              </a:rPr>
              <a:t>9:41</a:t>
            </a:r>
            <a:endParaRPr lang="en-US" sz="1000" dirty="0"/>
          </a:p>
        </p:txBody>
      </p:sp>
      <p:sp>
        <p:nvSpPr>
          <p:cNvPr id="25" name="Text 22"/>
          <p:cNvSpPr/>
          <p:nvPr/>
        </p:nvSpPr>
        <p:spPr>
          <a:xfrm>
            <a:off x="10561320" y="978408"/>
            <a:ext cx="685800" cy="210312"/>
          </a:xfrm>
          <a:prstGeom prst="rect">
            <a:avLst/>
          </a:prstGeom>
          <a:noFill/>
          <a:ln/>
        </p:spPr>
        <p:txBody>
          <a:bodyPr wrap="square" lIns="0" tIns="0" rIns="0" bIns="0" rtlCol="0" anchor="ctr">
            <a:normAutofit/>
          </a:bodyPr>
          <a:lstStyle/>
          <a:p>
            <a:pPr marL="0" indent="0" algn="r">
              <a:buNone/>
            </a:pPr>
            <a:r>
              <a:rPr lang="en-US" sz="900" b="1" dirty="0">
                <a:solidFill>
                  <a:srgbClr val="2A4157"/>
                </a:solidFill>
                <a:latin typeface="Lato Heavy" pitchFamily="34" charset="0"/>
                <a:ea typeface="Lato Heavy" pitchFamily="34" charset="-122"/>
                <a:cs typeface="Lato Heavy" pitchFamily="34" charset="-120"/>
              </a:rPr>
              <a:t>▰  Wi-Fi</a:t>
            </a:r>
            <a:endParaRPr lang="en-US" sz="900" dirty="0"/>
          </a:p>
        </p:txBody>
      </p:sp>
      <p:sp>
        <p:nvSpPr>
          <p:cNvPr id="26" name="Text 23"/>
          <p:cNvSpPr/>
          <p:nvPr/>
        </p:nvSpPr>
        <p:spPr>
          <a:xfrm>
            <a:off x="8485632" y="1298448"/>
            <a:ext cx="2962656" cy="283464"/>
          </a:xfrm>
          <a:prstGeom prst="rect">
            <a:avLst/>
          </a:prstGeom>
          <a:noFill/>
          <a:ln/>
        </p:spPr>
        <p:txBody>
          <a:bodyPr wrap="square" lIns="0" tIns="0" rIns="0" bIns="0" rtlCol="0" anchor="ctr">
            <a:normAutofit/>
          </a:bodyPr>
          <a:lstStyle/>
          <a:p>
            <a:pPr marL="0" indent="0" algn="ctr">
              <a:buNone/>
            </a:pPr>
            <a:r>
              <a:rPr lang="en-US" sz="1370" b="1" dirty="0">
                <a:solidFill>
                  <a:srgbClr val="082B4E"/>
                </a:solidFill>
                <a:latin typeface="Lato Heavy" pitchFamily="34" charset="0"/>
                <a:ea typeface="Lato Heavy" pitchFamily="34" charset="-122"/>
                <a:cs typeface="Lato Heavy" pitchFamily="34" charset="-120"/>
              </a:rPr>
              <a:t>On Top of the World</a:t>
            </a:r>
            <a:endParaRPr lang="en-US" sz="1370" dirty="0"/>
          </a:p>
        </p:txBody>
      </p:sp>
      <p:pic>
        <p:nvPicPr>
          <p:cNvPr id="27" name="Image 1" descr="/mnt/data/barnaby_hd_work/otow_gradient.png"/>
          <p:cNvPicPr>
            <a:picLocks noChangeAspect="1"/>
          </p:cNvPicPr>
          <p:nvPr/>
        </p:nvPicPr>
        <p:blipFill>
          <a:blip r:embed="rId4"/>
          <a:stretch>
            <a:fillRect/>
          </a:stretch>
        </p:blipFill>
        <p:spPr>
          <a:xfrm>
            <a:off x="8403336" y="1691640"/>
            <a:ext cx="3127248" cy="804672"/>
          </a:xfrm>
          <a:prstGeom prst="rect">
            <a:avLst/>
          </a:prstGeom>
        </p:spPr>
      </p:pic>
      <p:sp>
        <p:nvSpPr>
          <p:cNvPr id="28" name="Text 24"/>
          <p:cNvSpPr/>
          <p:nvPr/>
        </p:nvSpPr>
        <p:spPr>
          <a:xfrm>
            <a:off x="8586216" y="1783080"/>
            <a:ext cx="274320" cy="27432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Lato Heavy" pitchFamily="34" charset="0"/>
                <a:ea typeface="Lato Heavy" pitchFamily="34" charset="-122"/>
                <a:cs typeface="Lato Heavy" pitchFamily="34" charset="-120"/>
              </a:rPr>
              <a:t>≡</a:t>
            </a:r>
            <a:endParaRPr lang="en-US" sz="1900" dirty="0"/>
          </a:p>
        </p:txBody>
      </p:sp>
      <p:sp>
        <p:nvSpPr>
          <p:cNvPr id="29" name="Text 25"/>
          <p:cNvSpPr/>
          <p:nvPr/>
        </p:nvSpPr>
        <p:spPr>
          <a:xfrm>
            <a:off x="9025128" y="1810512"/>
            <a:ext cx="1920240" cy="201168"/>
          </a:xfrm>
          <a:prstGeom prst="rect">
            <a:avLst/>
          </a:prstGeom>
          <a:noFill/>
          <a:ln/>
        </p:spPr>
        <p:txBody>
          <a:bodyPr wrap="square" lIns="0" tIns="0" rIns="0" bIns="0" rtlCol="0" anchor="ctr">
            <a:normAutofit/>
          </a:bodyPr>
          <a:lstStyle/>
          <a:p>
            <a:pPr marL="0" indent="0">
              <a:buNone/>
            </a:pPr>
            <a:r>
              <a:rPr lang="en-US" sz="1200" b="1" dirty="0">
                <a:solidFill>
                  <a:srgbClr val="FFFFFF"/>
                </a:solidFill>
                <a:latin typeface="Lato Heavy" pitchFamily="34" charset="0"/>
                <a:ea typeface="Lato Heavy" pitchFamily="34" charset="-122"/>
                <a:cs typeface="Lato Heavy" pitchFamily="34" charset="-120"/>
              </a:rPr>
              <a:t>On Top of the World</a:t>
            </a:r>
            <a:endParaRPr lang="en-US" sz="1200" dirty="0"/>
          </a:p>
        </p:txBody>
      </p:sp>
      <p:sp>
        <p:nvSpPr>
          <p:cNvPr id="30" name="Text 26"/>
          <p:cNvSpPr/>
          <p:nvPr/>
        </p:nvSpPr>
        <p:spPr>
          <a:xfrm>
            <a:off x="8567928" y="2148840"/>
            <a:ext cx="2377440" cy="301752"/>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Lato Heavy" pitchFamily="34" charset="0"/>
                <a:ea typeface="Lato Heavy" pitchFamily="34" charset="-122"/>
                <a:cs typeface="Lato Heavy" pitchFamily="34" charset="-120"/>
              </a:rPr>
              <a:t>INFO</a:t>
            </a:r>
            <a:endParaRPr lang="en-US" sz="1800" dirty="0"/>
          </a:p>
        </p:txBody>
      </p:sp>
      <p:sp>
        <p:nvSpPr>
          <p:cNvPr id="31" name="Shape 27"/>
          <p:cNvSpPr/>
          <p:nvPr/>
        </p:nvSpPr>
        <p:spPr>
          <a:xfrm>
            <a:off x="8449056" y="5705856"/>
            <a:ext cx="3035808" cy="420624"/>
          </a:xfrm>
          <a:prstGeom prst="roundRect">
            <a:avLst>
              <a:gd name="adj" fmla="val 32609"/>
            </a:avLst>
          </a:prstGeom>
          <a:solidFill>
            <a:srgbClr val="F8FBFE"/>
          </a:solidFill>
          <a:ln w="12700">
            <a:solidFill>
              <a:srgbClr val="F8FBFE">
                <a:alpha val="0"/>
              </a:srgbClr>
            </a:solidFill>
            <a:prstDash val="solid"/>
          </a:ln>
        </p:spPr>
        <p:txBody>
          <a:bodyPr/>
          <a:lstStyle/>
          <a:p>
            <a:endParaRPr lang="en-US"/>
          </a:p>
        </p:txBody>
      </p:sp>
      <p:sp>
        <p:nvSpPr>
          <p:cNvPr id="32" name="Text 28"/>
          <p:cNvSpPr/>
          <p:nvPr/>
        </p:nvSpPr>
        <p:spPr>
          <a:xfrm>
            <a:off x="8677656"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3" name="Text 29"/>
          <p:cNvSpPr/>
          <p:nvPr/>
        </p:nvSpPr>
        <p:spPr>
          <a:xfrm>
            <a:off x="8595360"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Home</a:t>
            </a:r>
            <a:endParaRPr lang="en-US" sz="820" dirty="0"/>
          </a:p>
        </p:txBody>
      </p:sp>
      <p:sp>
        <p:nvSpPr>
          <p:cNvPr id="34" name="Text 30"/>
          <p:cNvSpPr/>
          <p:nvPr/>
        </p:nvSpPr>
        <p:spPr>
          <a:xfrm>
            <a:off x="9372600"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5" name="Text 31"/>
          <p:cNvSpPr/>
          <p:nvPr/>
        </p:nvSpPr>
        <p:spPr>
          <a:xfrm>
            <a:off x="9290304"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Outings</a:t>
            </a:r>
            <a:endParaRPr lang="en-US" sz="820" dirty="0"/>
          </a:p>
        </p:txBody>
      </p:sp>
      <p:sp>
        <p:nvSpPr>
          <p:cNvPr id="36" name="Text 32"/>
          <p:cNvSpPr/>
          <p:nvPr/>
        </p:nvSpPr>
        <p:spPr>
          <a:xfrm>
            <a:off x="10067544"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7" name="Text 33"/>
          <p:cNvSpPr/>
          <p:nvPr/>
        </p:nvSpPr>
        <p:spPr>
          <a:xfrm>
            <a:off x="9985248"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Messages</a:t>
            </a:r>
            <a:endParaRPr lang="en-US" sz="820" dirty="0"/>
          </a:p>
        </p:txBody>
      </p:sp>
      <p:sp>
        <p:nvSpPr>
          <p:cNvPr id="38" name="Text 34"/>
          <p:cNvSpPr/>
          <p:nvPr/>
        </p:nvSpPr>
        <p:spPr>
          <a:xfrm>
            <a:off x="10762488" y="5751576"/>
            <a:ext cx="384048" cy="228600"/>
          </a:xfrm>
          <a:prstGeom prst="rect">
            <a:avLst/>
          </a:prstGeom>
          <a:noFill/>
          <a:ln/>
        </p:spPr>
        <p:txBody>
          <a:bodyPr wrap="square" lIns="0" tIns="0" rIns="0" bIns="0" rtlCol="0" anchor="ctr">
            <a:normAutofit/>
          </a:bodyPr>
          <a:lstStyle/>
          <a:p>
            <a:pPr marL="0" indent="0" algn="ctr">
              <a:buNone/>
            </a:pPr>
            <a:r>
              <a:rPr lang="en-US" sz="1500" b="1" dirty="0">
                <a:solidFill>
                  <a:srgbClr val="617B94"/>
                </a:solidFill>
                <a:latin typeface="Lato Heavy" pitchFamily="34" charset="0"/>
                <a:ea typeface="Lato Heavy" pitchFamily="34" charset="-122"/>
                <a:cs typeface="Lato Heavy" pitchFamily="34" charset="-120"/>
              </a:rPr>
              <a:t>▦</a:t>
            </a:r>
            <a:endParaRPr lang="en-US" sz="1500" dirty="0"/>
          </a:p>
        </p:txBody>
      </p:sp>
      <p:sp>
        <p:nvSpPr>
          <p:cNvPr id="39" name="Text 35"/>
          <p:cNvSpPr/>
          <p:nvPr/>
        </p:nvSpPr>
        <p:spPr>
          <a:xfrm>
            <a:off x="10680192" y="5961888"/>
            <a:ext cx="548640" cy="146304"/>
          </a:xfrm>
          <a:prstGeom prst="rect">
            <a:avLst/>
          </a:prstGeom>
          <a:noFill/>
          <a:ln/>
        </p:spPr>
        <p:txBody>
          <a:bodyPr wrap="square" lIns="0" tIns="0" rIns="0" bIns="0" rtlCol="0" anchor="ctr">
            <a:normAutofit/>
          </a:bodyPr>
          <a:lstStyle/>
          <a:p>
            <a:pPr marL="0" indent="0" algn="ctr">
              <a:buNone/>
            </a:pPr>
            <a:r>
              <a:rPr lang="en-US" sz="820" b="1" dirty="0">
                <a:solidFill>
                  <a:srgbClr val="617B94"/>
                </a:solidFill>
                <a:latin typeface="Lato Heavy" pitchFamily="34" charset="0"/>
                <a:ea typeface="Lato Heavy" pitchFamily="34" charset="-122"/>
                <a:cs typeface="Lato Heavy" pitchFamily="34" charset="-120"/>
              </a:rPr>
              <a:t>More</a:t>
            </a:r>
            <a:endParaRPr lang="en-US" sz="820" dirty="0"/>
          </a:p>
        </p:txBody>
      </p:sp>
      <p:sp>
        <p:nvSpPr>
          <p:cNvPr id="40" name="Text 36"/>
          <p:cNvSpPr/>
          <p:nvPr/>
        </p:nvSpPr>
        <p:spPr>
          <a:xfrm>
            <a:off x="8485632" y="2587752"/>
            <a:ext cx="2962656" cy="338328"/>
          </a:xfrm>
          <a:prstGeom prst="rect">
            <a:avLst/>
          </a:prstGeom>
          <a:noFill/>
          <a:ln/>
        </p:spPr>
        <p:txBody>
          <a:bodyPr wrap="square" lIns="0" tIns="0" rIns="0" bIns="0" rtlCol="0" anchor="ctr">
            <a:normAutofit/>
          </a:bodyPr>
          <a:lstStyle/>
          <a:p>
            <a:pPr marL="0" indent="0">
              <a:buNone/>
            </a:pPr>
            <a:r>
              <a:rPr lang="en-US" sz="1700" b="1" dirty="0">
                <a:solidFill>
                  <a:srgbClr val="082B4E"/>
                </a:solidFill>
                <a:latin typeface="Lato Heavy" pitchFamily="34" charset="0"/>
                <a:ea typeface="Lato Heavy" pitchFamily="34" charset="-122"/>
                <a:cs typeface="Lato Heavy" pitchFamily="34" charset="-120"/>
              </a:rPr>
              <a:t>How can I help?</a:t>
            </a:r>
            <a:endParaRPr lang="en-US" sz="1700" dirty="0"/>
          </a:p>
        </p:txBody>
      </p:sp>
      <p:sp>
        <p:nvSpPr>
          <p:cNvPr id="41" name="Shape 37"/>
          <p:cNvSpPr/>
          <p:nvPr/>
        </p:nvSpPr>
        <p:spPr>
          <a:xfrm>
            <a:off x="8485632" y="3026664"/>
            <a:ext cx="2962656" cy="576072"/>
          </a:xfrm>
          <a:prstGeom prst="roundRect">
            <a:avLst>
              <a:gd name="adj" fmla="val 19048"/>
            </a:avLst>
          </a:prstGeom>
          <a:solidFill>
            <a:srgbClr val="FFFFFF"/>
          </a:solidFill>
          <a:ln w="12700">
            <a:solidFill>
              <a:srgbClr val="DDE7F0"/>
            </a:solidFill>
            <a:prstDash val="solid"/>
          </a:ln>
        </p:spPr>
        <p:txBody>
          <a:bodyPr/>
          <a:lstStyle/>
          <a:p>
            <a:endParaRPr lang="en-US"/>
          </a:p>
        </p:txBody>
      </p:sp>
      <p:sp>
        <p:nvSpPr>
          <p:cNvPr id="42" name="Text 38"/>
          <p:cNvSpPr/>
          <p:nvPr/>
        </p:nvSpPr>
        <p:spPr>
          <a:xfrm>
            <a:off x="8613648" y="3136392"/>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Reserve an amenity</a:t>
            </a:r>
            <a:endParaRPr lang="en-US" sz="1200" dirty="0"/>
          </a:p>
        </p:txBody>
      </p:sp>
      <p:sp>
        <p:nvSpPr>
          <p:cNvPr id="43" name="Text 39"/>
          <p:cNvSpPr/>
          <p:nvPr/>
        </p:nvSpPr>
        <p:spPr>
          <a:xfrm>
            <a:off x="8613648" y="3328416"/>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Find a convenient time</a:t>
            </a:r>
            <a:endParaRPr lang="en-US" sz="950" dirty="0"/>
          </a:p>
        </p:txBody>
      </p:sp>
      <p:sp>
        <p:nvSpPr>
          <p:cNvPr id="44" name="Shape 40"/>
          <p:cNvSpPr/>
          <p:nvPr/>
        </p:nvSpPr>
        <p:spPr>
          <a:xfrm>
            <a:off x="8485632" y="3694176"/>
            <a:ext cx="2962656" cy="576072"/>
          </a:xfrm>
          <a:prstGeom prst="roundRect">
            <a:avLst>
              <a:gd name="adj" fmla="val 19048"/>
            </a:avLst>
          </a:prstGeom>
          <a:solidFill>
            <a:srgbClr val="FFFFFF"/>
          </a:solidFill>
          <a:ln w="12700">
            <a:solidFill>
              <a:srgbClr val="DDE7F0"/>
            </a:solidFill>
            <a:prstDash val="solid"/>
          </a:ln>
        </p:spPr>
        <p:txBody>
          <a:bodyPr/>
          <a:lstStyle/>
          <a:p>
            <a:endParaRPr lang="en-US"/>
          </a:p>
        </p:txBody>
      </p:sp>
      <p:sp>
        <p:nvSpPr>
          <p:cNvPr id="45" name="Text 41"/>
          <p:cNvSpPr/>
          <p:nvPr/>
        </p:nvSpPr>
        <p:spPr>
          <a:xfrm>
            <a:off x="8613648" y="3803904"/>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Discover activities</a:t>
            </a:r>
            <a:endParaRPr lang="en-US" sz="1200" dirty="0"/>
          </a:p>
        </p:txBody>
      </p:sp>
      <p:sp>
        <p:nvSpPr>
          <p:cNvPr id="46" name="Text 42"/>
          <p:cNvSpPr/>
          <p:nvPr/>
        </p:nvSpPr>
        <p:spPr>
          <a:xfrm>
            <a:off x="8613648" y="3995928"/>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Clubs and upcoming events</a:t>
            </a:r>
            <a:endParaRPr lang="en-US" sz="950" dirty="0"/>
          </a:p>
        </p:txBody>
      </p:sp>
      <p:sp>
        <p:nvSpPr>
          <p:cNvPr id="47" name="Shape 43"/>
          <p:cNvSpPr/>
          <p:nvPr/>
        </p:nvSpPr>
        <p:spPr>
          <a:xfrm>
            <a:off x="8485632" y="4361688"/>
            <a:ext cx="2962656" cy="576072"/>
          </a:xfrm>
          <a:prstGeom prst="roundRect">
            <a:avLst>
              <a:gd name="adj" fmla="val 19048"/>
            </a:avLst>
          </a:prstGeom>
          <a:solidFill>
            <a:srgbClr val="FFFFFF"/>
          </a:solidFill>
          <a:ln w="12700">
            <a:solidFill>
              <a:srgbClr val="DDE7F0"/>
            </a:solidFill>
            <a:prstDash val="solid"/>
          </a:ln>
        </p:spPr>
        <p:txBody>
          <a:bodyPr/>
          <a:lstStyle/>
          <a:p>
            <a:endParaRPr lang="en-US"/>
          </a:p>
        </p:txBody>
      </p:sp>
      <p:sp>
        <p:nvSpPr>
          <p:cNvPr id="48" name="Text 44"/>
          <p:cNvSpPr/>
          <p:nvPr/>
        </p:nvSpPr>
        <p:spPr>
          <a:xfrm>
            <a:off x="8613648" y="4471416"/>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Find a provider</a:t>
            </a:r>
            <a:endParaRPr lang="en-US" sz="1200" dirty="0"/>
          </a:p>
        </p:txBody>
      </p:sp>
      <p:sp>
        <p:nvSpPr>
          <p:cNvPr id="49" name="Text 45"/>
          <p:cNvSpPr/>
          <p:nvPr/>
        </p:nvSpPr>
        <p:spPr>
          <a:xfrm>
            <a:off x="8613648" y="4663440"/>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Local home services</a:t>
            </a:r>
            <a:endParaRPr lang="en-US" sz="950" dirty="0"/>
          </a:p>
        </p:txBody>
      </p:sp>
      <p:sp>
        <p:nvSpPr>
          <p:cNvPr id="50" name="Shape 46"/>
          <p:cNvSpPr/>
          <p:nvPr/>
        </p:nvSpPr>
        <p:spPr>
          <a:xfrm>
            <a:off x="8485632" y="5029200"/>
            <a:ext cx="2962656" cy="576072"/>
          </a:xfrm>
          <a:prstGeom prst="roundRect">
            <a:avLst>
              <a:gd name="adj" fmla="val 19048"/>
            </a:avLst>
          </a:prstGeom>
          <a:solidFill>
            <a:srgbClr val="FFFFFF"/>
          </a:solidFill>
          <a:ln w="12700">
            <a:solidFill>
              <a:srgbClr val="DDE7F0"/>
            </a:solidFill>
            <a:prstDash val="solid"/>
          </a:ln>
        </p:spPr>
        <p:txBody>
          <a:bodyPr/>
          <a:lstStyle/>
          <a:p>
            <a:endParaRPr lang="en-US"/>
          </a:p>
        </p:txBody>
      </p:sp>
      <p:sp>
        <p:nvSpPr>
          <p:cNvPr id="51" name="Text 47"/>
          <p:cNvSpPr/>
          <p:nvPr/>
        </p:nvSpPr>
        <p:spPr>
          <a:xfrm>
            <a:off x="8613648" y="5138928"/>
            <a:ext cx="2642616" cy="210312"/>
          </a:xfrm>
          <a:prstGeom prst="rect">
            <a:avLst/>
          </a:prstGeom>
          <a:noFill/>
          <a:ln/>
        </p:spPr>
        <p:txBody>
          <a:bodyPr wrap="square" lIns="0" tIns="0" rIns="0" bIns="0" rtlCol="0" anchor="ctr">
            <a:normAutofit/>
          </a:bodyPr>
          <a:lstStyle/>
          <a:p>
            <a:pPr marL="0" indent="0">
              <a:buNone/>
            </a:pPr>
            <a:r>
              <a:rPr lang="en-US" sz="1200" b="1" dirty="0">
                <a:solidFill>
                  <a:srgbClr val="082B4E"/>
                </a:solidFill>
                <a:latin typeface="Lato Heavy" pitchFamily="34" charset="0"/>
                <a:ea typeface="Lato Heavy" pitchFamily="34" charset="-122"/>
                <a:cs typeface="Lato Heavy" pitchFamily="34" charset="-120"/>
              </a:rPr>
              <a:t>Community answers</a:t>
            </a:r>
            <a:endParaRPr lang="en-US" sz="1200" dirty="0"/>
          </a:p>
        </p:txBody>
      </p:sp>
      <p:sp>
        <p:nvSpPr>
          <p:cNvPr id="52" name="Text 48"/>
          <p:cNvSpPr/>
          <p:nvPr/>
        </p:nvSpPr>
        <p:spPr>
          <a:xfrm>
            <a:off x="8613648" y="5330952"/>
            <a:ext cx="2688336" cy="155448"/>
          </a:xfrm>
          <a:prstGeom prst="rect">
            <a:avLst/>
          </a:prstGeom>
          <a:noFill/>
          <a:ln/>
        </p:spPr>
        <p:txBody>
          <a:bodyPr wrap="square" lIns="0" tIns="0" rIns="0" bIns="0" rtlCol="0" anchor="ctr">
            <a:normAutofit/>
          </a:bodyPr>
          <a:lstStyle/>
          <a:p>
            <a:pPr marL="0" indent="0">
              <a:buNone/>
            </a:pPr>
            <a:r>
              <a:rPr lang="en-US" sz="950" dirty="0">
                <a:solidFill>
                  <a:srgbClr val="617B94"/>
                </a:solidFill>
                <a:latin typeface="Lato" pitchFamily="34" charset="0"/>
                <a:ea typeface="Lato" pitchFamily="34" charset="-122"/>
                <a:cs typeface="Lato" pitchFamily="34" charset="-120"/>
              </a:rPr>
              <a:t>Notices and helpful info</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184" y="100584"/>
            <a:ext cx="438912" cy="438912"/>
          </a:xfrm>
          <a:prstGeom prst="rect">
            <a:avLst/>
          </a:prstGeom>
        </p:spPr>
      </p:pic>
      <p:sp>
        <p:nvSpPr>
          <p:cNvPr id="3" name="Text 0"/>
          <p:cNvSpPr/>
          <p:nvPr/>
        </p:nvSpPr>
        <p:spPr>
          <a:xfrm>
            <a:off x="896112" y="105156"/>
            <a:ext cx="2103120" cy="384048"/>
          </a:xfrm>
          <a:prstGeom prst="rect">
            <a:avLst/>
          </a:prstGeom>
          <a:noFill/>
          <a:ln/>
        </p:spPr>
        <p:txBody>
          <a:bodyPr wrap="square" lIns="0" tIns="0" rIns="0" bIns="0" rtlCol="0" anchor="ctr">
            <a:normAutofit/>
          </a:bodyPr>
          <a:lstStyle/>
          <a:p>
            <a:pPr marL="0" indent="0">
              <a:buNone/>
            </a:pPr>
            <a:r>
              <a:rPr lang="en-US" sz="2200" b="1" kern="0" spc="100" dirty="0">
                <a:solidFill>
                  <a:srgbClr val="FFFFFF"/>
                </a:solidFill>
                <a:latin typeface="Lato Heavy" pitchFamily="34" charset="0"/>
                <a:ea typeface="Lato Heavy" pitchFamily="34" charset="-122"/>
                <a:cs typeface="Lato Heavy" pitchFamily="34" charset="-120"/>
              </a:rPr>
              <a:t>BARNABY</a:t>
            </a:r>
            <a:endParaRPr lang="en-US" sz="2200" dirty="0"/>
          </a:p>
        </p:txBody>
      </p:sp>
      <p:sp>
        <p:nvSpPr>
          <p:cNvPr id="4" name="Text 1"/>
          <p:cNvSpPr/>
          <p:nvPr/>
        </p:nvSpPr>
        <p:spPr>
          <a:xfrm>
            <a:off x="9198864" y="137160"/>
            <a:ext cx="2624328" cy="274320"/>
          </a:xfrm>
          <a:prstGeom prst="rect">
            <a:avLst/>
          </a:prstGeom>
          <a:noFill/>
          <a:ln/>
        </p:spPr>
        <p:txBody>
          <a:bodyPr wrap="square" lIns="0" tIns="0" rIns="0" bIns="0" rtlCol="0" anchor="ctr">
            <a:normAutofit/>
          </a:bodyPr>
          <a:lstStyle/>
          <a:p>
            <a:pPr marL="0" indent="0" algn="r">
              <a:buNone/>
            </a:pPr>
            <a:r>
              <a:rPr lang="en-US" sz="1100" b="1" kern="0" spc="50" dirty="0">
                <a:solidFill>
                  <a:srgbClr val="DCE8F3"/>
                </a:solidFill>
                <a:latin typeface="Lato Heavy" pitchFamily="34" charset="0"/>
                <a:ea typeface="Lato Heavy" pitchFamily="34" charset="-122"/>
                <a:cs typeface="Lato Heavy" pitchFamily="34" charset="-120"/>
              </a:rPr>
              <a:t>YOUR COMMUNITY, CONNECTED</a:t>
            </a:r>
            <a:endParaRPr lang="en-US" sz="1100" dirty="0"/>
          </a:p>
        </p:txBody>
      </p:sp>
      <p:sp>
        <p:nvSpPr>
          <p:cNvPr id="5" name="Text 2"/>
          <p:cNvSpPr/>
          <p:nvPr/>
        </p:nvSpPr>
        <p:spPr>
          <a:xfrm>
            <a:off x="694944" y="1005840"/>
            <a:ext cx="10680192" cy="640080"/>
          </a:xfrm>
          <a:prstGeom prst="rect">
            <a:avLst/>
          </a:prstGeom>
          <a:noFill/>
          <a:ln/>
        </p:spPr>
        <p:txBody>
          <a:bodyPr wrap="square" lIns="0" tIns="0" rIns="0" bIns="0" rtlCol="0" anchor="ctr">
            <a:normAutofit/>
          </a:bodyPr>
          <a:lstStyle/>
          <a:p>
            <a:pPr marL="0" indent="0">
              <a:buNone/>
            </a:pPr>
            <a:r>
              <a:rPr lang="en-US" sz="3500" b="1" dirty="0">
                <a:solidFill>
                  <a:srgbClr val="082B4E"/>
                </a:solidFill>
                <a:latin typeface="Lato Heavy" pitchFamily="34" charset="0"/>
                <a:ea typeface="Lato Heavy" pitchFamily="34" charset="-122"/>
                <a:cs typeface="Lato Heavy" pitchFamily="34" charset="-120"/>
              </a:rPr>
              <a:t>WHY AN HOA WOULD CHOOSE BARNABY</a:t>
            </a:r>
            <a:endParaRPr lang="en-US" sz="3500" dirty="0"/>
          </a:p>
        </p:txBody>
      </p:sp>
      <p:sp>
        <p:nvSpPr>
          <p:cNvPr id="6" name="Text 3"/>
          <p:cNvSpPr/>
          <p:nvPr/>
        </p:nvSpPr>
        <p:spPr>
          <a:xfrm>
            <a:off x="731520" y="1728216"/>
            <a:ext cx="10378440" cy="384048"/>
          </a:xfrm>
          <a:prstGeom prst="rect">
            <a:avLst/>
          </a:prstGeom>
          <a:noFill/>
          <a:ln/>
        </p:spPr>
        <p:txBody>
          <a:bodyPr wrap="square" lIns="0" tIns="0" rIns="0" bIns="0" rtlCol="0" anchor="ctr">
            <a:normAutofit/>
          </a:bodyPr>
          <a:lstStyle/>
          <a:p>
            <a:pPr marL="0" indent="0">
              <a:buNone/>
            </a:pPr>
            <a:r>
              <a:rPr lang="en-US" sz="2000" dirty="0">
                <a:solidFill>
                  <a:srgbClr val="617B94"/>
                </a:solidFill>
                <a:latin typeface="Lato" pitchFamily="34" charset="0"/>
                <a:ea typeface="Lato" pitchFamily="34" charset="-122"/>
                <a:cs typeface="Lato" pitchFamily="34" charset="-120"/>
              </a:rPr>
              <a:t>A clearer resident experience. A more connected community. Less friction for management.</a:t>
            </a:r>
            <a:endParaRPr lang="en-US" sz="2000" dirty="0"/>
          </a:p>
        </p:txBody>
      </p:sp>
      <p:sp>
        <p:nvSpPr>
          <p:cNvPr id="7" name="Shape 4"/>
          <p:cNvSpPr/>
          <p:nvPr/>
        </p:nvSpPr>
        <p:spPr>
          <a:xfrm>
            <a:off x="731520" y="2450592"/>
            <a:ext cx="5230368" cy="1188720"/>
          </a:xfrm>
          <a:prstGeom prst="roundRect">
            <a:avLst>
              <a:gd name="adj" fmla="val 9231"/>
            </a:avLst>
          </a:prstGeom>
          <a:solidFill>
            <a:srgbClr val="FFFFFF"/>
          </a:solidFill>
          <a:ln w="12700">
            <a:solidFill>
              <a:srgbClr val="D7E4EF"/>
            </a:solidFill>
            <a:prstDash val="solid"/>
          </a:ln>
        </p:spPr>
        <p:txBody>
          <a:bodyPr/>
          <a:lstStyle/>
          <a:p>
            <a:endParaRPr lang="en-US"/>
          </a:p>
        </p:txBody>
      </p:sp>
      <p:sp>
        <p:nvSpPr>
          <p:cNvPr id="8" name="Shape 5"/>
          <p:cNvSpPr/>
          <p:nvPr/>
        </p:nvSpPr>
        <p:spPr>
          <a:xfrm>
            <a:off x="731520" y="2450592"/>
            <a:ext cx="118872" cy="1188720"/>
          </a:xfrm>
          <a:prstGeom prst="roundRect">
            <a:avLst>
              <a:gd name="adj" fmla="val 115385"/>
            </a:avLst>
          </a:prstGeom>
          <a:solidFill>
            <a:srgbClr val="057BEE"/>
          </a:solidFill>
          <a:ln w="12700">
            <a:solidFill>
              <a:srgbClr val="057BEE">
                <a:alpha val="0"/>
              </a:srgbClr>
            </a:solidFill>
            <a:prstDash val="solid"/>
          </a:ln>
        </p:spPr>
        <p:txBody>
          <a:bodyPr/>
          <a:lstStyle/>
          <a:p>
            <a:endParaRPr lang="en-US"/>
          </a:p>
        </p:txBody>
      </p:sp>
      <p:sp>
        <p:nvSpPr>
          <p:cNvPr id="9" name="Text 6"/>
          <p:cNvSpPr/>
          <p:nvPr/>
        </p:nvSpPr>
        <p:spPr>
          <a:xfrm>
            <a:off x="978408" y="2624328"/>
            <a:ext cx="4681728" cy="283464"/>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COMMUNICATION</a:t>
            </a:r>
            <a:endParaRPr lang="en-US" sz="1850" dirty="0"/>
          </a:p>
        </p:txBody>
      </p:sp>
      <p:sp>
        <p:nvSpPr>
          <p:cNvPr id="10" name="Text 7"/>
          <p:cNvSpPr/>
          <p:nvPr/>
        </p:nvSpPr>
        <p:spPr>
          <a:xfrm>
            <a:off x="978408" y="2971800"/>
            <a:ext cx="4681728" cy="512064"/>
          </a:xfrm>
          <a:prstGeom prst="rect">
            <a:avLst/>
          </a:prstGeom>
          <a:noFill/>
          <a:ln/>
        </p:spPr>
        <p:txBody>
          <a:bodyPr wrap="square" lIns="0" tIns="0" rIns="0" bIns="0" rtlCol="0" anchor="t">
            <a:normAutofit/>
          </a:bodyPr>
          <a:lstStyle/>
          <a:p>
            <a:pPr marL="0" indent="0">
              <a:buNone/>
            </a:pPr>
            <a:r>
              <a:rPr lang="en-US" sz="1530" dirty="0">
                <a:solidFill>
                  <a:srgbClr val="142F4B"/>
                </a:solidFill>
                <a:latin typeface="Lato" pitchFamily="34" charset="0"/>
                <a:ea typeface="Lato" pitchFamily="34" charset="-122"/>
                <a:cs typeface="Lato" pitchFamily="34" charset="-120"/>
              </a:rPr>
              <a:t>Community information, notices, messages and resident resources in one place.</a:t>
            </a:r>
            <a:endParaRPr lang="en-US" sz="1530" dirty="0"/>
          </a:p>
        </p:txBody>
      </p:sp>
      <p:sp>
        <p:nvSpPr>
          <p:cNvPr id="11" name="Shape 8"/>
          <p:cNvSpPr/>
          <p:nvPr/>
        </p:nvSpPr>
        <p:spPr>
          <a:xfrm>
            <a:off x="6245352" y="2450592"/>
            <a:ext cx="5230368" cy="1188720"/>
          </a:xfrm>
          <a:prstGeom prst="roundRect">
            <a:avLst>
              <a:gd name="adj" fmla="val 9231"/>
            </a:avLst>
          </a:prstGeom>
          <a:solidFill>
            <a:srgbClr val="FFFFFF"/>
          </a:solidFill>
          <a:ln w="12700">
            <a:solidFill>
              <a:srgbClr val="D7E4EF"/>
            </a:solidFill>
            <a:prstDash val="solid"/>
          </a:ln>
        </p:spPr>
        <p:txBody>
          <a:bodyPr/>
          <a:lstStyle/>
          <a:p>
            <a:endParaRPr lang="en-US"/>
          </a:p>
        </p:txBody>
      </p:sp>
      <p:sp>
        <p:nvSpPr>
          <p:cNvPr id="12" name="Shape 9"/>
          <p:cNvSpPr/>
          <p:nvPr/>
        </p:nvSpPr>
        <p:spPr>
          <a:xfrm>
            <a:off x="6245352" y="2450592"/>
            <a:ext cx="118872" cy="1188720"/>
          </a:xfrm>
          <a:prstGeom prst="roundRect">
            <a:avLst>
              <a:gd name="adj" fmla="val 115385"/>
            </a:avLst>
          </a:prstGeom>
          <a:solidFill>
            <a:srgbClr val="91C936"/>
          </a:solidFill>
          <a:ln w="12700">
            <a:solidFill>
              <a:srgbClr val="91C936">
                <a:alpha val="0"/>
              </a:srgbClr>
            </a:solidFill>
            <a:prstDash val="solid"/>
          </a:ln>
        </p:spPr>
        <p:txBody>
          <a:bodyPr/>
          <a:lstStyle/>
          <a:p>
            <a:endParaRPr lang="en-US"/>
          </a:p>
        </p:txBody>
      </p:sp>
      <p:sp>
        <p:nvSpPr>
          <p:cNvPr id="13" name="Text 10"/>
          <p:cNvSpPr/>
          <p:nvPr/>
        </p:nvSpPr>
        <p:spPr>
          <a:xfrm>
            <a:off x="6492240" y="2624328"/>
            <a:ext cx="4681728" cy="283464"/>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ENGAGEMENT</a:t>
            </a:r>
            <a:endParaRPr lang="en-US" sz="1850" dirty="0"/>
          </a:p>
        </p:txBody>
      </p:sp>
      <p:sp>
        <p:nvSpPr>
          <p:cNvPr id="14" name="Text 11"/>
          <p:cNvSpPr/>
          <p:nvPr/>
        </p:nvSpPr>
        <p:spPr>
          <a:xfrm>
            <a:off x="6492240" y="2971800"/>
            <a:ext cx="4681728" cy="512064"/>
          </a:xfrm>
          <a:prstGeom prst="rect">
            <a:avLst/>
          </a:prstGeom>
          <a:noFill/>
          <a:ln/>
        </p:spPr>
        <p:txBody>
          <a:bodyPr wrap="square" lIns="0" tIns="0" rIns="0" bIns="0" rtlCol="0" anchor="t">
            <a:normAutofit/>
          </a:bodyPr>
          <a:lstStyle/>
          <a:p>
            <a:pPr marL="0" indent="0">
              <a:buNone/>
            </a:pPr>
            <a:r>
              <a:rPr lang="en-US" sz="1530" dirty="0">
                <a:solidFill>
                  <a:srgbClr val="142F4B"/>
                </a:solidFill>
                <a:latin typeface="Lato" pitchFamily="34" charset="0"/>
                <a:ea typeface="Lato" pitchFamily="34" charset="-122"/>
                <a:cs typeface="Lato" pitchFamily="34" charset="-120"/>
              </a:rPr>
              <a:t>Make events, clubs, recreation, and amenities easier to discover and use.</a:t>
            </a:r>
            <a:endParaRPr lang="en-US" sz="1530" dirty="0"/>
          </a:p>
        </p:txBody>
      </p:sp>
      <p:sp>
        <p:nvSpPr>
          <p:cNvPr id="15" name="Shape 12"/>
          <p:cNvSpPr/>
          <p:nvPr/>
        </p:nvSpPr>
        <p:spPr>
          <a:xfrm>
            <a:off x="731520" y="3822192"/>
            <a:ext cx="5230368" cy="1188720"/>
          </a:xfrm>
          <a:prstGeom prst="roundRect">
            <a:avLst>
              <a:gd name="adj" fmla="val 9231"/>
            </a:avLst>
          </a:prstGeom>
          <a:solidFill>
            <a:srgbClr val="FFFFFF"/>
          </a:solidFill>
          <a:ln w="12700">
            <a:solidFill>
              <a:srgbClr val="D7E4EF"/>
            </a:solidFill>
            <a:prstDash val="solid"/>
          </a:ln>
        </p:spPr>
        <p:txBody>
          <a:bodyPr/>
          <a:lstStyle/>
          <a:p>
            <a:endParaRPr lang="en-US"/>
          </a:p>
        </p:txBody>
      </p:sp>
      <p:sp>
        <p:nvSpPr>
          <p:cNvPr id="16" name="Shape 13"/>
          <p:cNvSpPr/>
          <p:nvPr/>
        </p:nvSpPr>
        <p:spPr>
          <a:xfrm>
            <a:off x="731520" y="3822192"/>
            <a:ext cx="118872" cy="1188720"/>
          </a:xfrm>
          <a:prstGeom prst="roundRect">
            <a:avLst>
              <a:gd name="adj" fmla="val 115385"/>
            </a:avLst>
          </a:prstGeom>
          <a:solidFill>
            <a:srgbClr val="1893D4"/>
          </a:solidFill>
          <a:ln w="12700">
            <a:solidFill>
              <a:srgbClr val="1893D4">
                <a:alpha val="0"/>
              </a:srgbClr>
            </a:solidFill>
            <a:prstDash val="solid"/>
          </a:ln>
        </p:spPr>
        <p:txBody>
          <a:bodyPr/>
          <a:lstStyle/>
          <a:p>
            <a:endParaRPr lang="en-US"/>
          </a:p>
        </p:txBody>
      </p:sp>
      <p:sp>
        <p:nvSpPr>
          <p:cNvPr id="17" name="Text 14"/>
          <p:cNvSpPr/>
          <p:nvPr/>
        </p:nvSpPr>
        <p:spPr>
          <a:xfrm>
            <a:off x="978408" y="3995928"/>
            <a:ext cx="4681728" cy="283464"/>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CONVENIENCE</a:t>
            </a:r>
            <a:endParaRPr lang="en-US" sz="1850" dirty="0"/>
          </a:p>
        </p:txBody>
      </p:sp>
      <p:sp>
        <p:nvSpPr>
          <p:cNvPr id="18" name="Text 15"/>
          <p:cNvSpPr/>
          <p:nvPr/>
        </p:nvSpPr>
        <p:spPr>
          <a:xfrm>
            <a:off x="978408" y="4343400"/>
            <a:ext cx="4681728" cy="512064"/>
          </a:xfrm>
          <a:prstGeom prst="rect">
            <a:avLst/>
          </a:prstGeom>
          <a:noFill/>
          <a:ln/>
        </p:spPr>
        <p:txBody>
          <a:bodyPr wrap="square" lIns="0" tIns="0" rIns="0" bIns="0" rtlCol="0" anchor="t">
            <a:normAutofit/>
          </a:bodyPr>
          <a:lstStyle/>
          <a:p>
            <a:pPr marL="0" indent="0">
              <a:buNone/>
            </a:pPr>
            <a:r>
              <a:rPr lang="en-US" sz="1530" dirty="0">
                <a:solidFill>
                  <a:srgbClr val="142F4B"/>
                </a:solidFill>
                <a:latin typeface="Lato" pitchFamily="34" charset="0"/>
                <a:ea typeface="Lato" pitchFamily="34" charset="-122"/>
                <a:cs typeface="Lato" pitchFamily="34" charset="-120"/>
              </a:rPr>
              <a:t>Support reservations, community merchandise, and local provider discovery.</a:t>
            </a:r>
            <a:endParaRPr lang="en-US" sz="1530" dirty="0"/>
          </a:p>
        </p:txBody>
      </p:sp>
      <p:sp>
        <p:nvSpPr>
          <p:cNvPr id="19" name="Shape 16"/>
          <p:cNvSpPr/>
          <p:nvPr/>
        </p:nvSpPr>
        <p:spPr>
          <a:xfrm>
            <a:off x="6245352" y="3822192"/>
            <a:ext cx="5230368" cy="1188720"/>
          </a:xfrm>
          <a:prstGeom prst="roundRect">
            <a:avLst>
              <a:gd name="adj" fmla="val 9231"/>
            </a:avLst>
          </a:prstGeom>
          <a:solidFill>
            <a:srgbClr val="FFFFFF"/>
          </a:solidFill>
          <a:ln w="12700">
            <a:solidFill>
              <a:srgbClr val="D7E4EF"/>
            </a:solidFill>
            <a:prstDash val="solid"/>
          </a:ln>
        </p:spPr>
        <p:txBody>
          <a:bodyPr/>
          <a:lstStyle/>
          <a:p>
            <a:endParaRPr lang="en-US"/>
          </a:p>
        </p:txBody>
      </p:sp>
      <p:sp>
        <p:nvSpPr>
          <p:cNvPr id="20" name="Shape 17"/>
          <p:cNvSpPr/>
          <p:nvPr/>
        </p:nvSpPr>
        <p:spPr>
          <a:xfrm>
            <a:off x="6245352" y="3822192"/>
            <a:ext cx="118872" cy="1188720"/>
          </a:xfrm>
          <a:prstGeom prst="roundRect">
            <a:avLst>
              <a:gd name="adj" fmla="val 115385"/>
            </a:avLst>
          </a:prstGeom>
          <a:solidFill>
            <a:srgbClr val="FFBC43"/>
          </a:solidFill>
          <a:ln w="12700">
            <a:solidFill>
              <a:srgbClr val="FFBC43">
                <a:alpha val="0"/>
              </a:srgbClr>
            </a:solidFill>
            <a:prstDash val="solid"/>
          </a:ln>
        </p:spPr>
        <p:txBody>
          <a:bodyPr/>
          <a:lstStyle/>
          <a:p>
            <a:endParaRPr lang="en-US"/>
          </a:p>
        </p:txBody>
      </p:sp>
      <p:sp>
        <p:nvSpPr>
          <p:cNvPr id="21" name="Text 18"/>
          <p:cNvSpPr/>
          <p:nvPr/>
        </p:nvSpPr>
        <p:spPr>
          <a:xfrm>
            <a:off x="6492240" y="3995928"/>
            <a:ext cx="4681728" cy="283464"/>
          </a:xfrm>
          <a:prstGeom prst="rect">
            <a:avLst/>
          </a:prstGeom>
          <a:noFill/>
          <a:ln/>
        </p:spPr>
        <p:txBody>
          <a:bodyPr wrap="square" lIns="0" tIns="0" rIns="0" bIns="0" rtlCol="0" anchor="ctr">
            <a:normAutofit/>
          </a:bodyPr>
          <a:lstStyle/>
          <a:p>
            <a:pPr marL="0" indent="0">
              <a:buNone/>
            </a:pPr>
            <a:r>
              <a:rPr lang="en-US" sz="1850" b="1" dirty="0">
                <a:solidFill>
                  <a:srgbClr val="082B4E"/>
                </a:solidFill>
                <a:latin typeface="Lato Heavy" pitchFamily="34" charset="0"/>
                <a:ea typeface="Lato Heavy" pitchFamily="34" charset="-122"/>
                <a:cs typeface="Lato Heavy" pitchFamily="34" charset="-120"/>
              </a:rPr>
              <a:t>MONETIZATION</a:t>
            </a:r>
            <a:endParaRPr lang="en-US" sz="1850" dirty="0"/>
          </a:p>
        </p:txBody>
      </p:sp>
      <p:sp>
        <p:nvSpPr>
          <p:cNvPr id="22" name="Text 19"/>
          <p:cNvSpPr/>
          <p:nvPr/>
        </p:nvSpPr>
        <p:spPr>
          <a:xfrm>
            <a:off x="6492239" y="4343400"/>
            <a:ext cx="5027701" cy="512064"/>
          </a:xfrm>
          <a:prstGeom prst="rect">
            <a:avLst/>
          </a:prstGeom>
          <a:noFill/>
          <a:ln/>
        </p:spPr>
        <p:txBody>
          <a:bodyPr wrap="square" lIns="0" tIns="0" rIns="0" bIns="0" rtlCol="0" anchor="t">
            <a:normAutofit/>
          </a:bodyPr>
          <a:lstStyle/>
          <a:p>
            <a:pPr marL="0" indent="0">
              <a:buNone/>
            </a:pPr>
            <a:r>
              <a:rPr lang="en-US" sz="1530" dirty="0">
                <a:solidFill>
                  <a:srgbClr val="142F4B"/>
                </a:solidFill>
                <a:latin typeface="Lato" pitchFamily="34" charset="0"/>
                <a:ea typeface="Lato" pitchFamily="34" charset="-122"/>
                <a:cs typeface="Lato" pitchFamily="34" charset="-120"/>
              </a:rPr>
              <a:t>Barnaby provides numerous revenue share opportunities</a:t>
            </a:r>
            <a:endParaRPr lang="en-US" sz="1530" dirty="0"/>
          </a:p>
        </p:txBody>
      </p:sp>
      <p:sp>
        <p:nvSpPr>
          <p:cNvPr id="23" name="Shape 20"/>
          <p:cNvSpPr/>
          <p:nvPr/>
        </p:nvSpPr>
        <p:spPr>
          <a:xfrm>
            <a:off x="731520" y="5376672"/>
            <a:ext cx="10744200" cy="704088"/>
          </a:xfrm>
          <a:prstGeom prst="roundRect">
            <a:avLst>
              <a:gd name="adj" fmla="val 12987"/>
            </a:avLst>
          </a:prstGeom>
          <a:solidFill>
            <a:srgbClr val="EAF4FD"/>
          </a:solidFill>
          <a:ln w="12700">
            <a:solidFill>
              <a:srgbClr val="C9E0F4"/>
            </a:solidFill>
            <a:prstDash val="solid"/>
          </a:ln>
        </p:spPr>
        <p:txBody>
          <a:bodyPr/>
          <a:lstStyle/>
          <a:p>
            <a:endParaRPr lang="en-US"/>
          </a:p>
        </p:txBody>
      </p:sp>
      <p:sp>
        <p:nvSpPr>
          <p:cNvPr id="24" name="Text 21"/>
          <p:cNvSpPr/>
          <p:nvPr/>
        </p:nvSpPr>
        <p:spPr>
          <a:xfrm>
            <a:off x="978408" y="5541264"/>
            <a:ext cx="2029968" cy="283464"/>
          </a:xfrm>
          <a:prstGeom prst="rect">
            <a:avLst/>
          </a:prstGeom>
          <a:noFill/>
          <a:ln/>
        </p:spPr>
        <p:txBody>
          <a:bodyPr wrap="square" lIns="0" tIns="0" rIns="0" bIns="0" rtlCol="0" anchor="ctr">
            <a:normAutofit/>
          </a:bodyPr>
          <a:lstStyle/>
          <a:p>
            <a:pPr marL="0" indent="0">
              <a:buNone/>
            </a:pPr>
            <a:r>
              <a:rPr lang="en-US" sz="2400" b="1" dirty="0">
                <a:solidFill>
                  <a:srgbClr val="082B4E"/>
                </a:solidFill>
                <a:latin typeface="Lato Heavy" pitchFamily="34" charset="0"/>
                <a:ea typeface="Lato Heavy" pitchFamily="34" charset="-122"/>
                <a:cs typeface="Lato Heavy" pitchFamily="34" charset="-120"/>
              </a:rPr>
              <a:t>BARNABY</a:t>
            </a:r>
            <a:endParaRPr lang="en-US" sz="2400" dirty="0"/>
          </a:p>
        </p:txBody>
      </p:sp>
      <p:sp>
        <p:nvSpPr>
          <p:cNvPr id="25" name="Text 22"/>
          <p:cNvSpPr/>
          <p:nvPr/>
        </p:nvSpPr>
        <p:spPr>
          <a:xfrm>
            <a:off x="3026664" y="5568696"/>
            <a:ext cx="5779008" cy="237744"/>
          </a:xfrm>
          <a:prstGeom prst="rect">
            <a:avLst/>
          </a:prstGeom>
          <a:noFill/>
          <a:ln/>
        </p:spPr>
        <p:txBody>
          <a:bodyPr wrap="square" lIns="0" tIns="0" rIns="0" bIns="0" rtlCol="0" anchor="ctr">
            <a:normAutofit/>
          </a:bodyPr>
          <a:lstStyle/>
          <a:p>
            <a:pPr marL="0" indent="0">
              <a:buNone/>
            </a:pPr>
            <a:r>
              <a:rPr lang="en-US" sz="1920" b="1" dirty="0">
                <a:solidFill>
                  <a:srgbClr val="082B4E"/>
                </a:solidFill>
                <a:latin typeface="Lato Heavy" pitchFamily="34" charset="0"/>
                <a:ea typeface="Lato Heavy" pitchFamily="34" charset="-122"/>
                <a:cs typeface="Lato Heavy" pitchFamily="34" charset="-120"/>
              </a:rPr>
              <a:t>Your community, connected.</a:t>
            </a:r>
            <a:endParaRPr lang="en-US" sz="1920" dirty="0"/>
          </a:p>
        </p:txBody>
      </p:sp>
      <p:sp>
        <p:nvSpPr>
          <p:cNvPr id="26" name="Text 23"/>
          <p:cNvSpPr/>
          <p:nvPr/>
        </p:nvSpPr>
        <p:spPr>
          <a:xfrm>
            <a:off x="731520" y="6455664"/>
            <a:ext cx="10698480" cy="182880"/>
          </a:xfrm>
          <a:prstGeom prst="rect">
            <a:avLst/>
          </a:prstGeom>
          <a:noFill/>
          <a:ln/>
        </p:spPr>
        <p:txBody>
          <a:bodyPr wrap="square" lIns="0" tIns="0" rIns="0" bIns="0" rtlCol="0" anchor="ctr">
            <a:normAutofit/>
          </a:bodyPr>
          <a:lstStyle/>
          <a:p>
            <a:pPr marL="0" indent="0">
              <a:buNone/>
            </a:pPr>
            <a:r>
              <a:rPr lang="en-US" sz="1030" dirty="0">
                <a:solidFill>
                  <a:srgbClr val="617B94"/>
                </a:solidFill>
                <a:latin typeface="Lato" pitchFamily="34" charset="0"/>
                <a:ea typeface="Lato" pitchFamily="34" charset="-122"/>
                <a:cs typeface="Lato" pitchFamily="34" charset="-120"/>
              </a:rPr>
              <a:t>Illustrative sample using On Top of the World highlights; not officially affiliated.</a:t>
            </a:r>
            <a:endParaRPr lang="en-US" sz="1030" dirty="0"/>
          </a:p>
        </p:txBody>
      </p:sp>
      <p:sp>
        <p:nvSpPr>
          <p:cNvPr id="28" name="Shape 9">
            <a:extLst>
              <a:ext uri="{FF2B5EF4-FFF2-40B4-BE49-F238E27FC236}">
                <a16:creationId xmlns:a16="http://schemas.microsoft.com/office/drawing/2014/main" id="{A14188F9-64F8-5019-793E-72441D447EEC}"/>
              </a:ext>
            </a:extLst>
          </p:cNvPr>
          <p:cNvSpPr/>
          <p:nvPr/>
        </p:nvSpPr>
        <p:spPr>
          <a:xfrm>
            <a:off x="6245352" y="3813048"/>
            <a:ext cx="118872" cy="1188720"/>
          </a:xfrm>
          <a:prstGeom prst="roundRect">
            <a:avLst>
              <a:gd name="adj" fmla="val 115385"/>
            </a:avLst>
          </a:prstGeom>
          <a:solidFill>
            <a:srgbClr val="91C936"/>
          </a:solidFill>
          <a:ln w="12700">
            <a:solidFill>
              <a:srgbClr val="91C936">
                <a:alpha val="0"/>
              </a:srgbClr>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ato Heav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2892</Words>
  <Application>Microsoft Office PowerPoint</Application>
  <PresentationFormat>Widescreen</PresentationFormat>
  <Paragraphs>612</Paragraphs>
  <Slides>16</Slides>
  <Notes>16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Lato</vt:lpstr>
      <vt:lpstr>Lato Heavy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Barnaby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Barnaby | Connected Community Executive Presentation</dc:title>
  <dc:subject>Executive Barnaby HOA pitch with synchronized narrated video and editable feature slides</dc:subject>
  <dc:creator>Barnaby</dc:creator>
  <cp:lastModifiedBy>Dave Mathieu - IDEAZ</cp:lastModifiedBy>
  <cp:revision>2</cp:revision>
  <dcterms:created xsi:type="dcterms:W3CDTF">2026-10-26T15:45:45Z</dcterms:created>
  <dcterms:modified xsi:type="dcterms:W3CDTF">2026-10-26T16:06:46Z</dcterms:modified>
</cp:coreProperties>
</file>